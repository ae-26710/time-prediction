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24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slideMaster26.xml" ContentType="application/vnd.openxmlformats-officedocument.presentationml.slideMaster+xml"/>
  <Override PartName="/ppt/slideMasters/slideMaster27.xml" ContentType="application/vnd.openxmlformats-officedocument.presentationml.slideMaster+xml"/>
  <Override PartName="/ppt/slideMasters/slideMaster28.xml" ContentType="application/vnd.openxmlformats-officedocument.presentationml.slideMaster+xml"/>
  <Override PartName="/ppt/slideMasters/slideMaster29.xml" ContentType="application/vnd.openxmlformats-officedocument.presentationml.slideMaster+xml"/>
  <Override PartName="/ppt/slideMasters/slideMaster30.xml" ContentType="application/vnd.openxmlformats-officedocument.presentationml.slideMaster+xml"/>
  <Override PartName="/ppt/slideMasters/slideMaster31.xml" ContentType="application/vnd.openxmlformats-officedocument.presentationml.slideMaster+xml"/>
  <Override PartName="/ppt/slideMasters/slideMaster32.xml" ContentType="application/vnd.openxmlformats-officedocument.presentationml.slideMaster+xml"/>
  <Override PartName="/ppt/slideMasters/slideMaster33.xml" ContentType="application/vnd.openxmlformats-officedocument.presentationml.slideMaster+xml"/>
  <Override PartName="/ppt/slideMasters/slideMaster34.xml" ContentType="application/vnd.openxmlformats-officedocument.presentationml.slideMaster+xml"/>
  <Override PartName="/ppt/slideMasters/slideMaster35.xml" ContentType="application/vnd.openxmlformats-officedocument.presentationml.slideMaster+xml"/>
  <Override PartName="/ppt/slideMasters/slideMaster36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17.xml" ContentType="application/vnd.openxmlformats-officedocument.theme+xml"/>
  <Override PartName="/ppt/theme/theme18.xml" ContentType="application/vnd.openxmlformats-officedocument.theme+xml"/>
  <Override PartName="/ppt/theme/theme19.xml" ContentType="application/vnd.openxmlformats-officedocument.theme+xml"/>
  <Override PartName="/ppt/theme/theme20.xml" ContentType="application/vnd.openxmlformats-officedocument.theme+xml"/>
  <Override PartName="/ppt/theme/theme21.xml" ContentType="application/vnd.openxmlformats-officedocument.theme+xml"/>
  <Override PartName="/ppt/theme/theme22.xml" ContentType="application/vnd.openxmlformats-officedocument.theme+xml"/>
  <Override PartName="/ppt/theme/theme23.xml" ContentType="application/vnd.openxmlformats-officedocument.theme+xml"/>
  <Override PartName="/ppt/theme/theme24.xml" ContentType="application/vnd.openxmlformats-officedocument.theme+xml"/>
  <Override PartName="/ppt/theme/theme25.xml" ContentType="application/vnd.openxmlformats-officedocument.theme+xml"/>
  <Override PartName="/ppt/theme/theme26.xml" ContentType="application/vnd.openxmlformats-officedocument.theme+xml"/>
  <Override PartName="/ppt/theme/theme27.xml" ContentType="application/vnd.openxmlformats-officedocument.theme+xml"/>
  <Override PartName="/ppt/theme/theme28.xml" ContentType="application/vnd.openxmlformats-officedocument.theme+xml"/>
  <Override PartName="/ppt/theme/theme29.xml" ContentType="application/vnd.openxmlformats-officedocument.theme+xml"/>
  <Override PartName="/ppt/theme/theme30.xml" ContentType="application/vnd.openxmlformats-officedocument.theme+xml"/>
  <Override PartName="/ppt/theme/theme31.xml" ContentType="application/vnd.openxmlformats-officedocument.theme+xml"/>
  <Override PartName="/ppt/theme/theme32.xml" ContentType="application/vnd.openxmlformats-officedocument.theme+xml"/>
  <Override PartName="/ppt/theme/theme33.xml" ContentType="application/vnd.openxmlformats-officedocument.theme+xml"/>
  <Override PartName="/ppt/theme/theme34.xml" ContentType="application/vnd.openxmlformats-officedocument.theme+xml"/>
  <Override PartName="/ppt/theme/theme35.xml" ContentType="application/vnd.openxmlformats-officedocument.theme+xml"/>
  <Override PartName="/ppt/theme/theme36.xml" ContentType="application/vnd.openxmlformats-officedocument.theme+xml"/>
  <Override PartName="/ppt/theme/theme37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2"/>
    <p:sldMasterId id="2147483651" r:id="rId3"/>
    <p:sldMasterId id="2147483652" r:id="rId4"/>
    <p:sldMasterId id="2147483653" r:id="rId5"/>
    <p:sldMasterId id="2147483654" r:id="rId6"/>
    <p:sldMasterId id="2147483655" r:id="rId7"/>
    <p:sldMasterId id="2147483656" r:id="rId8"/>
    <p:sldMasterId id="2147483657" r:id="rId9"/>
    <p:sldMasterId id="2147483658" r:id="rId10"/>
    <p:sldMasterId id="2147483659" r:id="rId11"/>
    <p:sldMasterId id="2147483660" r:id="rId12"/>
    <p:sldMasterId id="2147483661" r:id="rId13"/>
    <p:sldMasterId id="2147483662" r:id="rId14"/>
    <p:sldMasterId id="2147483663" r:id="rId15"/>
    <p:sldMasterId id="2147483664" r:id="rId16"/>
    <p:sldMasterId id="2147483665" r:id="rId17"/>
    <p:sldMasterId id="2147483666" r:id="rId18"/>
    <p:sldMasterId id="2147483667" r:id="rId19"/>
    <p:sldMasterId id="2147483668" r:id="rId20"/>
    <p:sldMasterId id="2147483669" r:id="rId21"/>
    <p:sldMasterId id="2147483670" r:id="rId22"/>
    <p:sldMasterId id="2147483671" r:id="rId23"/>
    <p:sldMasterId id="2147483672" r:id="rId24"/>
    <p:sldMasterId id="2147483673" r:id="rId25"/>
    <p:sldMasterId id="2147483674" r:id="rId26"/>
    <p:sldMasterId id="2147483675" r:id="rId27"/>
    <p:sldMasterId id="2147483676" r:id="rId28"/>
    <p:sldMasterId id="2147483677" r:id="rId29"/>
    <p:sldMasterId id="2147483678" r:id="rId30"/>
    <p:sldMasterId id="2147483679" r:id="rId31"/>
    <p:sldMasterId id="2147483680" r:id="rId32"/>
    <p:sldMasterId id="2147483681" r:id="rId33"/>
    <p:sldMasterId id="2147483682" r:id="rId34"/>
    <p:sldMasterId id="2147483683" r:id="rId35"/>
    <p:sldMasterId id="2147483684" r:id="rId36"/>
  </p:sldMasterIdLst>
  <p:notesMasterIdLst>
    <p:notesMasterId r:id="rId73"/>
  </p:notesMasterIdLst>
  <p:sldIdLst>
    <p:sldId id="281" r:id="rId37"/>
    <p:sldId id="284" r:id="rId38"/>
    <p:sldId id="303" r:id="rId39"/>
    <p:sldId id="315" r:id="rId40"/>
    <p:sldId id="260" r:id="rId41"/>
    <p:sldId id="282" r:id="rId42"/>
    <p:sldId id="286" r:id="rId43"/>
    <p:sldId id="283" r:id="rId44"/>
    <p:sldId id="266" r:id="rId45"/>
    <p:sldId id="290" r:id="rId46"/>
    <p:sldId id="275" r:id="rId47"/>
    <p:sldId id="262" r:id="rId48"/>
    <p:sldId id="268" r:id="rId49"/>
    <p:sldId id="276" r:id="rId50"/>
    <p:sldId id="259" r:id="rId51"/>
    <p:sldId id="267" r:id="rId52"/>
    <p:sldId id="274" r:id="rId53"/>
    <p:sldId id="292" r:id="rId54"/>
    <p:sldId id="269" r:id="rId55"/>
    <p:sldId id="272" r:id="rId56"/>
    <p:sldId id="265" r:id="rId57"/>
    <p:sldId id="271" r:id="rId58"/>
    <p:sldId id="277" r:id="rId59"/>
    <p:sldId id="278" r:id="rId60"/>
    <p:sldId id="280" r:id="rId61"/>
    <p:sldId id="279" r:id="rId62"/>
    <p:sldId id="305" r:id="rId63"/>
    <p:sldId id="306" r:id="rId64"/>
    <p:sldId id="307" r:id="rId65"/>
    <p:sldId id="309" r:id="rId66"/>
    <p:sldId id="313" r:id="rId67"/>
    <p:sldId id="310" r:id="rId68"/>
    <p:sldId id="312" r:id="rId69"/>
    <p:sldId id="311" r:id="rId70"/>
    <p:sldId id="316" r:id="rId71"/>
    <p:sldId id="314" r:id="rId7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6" autoAdjust="0"/>
    <p:restoredTop sz="94660"/>
  </p:normalViewPr>
  <p:slideViewPr>
    <p:cSldViewPr snapToGrid="0">
      <p:cViewPr varScale="1">
        <p:scale>
          <a:sx n="84" d="100"/>
          <a:sy n="84" d="100"/>
        </p:scale>
        <p:origin x="4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Master" Target="slideMasters/slideMaster26.xml"/><Relationship Id="rId21" Type="http://schemas.openxmlformats.org/officeDocument/2006/relationships/slideMaster" Target="slideMasters/slideMaster21.xml"/><Relationship Id="rId42" Type="http://schemas.openxmlformats.org/officeDocument/2006/relationships/slide" Target="slides/slide6.xml"/><Relationship Id="rId47" Type="http://schemas.openxmlformats.org/officeDocument/2006/relationships/slide" Target="slides/slide11.xml"/><Relationship Id="rId63" Type="http://schemas.openxmlformats.org/officeDocument/2006/relationships/slide" Target="slides/slide27.xml"/><Relationship Id="rId68" Type="http://schemas.openxmlformats.org/officeDocument/2006/relationships/slide" Target="slides/slide32.xml"/><Relationship Id="rId16" Type="http://schemas.openxmlformats.org/officeDocument/2006/relationships/slideMaster" Target="slideMasters/slideMaster16.xml"/><Relationship Id="rId11" Type="http://schemas.openxmlformats.org/officeDocument/2006/relationships/slideMaster" Target="slideMasters/slideMaster11.xml"/><Relationship Id="rId24" Type="http://schemas.openxmlformats.org/officeDocument/2006/relationships/slideMaster" Target="slideMasters/slideMaster24.xml"/><Relationship Id="rId32" Type="http://schemas.openxmlformats.org/officeDocument/2006/relationships/slideMaster" Target="slideMasters/slideMaster32.xml"/><Relationship Id="rId37" Type="http://schemas.openxmlformats.org/officeDocument/2006/relationships/slide" Target="slides/slide1.xml"/><Relationship Id="rId40" Type="http://schemas.openxmlformats.org/officeDocument/2006/relationships/slide" Target="slides/slide4.xml"/><Relationship Id="rId45" Type="http://schemas.openxmlformats.org/officeDocument/2006/relationships/slide" Target="slides/slide9.xml"/><Relationship Id="rId53" Type="http://schemas.openxmlformats.org/officeDocument/2006/relationships/slide" Target="slides/slide17.xml"/><Relationship Id="rId58" Type="http://schemas.openxmlformats.org/officeDocument/2006/relationships/slide" Target="slides/slide22.xml"/><Relationship Id="rId66" Type="http://schemas.openxmlformats.org/officeDocument/2006/relationships/slide" Target="slides/slide30.xml"/><Relationship Id="rId74" Type="http://schemas.openxmlformats.org/officeDocument/2006/relationships/presProps" Target="presProps.xml"/><Relationship Id="rId5" Type="http://schemas.openxmlformats.org/officeDocument/2006/relationships/slideMaster" Target="slideMasters/slideMaster5.xml"/><Relationship Id="rId61" Type="http://schemas.openxmlformats.org/officeDocument/2006/relationships/slide" Target="slides/slide25.xml"/><Relationship Id="rId19" Type="http://schemas.openxmlformats.org/officeDocument/2006/relationships/slideMaster" Target="slideMasters/slideMaster19.xml"/><Relationship Id="rId14" Type="http://schemas.openxmlformats.org/officeDocument/2006/relationships/slideMaster" Target="slideMasters/slideMaster14.xml"/><Relationship Id="rId22" Type="http://schemas.openxmlformats.org/officeDocument/2006/relationships/slideMaster" Target="slideMasters/slideMaster22.xml"/><Relationship Id="rId27" Type="http://schemas.openxmlformats.org/officeDocument/2006/relationships/slideMaster" Target="slideMasters/slideMaster27.xml"/><Relationship Id="rId30" Type="http://schemas.openxmlformats.org/officeDocument/2006/relationships/slideMaster" Target="slideMasters/slideMaster30.xml"/><Relationship Id="rId35" Type="http://schemas.openxmlformats.org/officeDocument/2006/relationships/slideMaster" Target="slideMasters/slideMaster35.xml"/><Relationship Id="rId43" Type="http://schemas.openxmlformats.org/officeDocument/2006/relationships/slide" Target="slides/slide7.xml"/><Relationship Id="rId48" Type="http://schemas.openxmlformats.org/officeDocument/2006/relationships/slide" Target="slides/slide12.xml"/><Relationship Id="rId56" Type="http://schemas.openxmlformats.org/officeDocument/2006/relationships/slide" Target="slides/slide20.xml"/><Relationship Id="rId64" Type="http://schemas.openxmlformats.org/officeDocument/2006/relationships/slide" Target="slides/slide28.xml"/><Relationship Id="rId69" Type="http://schemas.openxmlformats.org/officeDocument/2006/relationships/slide" Target="slides/slide33.xml"/><Relationship Id="rId77" Type="http://schemas.openxmlformats.org/officeDocument/2006/relationships/tableStyles" Target="tableStyles.xml"/><Relationship Id="rId8" Type="http://schemas.openxmlformats.org/officeDocument/2006/relationships/slideMaster" Target="slideMasters/slideMaster8.xml"/><Relationship Id="rId51" Type="http://schemas.openxmlformats.org/officeDocument/2006/relationships/slide" Target="slides/slide15.xml"/><Relationship Id="rId72" Type="http://schemas.openxmlformats.org/officeDocument/2006/relationships/slide" Target="slides/slide36.xml"/><Relationship Id="rId3" Type="http://schemas.openxmlformats.org/officeDocument/2006/relationships/slideMaster" Target="slideMasters/slideMaster3.xml"/><Relationship Id="rId12" Type="http://schemas.openxmlformats.org/officeDocument/2006/relationships/slideMaster" Target="slideMasters/slideMaster12.xml"/><Relationship Id="rId17" Type="http://schemas.openxmlformats.org/officeDocument/2006/relationships/slideMaster" Target="slideMasters/slideMaster17.xml"/><Relationship Id="rId25" Type="http://schemas.openxmlformats.org/officeDocument/2006/relationships/slideMaster" Target="slideMasters/slideMaster25.xml"/><Relationship Id="rId33" Type="http://schemas.openxmlformats.org/officeDocument/2006/relationships/slideMaster" Target="slideMasters/slideMaster33.xml"/><Relationship Id="rId38" Type="http://schemas.openxmlformats.org/officeDocument/2006/relationships/slide" Target="slides/slide2.xml"/><Relationship Id="rId46" Type="http://schemas.openxmlformats.org/officeDocument/2006/relationships/slide" Target="slides/slide10.xml"/><Relationship Id="rId59" Type="http://schemas.openxmlformats.org/officeDocument/2006/relationships/slide" Target="slides/slide23.xml"/><Relationship Id="rId67" Type="http://schemas.openxmlformats.org/officeDocument/2006/relationships/slide" Target="slides/slide31.xml"/><Relationship Id="rId20" Type="http://schemas.openxmlformats.org/officeDocument/2006/relationships/slideMaster" Target="slideMasters/slideMaster20.xml"/><Relationship Id="rId41" Type="http://schemas.openxmlformats.org/officeDocument/2006/relationships/slide" Target="slides/slide5.xml"/><Relationship Id="rId54" Type="http://schemas.openxmlformats.org/officeDocument/2006/relationships/slide" Target="slides/slide18.xml"/><Relationship Id="rId62" Type="http://schemas.openxmlformats.org/officeDocument/2006/relationships/slide" Target="slides/slide26.xml"/><Relationship Id="rId70" Type="http://schemas.openxmlformats.org/officeDocument/2006/relationships/slide" Target="slides/slide34.xml"/><Relationship Id="rId75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5" Type="http://schemas.openxmlformats.org/officeDocument/2006/relationships/slideMaster" Target="slideMasters/slideMaster15.xml"/><Relationship Id="rId23" Type="http://schemas.openxmlformats.org/officeDocument/2006/relationships/slideMaster" Target="slideMasters/slideMaster23.xml"/><Relationship Id="rId28" Type="http://schemas.openxmlformats.org/officeDocument/2006/relationships/slideMaster" Target="slideMasters/slideMaster28.xml"/><Relationship Id="rId36" Type="http://schemas.openxmlformats.org/officeDocument/2006/relationships/slideMaster" Target="slideMasters/slideMaster36.xml"/><Relationship Id="rId49" Type="http://schemas.openxmlformats.org/officeDocument/2006/relationships/slide" Target="slides/slide13.xml"/><Relationship Id="rId57" Type="http://schemas.openxmlformats.org/officeDocument/2006/relationships/slide" Target="slides/slide21.xml"/><Relationship Id="rId10" Type="http://schemas.openxmlformats.org/officeDocument/2006/relationships/slideMaster" Target="slideMasters/slideMaster10.xml"/><Relationship Id="rId31" Type="http://schemas.openxmlformats.org/officeDocument/2006/relationships/slideMaster" Target="slideMasters/slideMaster31.xml"/><Relationship Id="rId44" Type="http://schemas.openxmlformats.org/officeDocument/2006/relationships/slide" Target="slides/slide8.xml"/><Relationship Id="rId52" Type="http://schemas.openxmlformats.org/officeDocument/2006/relationships/slide" Target="slides/slide16.xml"/><Relationship Id="rId60" Type="http://schemas.openxmlformats.org/officeDocument/2006/relationships/slide" Target="slides/slide24.xml"/><Relationship Id="rId65" Type="http://schemas.openxmlformats.org/officeDocument/2006/relationships/slide" Target="slides/slide29.xml"/><Relationship Id="rId73" Type="http://schemas.openxmlformats.org/officeDocument/2006/relationships/notesMaster" Target="notesMasters/notesMaster1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3" Type="http://schemas.openxmlformats.org/officeDocument/2006/relationships/slideMaster" Target="slideMasters/slideMaster13.xml"/><Relationship Id="rId18" Type="http://schemas.openxmlformats.org/officeDocument/2006/relationships/slideMaster" Target="slideMasters/slideMaster18.xml"/><Relationship Id="rId39" Type="http://schemas.openxmlformats.org/officeDocument/2006/relationships/slide" Target="slides/slide3.xml"/><Relationship Id="rId34" Type="http://schemas.openxmlformats.org/officeDocument/2006/relationships/slideMaster" Target="slideMasters/slideMaster34.xml"/><Relationship Id="rId50" Type="http://schemas.openxmlformats.org/officeDocument/2006/relationships/slide" Target="slides/slide14.xml"/><Relationship Id="rId55" Type="http://schemas.openxmlformats.org/officeDocument/2006/relationships/slide" Target="slides/slide19.xml"/><Relationship Id="rId76" Type="http://schemas.openxmlformats.org/officeDocument/2006/relationships/theme" Target="theme/theme1.xml"/><Relationship Id="rId7" Type="http://schemas.openxmlformats.org/officeDocument/2006/relationships/slideMaster" Target="slideMasters/slideMaster7.xml"/><Relationship Id="rId71" Type="http://schemas.openxmlformats.org/officeDocument/2006/relationships/slide" Target="slides/slide35.xml"/><Relationship Id="rId2" Type="http://schemas.openxmlformats.org/officeDocument/2006/relationships/slideMaster" Target="slideMasters/slideMaster2.xml"/><Relationship Id="rId29" Type="http://schemas.openxmlformats.org/officeDocument/2006/relationships/slideMaster" Target="slideMasters/slideMaster2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85A1BD-EBB2-4221-B6F1-84446E81673C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B21C38-39FE-4F8D-AC4A-724D319BA23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2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6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8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10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18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31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32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34</a:t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1993E37-6DF3-1DB1-9BB8-2B8FFDB08E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7D02484-85AC-A275-7E28-7E8CA440AE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A343066-0347-9C08-036A-B7AA246DE9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D7855-EED6-4AD6-A64F-58B6342230CF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E2548EE-59B3-C001-5623-413393191D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D9365A1-85C9-79A8-77CE-BFF296061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F91453-00E2-4B27-A687-600566E64D9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slideMasters/_rels/slideMaster4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slideMasters/_rels/slideMaster5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slideMasters/_rels/slideMaster6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slideMasters/_rels/slideMaster7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slideMasters/_rels/slideMaster8.xml.rels><?xml version="1.0" encoding="UTF-8" standalone="yes"?>
<Relationships xmlns="http://schemas.openxmlformats.org/package/2006/relationships"><Relationship Id="rId1" Type="http://schemas.openxmlformats.org/officeDocument/2006/relationships/theme" Target="../theme/theme8.xml"/></Relationships>
</file>

<file path=ppt/slideMasters/_rels/slideMaster9.xml.rels><?xml version="1.0" encoding="UTF-8" standalone="yes"?>
<Relationships xmlns="http://schemas.openxmlformats.org/package/2006/relationships"><Relationship Id="rId1" Type="http://schemas.openxmlformats.org/officeDocument/2006/relationships/theme" Target="../theme/theme9.xml"/></Relationships>
</file>

<file path=ppt/slideMasters/_rels/slideMaster10.xml.rels><?xml version="1.0" encoding="UTF-8" standalone="yes"?>
<Relationships xmlns="http://schemas.openxmlformats.org/package/2006/relationships"><Relationship Id="rId1" Type="http://schemas.openxmlformats.org/officeDocument/2006/relationships/theme" Target="../theme/theme10.xml"/></Relationships>
</file>

<file path=ppt/slideMasters/_rels/slideMaster1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1.xml"/></Relationships>
</file>

<file path=ppt/slideMasters/_rels/slideMaster12.xml.rels><?xml version="1.0" encoding="UTF-8" standalone="yes"?>
<Relationships xmlns="http://schemas.openxmlformats.org/package/2006/relationships"><Relationship Id="rId1" Type="http://schemas.openxmlformats.org/officeDocument/2006/relationships/theme" Target="../theme/theme12.xml"/></Relationships>
</file>

<file path=ppt/slideMasters/_rels/slideMaster13.xml.rels><?xml version="1.0" encoding="UTF-8" standalone="yes"?>
<Relationships xmlns="http://schemas.openxmlformats.org/package/2006/relationships"><Relationship Id="rId1" Type="http://schemas.openxmlformats.org/officeDocument/2006/relationships/theme" Target="../theme/theme13.xml"/></Relationships>
</file>

<file path=ppt/slideMasters/_rels/slideMaster14.xml.rels><?xml version="1.0" encoding="UTF-8" standalone="yes"?>
<Relationships xmlns="http://schemas.openxmlformats.org/package/2006/relationships"><Relationship Id="rId1" Type="http://schemas.openxmlformats.org/officeDocument/2006/relationships/theme" Target="../theme/theme14.xml"/></Relationships>
</file>

<file path=ppt/slideMasters/_rels/slideMaster15.xml.rels><?xml version="1.0" encoding="UTF-8" standalone="yes"?>
<Relationships xmlns="http://schemas.openxmlformats.org/package/2006/relationships"><Relationship Id="rId1" Type="http://schemas.openxmlformats.org/officeDocument/2006/relationships/theme" Target="../theme/theme15.xml"/></Relationships>
</file>

<file path=ppt/slideMasters/_rels/slideMaster16.xml.rels><?xml version="1.0" encoding="UTF-8" standalone="yes"?>
<Relationships xmlns="http://schemas.openxmlformats.org/package/2006/relationships"><Relationship Id="rId1" Type="http://schemas.openxmlformats.org/officeDocument/2006/relationships/theme" Target="../theme/theme16.xml"/></Relationships>
</file>

<file path=ppt/slideMasters/_rels/slideMaster17.xml.rels><?xml version="1.0" encoding="UTF-8" standalone="yes"?>
<Relationships xmlns="http://schemas.openxmlformats.org/package/2006/relationships"><Relationship Id="rId1" Type="http://schemas.openxmlformats.org/officeDocument/2006/relationships/theme" Target="../theme/theme17.xml"/></Relationships>
</file>

<file path=ppt/slideMasters/_rels/slideMaster18.xml.rels><?xml version="1.0" encoding="UTF-8" standalone="yes"?>
<Relationships xmlns="http://schemas.openxmlformats.org/package/2006/relationships"><Relationship Id="rId1" Type="http://schemas.openxmlformats.org/officeDocument/2006/relationships/theme" Target="../theme/theme18.xml"/></Relationships>
</file>

<file path=ppt/slideMasters/_rels/slideMaster19.xml.rels><?xml version="1.0" encoding="UTF-8" standalone="yes"?>
<Relationships xmlns="http://schemas.openxmlformats.org/package/2006/relationships"><Relationship Id="rId1" Type="http://schemas.openxmlformats.org/officeDocument/2006/relationships/theme" Target="../theme/theme19.xml"/></Relationships>
</file>

<file path=ppt/slideMasters/_rels/slideMaster20.xml.rels><?xml version="1.0" encoding="UTF-8" standalone="yes"?>
<Relationships xmlns="http://schemas.openxmlformats.org/package/2006/relationships"><Relationship Id="rId1" Type="http://schemas.openxmlformats.org/officeDocument/2006/relationships/theme" Target="../theme/theme20.xml"/></Relationships>
</file>

<file path=ppt/slideMasters/_rels/slideMaster2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1.xml"/></Relationships>
</file>

<file path=ppt/slideMasters/_rels/slideMaster22.xml.rels><?xml version="1.0" encoding="UTF-8" standalone="yes"?>
<Relationships xmlns="http://schemas.openxmlformats.org/package/2006/relationships"><Relationship Id="rId1" Type="http://schemas.openxmlformats.org/officeDocument/2006/relationships/theme" Target="../theme/theme22.xml"/></Relationships>
</file>

<file path=ppt/slideMasters/_rels/slideMaster23.xml.rels><?xml version="1.0" encoding="UTF-8" standalone="yes"?>
<Relationships xmlns="http://schemas.openxmlformats.org/package/2006/relationships"><Relationship Id="rId1" Type="http://schemas.openxmlformats.org/officeDocument/2006/relationships/theme" Target="../theme/theme23.xml"/></Relationships>
</file>

<file path=ppt/slideMasters/_rels/slideMaster24.xml.rels><?xml version="1.0" encoding="UTF-8" standalone="yes"?>
<Relationships xmlns="http://schemas.openxmlformats.org/package/2006/relationships"><Relationship Id="rId1" Type="http://schemas.openxmlformats.org/officeDocument/2006/relationships/theme" Target="../theme/theme24.xml"/></Relationships>
</file>

<file path=ppt/slideMasters/_rels/slideMaster25.xml.rels><?xml version="1.0" encoding="UTF-8" standalone="yes"?>
<Relationships xmlns="http://schemas.openxmlformats.org/package/2006/relationships"><Relationship Id="rId1" Type="http://schemas.openxmlformats.org/officeDocument/2006/relationships/theme" Target="../theme/theme25.xml"/></Relationships>
</file>

<file path=ppt/slideMasters/_rels/slideMaster26.xml.rels><?xml version="1.0" encoding="UTF-8" standalone="yes"?>
<Relationships xmlns="http://schemas.openxmlformats.org/package/2006/relationships"><Relationship Id="rId1" Type="http://schemas.openxmlformats.org/officeDocument/2006/relationships/theme" Target="../theme/theme26.xml"/></Relationships>
</file>

<file path=ppt/slideMasters/_rels/slideMaster27.xml.rels><?xml version="1.0" encoding="UTF-8" standalone="yes"?>
<Relationships xmlns="http://schemas.openxmlformats.org/package/2006/relationships"><Relationship Id="rId1" Type="http://schemas.openxmlformats.org/officeDocument/2006/relationships/theme" Target="../theme/theme27.xml"/></Relationships>
</file>

<file path=ppt/slideMasters/_rels/slideMaster28.xml.rels><?xml version="1.0" encoding="UTF-8" standalone="yes"?>
<Relationships xmlns="http://schemas.openxmlformats.org/package/2006/relationships"><Relationship Id="rId1" Type="http://schemas.openxmlformats.org/officeDocument/2006/relationships/theme" Target="../theme/theme28.xml"/></Relationships>
</file>

<file path=ppt/slideMasters/_rels/slideMaster29.xml.rels><?xml version="1.0" encoding="UTF-8" standalone="yes"?>
<Relationships xmlns="http://schemas.openxmlformats.org/package/2006/relationships"><Relationship Id="rId1" Type="http://schemas.openxmlformats.org/officeDocument/2006/relationships/theme" Target="../theme/theme29.xml"/></Relationships>
</file>

<file path=ppt/slideMasters/_rels/slideMaster30.xml.rels><?xml version="1.0" encoding="UTF-8" standalone="yes"?>
<Relationships xmlns="http://schemas.openxmlformats.org/package/2006/relationships"><Relationship Id="rId1" Type="http://schemas.openxmlformats.org/officeDocument/2006/relationships/theme" Target="../theme/theme30.xml"/></Relationships>
</file>

<file path=ppt/slideMasters/_rels/slideMaster3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1.xml"/></Relationships>
</file>

<file path=ppt/slideMasters/_rels/slideMaster32.xml.rels><?xml version="1.0" encoding="UTF-8" standalone="yes"?>
<Relationships xmlns="http://schemas.openxmlformats.org/package/2006/relationships"><Relationship Id="rId1" Type="http://schemas.openxmlformats.org/officeDocument/2006/relationships/theme" Target="../theme/theme32.xml"/></Relationships>
</file>

<file path=ppt/slideMasters/_rels/slideMaster33.xml.rels><?xml version="1.0" encoding="UTF-8" standalone="yes"?>
<Relationships xmlns="http://schemas.openxmlformats.org/package/2006/relationships"><Relationship Id="rId1" Type="http://schemas.openxmlformats.org/officeDocument/2006/relationships/theme" Target="../theme/theme33.xml"/></Relationships>
</file>

<file path=ppt/slideMasters/_rels/slideMaster34.xml.rels><?xml version="1.0" encoding="UTF-8" standalone="yes"?>
<Relationships xmlns="http://schemas.openxmlformats.org/package/2006/relationships"><Relationship Id="rId1" Type="http://schemas.openxmlformats.org/officeDocument/2006/relationships/theme" Target="../theme/theme34.xml"/></Relationships>
</file>

<file path=ppt/slideMasters/_rels/slideMaster35.xml.rels><?xml version="1.0" encoding="UTF-8" standalone="yes"?>
<Relationships xmlns="http://schemas.openxmlformats.org/package/2006/relationships"><Relationship Id="rId1" Type="http://schemas.openxmlformats.org/officeDocument/2006/relationships/theme" Target="../theme/theme35.xml"/></Relationships>
</file>

<file path=ppt/slideMasters/_rels/slideMaster36.xml.rels><?xml version="1.0" encoding="UTF-8" standalone="yes"?>
<Relationships xmlns="http://schemas.openxmlformats.org/package/2006/relationships"><Relationship Id="rId1" Type="http://schemas.openxmlformats.org/officeDocument/2006/relationships/theme" Target="../theme/theme3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373A45B-FE28-F050-CC79-8CDC586F0B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C255CC6-ED1C-446E-F1AE-48E3EAD702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8B8923E-F757-F79A-E04E-D87381A36B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4D7855-EED6-4AD6-A64F-58B6342230CF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7A061B3-EAEC-B815-4C23-3097B87E33F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18A50E1-366A-4568-5E16-1333FBB572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F91453-00E2-4B27-A687-600566E64D9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85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tags" Target="../tags/tag3.xml"/><Relationship Id="rId7" Type="http://schemas.openxmlformats.org/officeDocument/2006/relationships/image" Target="../media/image7.png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image" Target="../media/image6.png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296361" y="103978"/>
            <a:ext cx="10283190" cy="5219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/>
              <a:t>同平台</a:t>
            </a:r>
            <a:r>
              <a:rPr lang="en-US" altLang="zh-CN" sz="2800" dirty="0"/>
              <a:t>runtime</a:t>
            </a:r>
            <a:r>
              <a:rPr lang="zh-CN" altLang="en-US" sz="2800" dirty="0"/>
              <a:t>预测（静态特征）：通过输入规模</a:t>
            </a:r>
            <a:r>
              <a:rPr lang="en-US" altLang="zh-CN" sz="2800" dirty="0"/>
              <a:t>n</a:t>
            </a:r>
            <a:r>
              <a:rPr lang="zh-CN" altLang="en-US" sz="2800" dirty="0"/>
              <a:t>预测运行时间</a:t>
            </a:r>
            <a:r>
              <a:rPr lang="en-US" altLang="zh-CN" sz="2800" dirty="0"/>
              <a:t>T</a:t>
            </a:r>
            <a:endParaRPr lang="zh-CN" altLang="en-US" sz="2800" dirty="0"/>
          </a:p>
        </p:txBody>
      </p:sp>
      <p:sp>
        <p:nvSpPr>
          <p:cNvPr id="8" name="文本框 7"/>
          <p:cNvSpPr txBox="1"/>
          <p:nvPr/>
        </p:nvSpPr>
        <p:spPr>
          <a:xfrm>
            <a:off x="180757" y="964018"/>
            <a:ext cx="11748973" cy="56311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2400" dirty="0"/>
              <a:t>预测对象：卡尔曼滤波</a:t>
            </a:r>
            <a:r>
              <a:rPr lang="en-US" altLang="zh-CN" sz="2400" dirty="0"/>
              <a:t>KF</a:t>
            </a:r>
            <a:r>
              <a:rPr lang="zh-CN" altLang="en-US" sz="2400" dirty="0"/>
              <a:t>，快速傅里叶变换</a:t>
            </a:r>
            <a:r>
              <a:rPr lang="en-US" altLang="zh-CN" sz="2400" dirty="0"/>
              <a:t>FFT</a:t>
            </a:r>
            <a:r>
              <a:rPr lang="zh-CN" altLang="en-US" sz="2400" dirty="0"/>
              <a:t>，模型预测控制</a:t>
            </a:r>
            <a:r>
              <a:rPr lang="en-US" altLang="zh-CN" sz="2400" dirty="0"/>
              <a:t>MPC</a:t>
            </a:r>
            <a:r>
              <a:rPr lang="zh-CN" altLang="en-US" sz="2400" dirty="0"/>
              <a:t>，</a:t>
            </a:r>
            <a:br>
              <a:rPr lang="zh-CN" altLang="en-US" sz="2400" dirty="0"/>
            </a:br>
            <a:r>
              <a:rPr lang="zh-CN" altLang="en-US" sz="2400" dirty="0"/>
              <a:t> </a:t>
            </a:r>
            <a:r>
              <a:rPr lang="en-US" altLang="zh-CN" sz="2400" dirty="0"/>
              <a:t>                  </a:t>
            </a:r>
            <a:r>
              <a:rPr lang="zh-CN" altLang="en-US" sz="2400" dirty="0"/>
              <a:t>安全算法</a:t>
            </a:r>
            <a:r>
              <a:rPr lang="en-US" altLang="zh-CN" sz="2400" dirty="0"/>
              <a:t>AES/MD5/SHA256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zh-CN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2400" dirty="0"/>
              <a:t>平台：</a:t>
            </a:r>
            <a:r>
              <a:rPr lang="en-US" altLang="zh-CN" sz="2400" dirty="0"/>
              <a:t>J721</a:t>
            </a:r>
            <a:r>
              <a:rPr lang="zh-CN" altLang="en-US" sz="2400" dirty="0"/>
              <a:t>的</a:t>
            </a:r>
            <a:r>
              <a:rPr lang="en-US" altLang="zh-CN" sz="2400" dirty="0"/>
              <a:t>A72</a:t>
            </a:r>
            <a:r>
              <a:rPr lang="zh-CN" altLang="en-US" sz="2400" dirty="0"/>
              <a:t>，</a:t>
            </a:r>
            <a:r>
              <a:rPr lang="en-US" altLang="zh-CN" sz="2400" dirty="0"/>
              <a:t>J721</a:t>
            </a:r>
            <a:r>
              <a:rPr lang="zh-CN" altLang="en-US" sz="2400" dirty="0"/>
              <a:t>的</a:t>
            </a:r>
            <a:r>
              <a:rPr lang="en-US" altLang="zh-CN" sz="2400" dirty="0"/>
              <a:t>R5</a:t>
            </a:r>
            <a:r>
              <a:rPr lang="zh-CN" altLang="en-US" sz="2400" dirty="0"/>
              <a:t>，</a:t>
            </a:r>
            <a:r>
              <a:rPr lang="en-US" altLang="zh-CN" sz="2400" dirty="0"/>
              <a:t>OK8MP</a:t>
            </a:r>
            <a:r>
              <a:rPr lang="zh-CN" altLang="en-US" sz="2400" dirty="0"/>
              <a:t>的</a:t>
            </a:r>
            <a:r>
              <a:rPr lang="en-US" altLang="zh-CN" sz="2400" dirty="0"/>
              <a:t>M7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zh-CN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2400" dirty="0"/>
              <a:t>预测方法</a:t>
            </a:r>
            <a:endParaRPr lang="en-US" altLang="zh-CN" sz="2400" dirty="0"/>
          </a:p>
          <a:p>
            <a:pPr lvl="1"/>
            <a:r>
              <a:rPr lang="zh-CN" altLang="en-US" sz="2400" b="1" dirty="0"/>
              <a:t>随机森林回归</a:t>
            </a:r>
            <a:r>
              <a:rPr lang="en-US" altLang="zh-CN" sz="2400" b="1" dirty="0"/>
              <a:t> RF</a:t>
            </a:r>
            <a:r>
              <a:rPr lang="zh-CN" altLang="en-US" sz="2400" b="1" dirty="0"/>
              <a:t>：</a:t>
            </a:r>
            <a:r>
              <a:rPr lang="zh-CN" altLang="en-US" sz="2400" dirty="0"/>
              <a:t>对非线性、异常值鲁棒，外推弱</a:t>
            </a:r>
            <a:endParaRPr lang="en-US" altLang="zh-CN" sz="2400" dirty="0"/>
          </a:p>
          <a:p>
            <a:pPr lvl="1"/>
            <a:r>
              <a:rPr lang="zh-CN" altLang="en-US" sz="2400" b="1" dirty="0"/>
              <a:t>支持向量回归</a:t>
            </a:r>
            <a:r>
              <a:rPr lang="en-US" altLang="zh-CN" sz="2400" b="1" dirty="0"/>
              <a:t> SVR</a:t>
            </a:r>
            <a:r>
              <a:rPr lang="zh-CN" altLang="en-US" sz="2400" b="1" dirty="0">
                <a:sym typeface="+mn-ea"/>
              </a:rPr>
              <a:t>：</a:t>
            </a:r>
            <a:r>
              <a:rPr lang="zh-CN" altLang="en-US" sz="2400" dirty="0"/>
              <a:t>对单变量平滑非线性拟合好；对尺度敏感需标准化；外推弱</a:t>
            </a:r>
            <a:endParaRPr lang="en-US" altLang="zh-CN" sz="2400" dirty="0"/>
          </a:p>
          <a:p>
            <a:pPr lvl="1"/>
            <a:r>
              <a:rPr lang="zh-CN" altLang="en-US" sz="2400" b="1" dirty="0"/>
              <a:t>多层感知机回归</a:t>
            </a:r>
            <a:r>
              <a:rPr lang="en-US" altLang="zh-CN" sz="2400" b="1" dirty="0"/>
              <a:t> MLP</a:t>
            </a:r>
            <a:r>
              <a:rPr lang="zh-CN" altLang="en-US" sz="2400" b="1" dirty="0">
                <a:sym typeface="+mn-ea"/>
              </a:rPr>
              <a:t>：</a:t>
            </a:r>
            <a:r>
              <a:rPr lang="zh-CN" altLang="en-US" sz="2400" dirty="0"/>
              <a:t>表达力强，可拟合复杂曲线；需要较多数据与正则</a:t>
            </a:r>
            <a:r>
              <a:rPr lang="en-US" altLang="zh-CN" sz="2400" dirty="0"/>
              <a:t>/</a:t>
            </a:r>
            <a:r>
              <a:rPr lang="zh-CN" altLang="en-US" sz="2400" dirty="0"/>
              <a:t>早停来防过拟合；对尺度敏感；外推一般</a:t>
            </a:r>
            <a:endParaRPr lang="en-US" altLang="zh-CN" sz="2400" dirty="0"/>
          </a:p>
          <a:p>
            <a:pPr lvl="1"/>
            <a:r>
              <a:rPr lang="zh-CN" altLang="en-US" sz="2400" b="1" dirty="0"/>
              <a:t>解析模型的非线性最小二乘</a:t>
            </a:r>
            <a:r>
              <a:rPr lang="en-US" altLang="zh-CN" sz="2400" b="1" dirty="0"/>
              <a:t>CURVE</a:t>
            </a:r>
            <a:r>
              <a:rPr lang="zh-CN" altLang="en-US" sz="2400" b="1" dirty="0">
                <a:sym typeface="+mn-ea"/>
              </a:rPr>
              <a:t>：</a:t>
            </a:r>
            <a:r>
              <a:rPr lang="zh-CN" altLang="en-US" sz="2400" dirty="0"/>
              <a:t>可解释、外推性好（当先验正确时）</a:t>
            </a:r>
            <a:endParaRPr lang="en-US" altLang="zh-CN" sz="2400" dirty="0"/>
          </a:p>
          <a:p>
            <a:pPr lvl="1"/>
            <a:r>
              <a:rPr lang="zh-CN" altLang="en-US" sz="2400" b="1" dirty="0"/>
              <a:t>梯度提升树</a:t>
            </a:r>
            <a:r>
              <a:rPr lang="en-US" altLang="zh-CN" sz="2400" b="1" dirty="0"/>
              <a:t>XGB</a:t>
            </a:r>
            <a:r>
              <a:rPr lang="zh-CN" altLang="en-US" sz="2400" b="1" dirty="0">
                <a:sym typeface="+mn-ea"/>
              </a:rPr>
              <a:t>：</a:t>
            </a:r>
            <a:r>
              <a:rPr lang="zh-CN" altLang="en-US" sz="2400" dirty="0"/>
              <a:t>对非线性、异常值鲁棒，外推弱</a:t>
            </a:r>
            <a:endParaRPr lang="en-US" altLang="zh-CN" sz="2400" dirty="0"/>
          </a:p>
          <a:p>
            <a:pPr lvl="1"/>
            <a:r>
              <a:rPr lang="zh-CN" altLang="en-US" sz="2400" b="1" dirty="0"/>
              <a:t>解析先验 </a:t>
            </a:r>
            <a:r>
              <a:rPr lang="en-US" altLang="zh-CN" sz="2400" b="1" dirty="0"/>
              <a:t>+ </a:t>
            </a:r>
            <a:r>
              <a:rPr lang="zh-CN" altLang="en-US" sz="2400" b="1" dirty="0"/>
              <a:t>残差学习</a:t>
            </a:r>
            <a:r>
              <a:rPr lang="en-US" altLang="zh-CN" sz="2400" b="1" dirty="0"/>
              <a:t>HYBRID</a:t>
            </a:r>
            <a:r>
              <a:rPr lang="zh-CN" altLang="en-US" sz="2400" b="1" dirty="0">
                <a:sym typeface="+mn-ea"/>
              </a:rPr>
              <a:t>：</a:t>
            </a:r>
            <a:r>
              <a:rPr lang="zh-CN" altLang="en-US" sz="2400" dirty="0"/>
              <a:t>兼顾可解释性与灵活性，常比单一模型更稳健</a:t>
            </a:r>
            <a:endParaRPr lang="en-US" altLang="zh-CN" sz="2400" dirty="0"/>
          </a:p>
          <a:p>
            <a:pPr lvl="1"/>
            <a:endParaRPr lang="en-US" altLang="zh-CN" sz="2400" dirty="0"/>
          </a:p>
          <a:p>
            <a:pPr lvl="1"/>
            <a:r>
              <a:rPr lang="zh-CN" altLang="en-US" sz="2400" dirty="0"/>
              <a:t>每个方法会在</a:t>
            </a:r>
            <a:r>
              <a:rPr lang="en-US" altLang="zh-CN" sz="2400" dirty="0"/>
              <a:t>7</a:t>
            </a:r>
            <a:r>
              <a:rPr lang="zh-CN" altLang="en-US" sz="2400" dirty="0"/>
              <a:t>个不同的种子下测试</a:t>
            </a:r>
            <a:endParaRPr lang="en-US" altLang="zh-CN" sz="2400" dirty="0"/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4294967295"/>
              </p:nvPr>
            </p:nvSpPr>
            <p:spPr>
              <a:xfrm>
                <a:off x="353060" y="766445"/>
                <a:ext cx="11122025" cy="4863465"/>
              </a:xfrm>
            </p:spPr>
            <p:txBody>
              <a:bodyPr>
                <a:normAutofit fontScale="90000" lnSpcReduction="10000"/>
              </a:bodyPr>
              <a:lstStyle/>
              <a:p>
                <a:pPr>
                  <a:buFont typeface="Wingdings" panose="05000000000000000000" charset="0"/>
                  <a:buChar char="l"/>
                </a:pPr>
                <a:r>
                  <a:rPr lang="en-US" altLang="zh-CN" sz="2000" dirty="0"/>
                  <a:t>MAPE</a:t>
                </a:r>
                <a:r>
                  <a:rPr lang="zh-CN" altLang="en-US" sz="2000" dirty="0"/>
                  <a:t>（</a:t>
                </a:r>
                <a:r>
                  <a:rPr lang="en-US" altLang="zh-CN" sz="2000" dirty="0"/>
                  <a:t>Mean Absolute Percentage Error</a:t>
                </a:r>
                <a:r>
                  <a:rPr lang="zh-CN" altLang="en-US" sz="2000" dirty="0"/>
                  <a:t>，平均绝对百分比误差）</a:t>
                </a:r>
                <a:endParaRPr lang="en-US" altLang="zh-CN" sz="2000" dirty="0"/>
              </a:p>
              <a:p>
                <a:pPr marL="0" indent="0">
                  <a:buNone/>
                </a:pPr>
                <a:r>
                  <a:rPr lang="zh-CN" altLang="en-US" sz="2000" dirty="0"/>
                  <a:t>误差占真实值的百分比，结果以百分数表示（例如 </a:t>
                </a:r>
                <a:r>
                  <a:rPr lang="en-US" altLang="zh-CN" sz="2000" dirty="0"/>
                  <a:t>10%</a:t>
                </a:r>
                <a:r>
                  <a:rPr lang="zh-CN" altLang="en-US" sz="2000" dirty="0"/>
                  <a:t>）</a:t>
                </a:r>
              </a:p>
              <a:p>
                <a:pPr marL="0" indent="0">
                  <a:buNone/>
                </a:pPr>
                <a:endParaRPr lang="en-US" altLang="zh-CN" sz="2000" dirty="0"/>
              </a:p>
              <a:p>
                <a:pPr marL="0" indent="0">
                  <a:buNone/>
                </a:pPr>
                <a:endParaRPr lang="en-US" altLang="zh-CN" sz="2000" dirty="0"/>
              </a:p>
              <a:p>
                <a:pPr marL="0" indent="0">
                  <a:buNone/>
                </a:pPr>
                <a:endParaRPr lang="en-US" altLang="zh-CN" sz="2000" dirty="0"/>
              </a:p>
              <a:p>
                <a:pPr>
                  <a:buFont typeface="Wingdings" panose="05000000000000000000" charset="0"/>
                  <a:buChar char="l"/>
                </a:pPr>
                <a:r>
                  <a:rPr lang="en-US" altLang="zh-CN" sz="2000" dirty="0">
                    <a:sym typeface="+mn-ea"/>
                  </a:rPr>
                  <a:t>R2</a:t>
                </a:r>
                <a:r>
                  <a:rPr lang="zh-CN" altLang="en-US" sz="2000" dirty="0">
                    <a:sym typeface="+mn-ea"/>
                  </a:rPr>
                  <a:t>（决定系数，</a:t>
                </a:r>
                <a:r>
                  <a:rPr lang="en-US" altLang="zh-CN" sz="2000" dirty="0">
                    <a:sym typeface="+mn-ea"/>
                  </a:rPr>
                  <a:t>coefficient of determination</a:t>
                </a:r>
                <a:r>
                  <a:rPr lang="zh-CN" altLang="en-US" sz="2000" dirty="0">
                    <a:sym typeface="+mn-ea"/>
                  </a:rPr>
                  <a:t>）</a:t>
                </a:r>
                <a:endParaRPr lang="en-US" altLang="zh-CN" sz="2000" dirty="0"/>
              </a:p>
              <a:p>
                <a:pPr marL="0" indent="0">
                  <a:buNone/>
                </a:pPr>
                <a:r>
                  <a:rPr lang="zh-CN" altLang="en-US" sz="2000" dirty="0">
                    <a:sym typeface="+mn-ea"/>
                  </a:rPr>
                  <a:t>被模型解释的方差比例，越靠近</a:t>
                </a:r>
                <a:r>
                  <a:rPr lang="en-US" altLang="zh-CN" sz="2000" dirty="0">
                    <a:sym typeface="+mn-ea"/>
                  </a:rPr>
                  <a:t>1</a:t>
                </a:r>
                <a:r>
                  <a:rPr lang="zh-CN" altLang="en-US" sz="2000" dirty="0">
                    <a:sym typeface="+mn-ea"/>
                  </a:rPr>
                  <a:t>越好（</a:t>
                </a:r>
                <a:r>
                  <a:rPr lang="en-US" altLang="zh-CN" sz="2000" dirty="0">
                    <a:sym typeface="+mn-ea"/>
                  </a:rPr>
                  <a:t>0–1</a:t>
                </a:r>
                <a:r>
                  <a:rPr lang="zh-CN" altLang="en-US" sz="2000" dirty="0">
                    <a:sym typeface="+mn-ea"/>
                  </a:rPr>
                  <a:t>通常表示解释能力，但也可为负，表示模型比用均值预测更差）</a:t>
                </a:r>
                <a:endParaRPr lang="zh-CN" altLang="en-US" sz="2000" dirty="0"/>
              </a:p>
              <a:p>
                <a:pPr marL="0" indent="0">
                  <a:buNone/>
                </a:pPr>
                <a:endParaRPr lang="en-US" altLang="zh-CN" sz="2000" dirty="0"/>
              </a:p>
              <a:p>
                <a:pPr marL="0" indent="0">
                  <a:buNone/>
                </a:pPr>
                <a:endParaRPr lang="en-US" altLang="zh-CN" sz="2000" dirty="0"/>
              </a:p>
              <a:p>
                <a:pPr marL="0" indent="0">
                  <a:buNone/>
                </a:pPr>
                <a:endParaRPr lang="en-US" altLang="zh-CN" sz="2000" dirty="0"/>
              </a:p>
              <a:p>
                <a:pPr>
                  <a:buFont typeface="Wingdings" panose="05000000000000000000" charset="0"/>
                  <a:buChar char="l"/>
                </a:pPr>
                <a:r>
                  <a:rPr lang="en-US" altLang="zh-CN" sz="2000" dirty="0">
                    <a:sym typeface="+mn-ea"/>
                  </a:rPr>
                  <a:t>RMSE</a:t>
                </a:r>
                <a:r>
                  <a:rPr lang="zh-CN" altLang="en-US" sz="2000" dirty="0">
                    <a:sym typeface="+mn-ea"/>
                  </a:rPr>
                  <a:t>（</a:t>
                </a:r>
                <a:r>
                  <a:rPr lang="en-US" altLang="zh-CN" sz="2000" dirty="0">
                    <a:sym typeface="+mn-ea"/>
                  </a:rPr>
                  <a:t>Root Mean Squared Error</a:t>
                </a:r>
                <a:r>
                  <a:rPr lang="zh-CN" altLang="en-US" sz="2000" dirty="0">
                    <a:sym typeface="+mn-ea"/>
                  </a:rPr>
                  <a:t>，均方根误差）</a:t>
                </a:r>
              </a:p>
              <a:p>
                <a:pPr marL="0" indent="0">
                  <a:buFont typeface="Wingdings" panose="05000000000000000000" charset="0"/>
                  <a:buNone/>
                </a:pPr>
                <a:r>
                  <a:rPr lang="zh-CN" altLang="en-US" sz="2000" dirty="0">
                    <a:sym typeface="+mn-ea"/>
                  </a:rPr>
                  <a:t>误差的标准差式度量，单位与原始 </a:t>
                </a:r>
                <a14:m>
                  <m:oMath xmlns:m="http://schemas.openxmlformats.org/officeDocument/2006/math">
                    <m:r>
                      <a:rPr lang="zh-CN" altLang="en-US" sz="2000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zh-CN" altLang="en-US" sz="2000" dirty="0">
                    <a:sym typeface="+mn-ea"/>
                  </a:rPr>
                  <a:t>相同。对大误差惩罚更重（平方项）。</a:t>
                </a:r>
                <a:endParaRPr lang="en-US" altLang="zh-CN" sz="2000" dirty="0"/>
              </a:p>
              <a:p>
                <a:pPr marL="0" indent="0">
                  <a:buNone/>
                </a:pPr>
                <a:r>
                  <a:rPr lang="en-US" altLang="zh-CN" sz="2000" dirty="0" err="1">
                    <a:sym typeface="+mn-ea"/>
                  </a:rPr>
                  <a:t>RMSE%_mean</a:t>
                </a:r>
                <a:r>
                  <a:rPr lang="zh-CN" altLang="en-US" sz="2000" dirty="0">
                    <a:sym typeface="+mn-ea"/>
                  </a:rPr>
                  <a:t>：</a:t>
                </a:r>
                <a:r>
                  <a:rPr lang="en-US" altLang="zh-CN" sz="2000" dirty="0">
                    <a:sym typeface="+mn-ea"/>
                  </a:rPr>
                  <a:t>RMSE</a:t>
                </a:r>
                <a:r>
                  <a:rPr lang="zh-CN" altLang="en-US" sz="2000" dirty="0">
                    <a:sym typeface="+mn-ea"/>
                  </a:rPr>
                  <a:t>相对于数据均值的百分比</a:t>
                </a:r>
                <a:endParaRPr lang="en-US" altLang="zh-CN" sz="2000" dirty="0"/>
              </a:p>
              <a:p>
                <a:pPr marL="0" indent="0">
                  <a:buNone/>
                </a:pPr>
                <a:r>
                  <a:rPr lang="en-US" altLang="zh-CN" sz="2000" dirty="0" err="1">
                    <a:sym typeface="+mn-ea"/>
                  </a:rPr>
                  <a:t>RMSE%_range</a:t>
                </a:r>
                <a:r>
                  <a:rPr lang="zh-CN" altLang="en-US" sz="2000" dirty="0">
                    <a:sym typeface="+mn-ea"/>
                  </a:rPr>
                  <a:t>：</a:t>
                </a:r>
                <a:r>
                  <a:rPr lang="en-US" altLang="zh-CN" sz="2000" dirty="0">
                    <a:sym typeface="+mn-ea"/>
                  </a:rPr>
                  <a:t>RMSE</a:t>
                </a:r>
                <a:r>
                  <a:rPr lang="zh-CN" altLang="en-US" sz="2000" dirty="0">
                    <a:sym typeface="+mn-ea"/>
                  </a:rPr>
                  <a:t>相对于观测范围（数据最大值与最小值之差）的百分比</a:t>
                </a:r>
                <a:endParaRPr lang="en-US" altLang="zh-CN" sz="2000" dirty="0"/>
              </a:p>
              <a:p>
                <a:pPr marL="0" indent="0">
                  <a:buNone/>
                </a:pPr>
                <a:endParaRPr lang="en-US" altLang="zh-CN" sz="2000" dirty="0"/>
              </a:p>
            </p:txBody>
          </p:sp>
        </mc:Choice>
        <mc:Fallback xmlns=""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4294967295"/>
              </p:nvPr>
            </p:nvSpPr>
            <p:spPr>
              <a:xfrm>
                <a:off x="353060" y="766445"/>
                <a:ext cx="11122025" cy="4863465"/>
              </a:xfrm>
              <a:blipFill>
                <a:blip r:embed="rId3"/>
                <a:stretch>
                  <a:fillRect l="-493" t="-1754" b="-112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图片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690" y="1233805"/>
            <a:ext cx="4363085" cy="1169670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9500" y="3198177"/>
            <a:ext cx="3343275" cy="1060450"/>
          </a:xfrm>
          <a:prstGeom prst="rect">
            <a:avLst/>
          </a:prstGeom>
        </p:spPr>
      </p:pic>
      <p:pic>
        <p:nvPicPr>
          <p:cNvPr id="13" name="图片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9691" y="5709078"/>
            <a:ext cx="4418280" cy="1100455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4934288" y="134458"/>
            <a:ext cx="1605280" cy="5219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2800" dirty="0"/>
              <a:t>评价指标</a:t>
            </a:r>
          </a:p>
        </p:txBody>
      </p:sp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内容占位符 16"/>
          <p:cNvSpPr txBox="1">
            <a:spLocks noGrp="1"/>
          </p:cNvSpPr>
          <p:nvPr>
            <p:ph idx="4294967295"/>
          </p:nvPr>
        </p:nvSpPr>
        <p:spPr>
          <a:xfrm>
            <a:off x="371475" y="975360"/>
            <a:ext cx="5213985" cy="332930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buFont typeface="Wingdings" panose="05000000000000000000" charset="0"/>
              <a:buChar char="l"/>
            </a:pPr>
            <a:r>
              <a:rPr lang="en-US" altLang="zh-CN" sz="2000" dirty="0"/>
              <a:t>3</a:t>
            </a:r>
            <a:r>
              <a:rPr lang="zh-CN" altLang="en-US" sz="2000" dirty="0"/>
              <a:t>个评价指标：</a:t>
            </a:r>
            <a:endParaRPr lang="en-US" altLang="zh-CN" sz="2000" dirty="0"/>
          </a:p>
          <a:p>
            <a:pPr marL="0" indent="0">
              <a:buNone/>
            </a:pPr>
            <a:r>
              <a:rPr lang="en-US" altLang="zh-CN" sz="1800" dirty="0"/>
              <a:t>MAPE / </a:t>
            </a:r>
            <a:r>
              <a:rPr lang="en-US" altLang="zh-CN" sz="1800" dirty="0" err="1"/>
              <a:t>RMSE%_range</a:t>
            </a:r>
            <a:r>
              <a:rPr lang="en-US" altLang="zh-CN" sz="1800" dirty="0"/>
              <a:t>(%) / </a:t>
            </a:r>
            <a:r>
              <a:rPr lang="en-US" altLang="zh-CN" sz="1800" dirty="0" err="1"/>
              <a:t>RMSE%_mean</a:t>
            </a:r>
            <a:r>
              <a:rPr lang="en-US" altLang="zh-CN" sz="1800" dirty="0"/>
              <a:t>(%)</a:t>
            </a:r>
          </a:p>
          <a:p>
            <a:pPr marL="0" indent="0">
              <a:buNone/>
            </a:pPr>
            <a:r>
              <a:rPr lang="zh-CN" altLang="en-US" sz="1800" dirty="0"/>
              <a:t>都满足：</a:t>
            </a:r>
            <a:endParaRPr lang="en-US" altLang="zh-CN" sz="1800" dirty="0"/>
          </a:p>
          <a:p>
            <a:pPr marL="457200" lvl="1" indent="0">
              <a:buNone/>
            </a:pPr>
            <a:r>
              <a:rPr lang="en-US" altLang="zh-CN" sz="2000" dirty="0"/>
              <a:t>&lt; 10%    </a:t>
            </a:r>
            <a:r>
              <a:rPr lang="zh-CN" altLang="en-US" sz="2000" dirty="0">
                <a:solidFill>
                  <a:srgbClr val="00B050"/>
                </a:solidFill>
              </a:rPr>
              <a:t>优秀</a:t>
            </a:r>
          </a:p>
          <a:p>
            <a:pPr marL="457200" lvl="1" indent="0">
              <a:buNone/>
            </a:pPr>
            <a:r>
              <a:rPr lang="en-US" altLang="zh-CN" sz="2000" dirty="0"/>
              <a:t>10–20%  </a:t>
            </a:r>
            <a:r>
              <a:rPr lang="zh-CN" altLang="en-US" sz="2000" dirty="0">
                <a:solidFill>
                  <a:srgbClr val="FFC000"/>
                </a:solidFill>
              </a:rPr>
              <a:t>中等</a:t>
            </a:r>
            <a:endParaRPr lang="en-US" altLang="zh-CN" sz="2000" dirty="0">
              <a:solidFill>
                <a:srgbClr val="FFC000"/>
              </a:solidFill>
            </a:endParaRPr>
          </a:p>
          <a:p>
            <a:pPr marL="457200" lvl="1" indent="0">
              <a:buNone/>
            </a:pPr>
            <a:r>
              <a:rPr lang="en-US" altLang="zh-CN" sz="2000" dirty="0"/>
              <a:t>&gt;20%      </a:t>
            </a:r>
            <a:r>
              <a:rPr lang="zh-CN" altLang="en-US" sz="2000" dirty="0">
                <a:solidFill>
                  <a:srgbClr val="FF0000"/>
                </a:solidFill>
              </a:rPr>
              <a:t>差</a:t>
            </a:r>
          </a:p>
          <a:p>
            <a:pPr marL="457200" lvl="1" indent="0">
              <a:buNone/>
            </a:pPr>
            <a:endParaRPr lang="en-US" altLang="zh-CN" sz="2000" dirty="0"/>
          </a:p>
          <a:p>
            <a:pPr lvl="0">
              <a:buFont typeface="Wingdings" panose="05000000000000000000" charset="0"/>
              <a:buChar char="l"/>
            </a:pPr>
            <a:r>
              <a:rPr lang="zh-CN" altLang="en-US" sz="2000" dirty="0"/>
              <a:t>实验结果表明</a:t>
            </a:r>
            <a:br>
              <a:rPr lang="zh-CN" altLang="en-US" sz="2000" dirty="0"/>
            </a:br>
            <a:r>
              <a:rPr lang="en-US" altLang="zh-CN" sz="2000" dirty="0"/>
              <a:t>CURVE</a:t>
            </a:r>
            <a:r>
              <a:rPr lang="zh-CN" altLang="en-US" sz="2000" dirty="0"/>
              <a:t>和</a:t>
            </a:r>
            <a:r>
              <a:rPr lang="en-US" altLang="zh-CN" sz="2000" dirty="0"/>
              <a:t>HYBRID</a:t>
            </a:r>
            <a:r>
              <a:rPr lang="zh-CN" altLang="en-US" sz="2000" dirty="0"/>
              <a:t>两种有先验的拟合方式效果普遍较好，原因在于算子的复杂度已知（有先验）。</a:t>
            </a:r>
            <a:endParaRPr lang="zh-CN" altLang="en-US" sz="1800" dirty="0"/>
          </a:p>
        </p:txBody>
      </p:sp>
      <p:sp>
        <p:nvSpPr>
          <p:cNvPr id="5" name="文本框 4"/>
          <p:cNvSpPr txBox="1"/>
          <p:nvPr/>
        </p:nvSpPr>
        <p:spPr>
          <a:xfrm>
            <a:off x="222885" y="4895215"/>
            <a:ext cx="5067300" cy="147701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zh-CN" altLang="en-US" sz="1400" dirty="0"/>
              <a:t>说明：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1400" dirty="0"/>
              <a:t>表格中的数字代表忽略了运行时间小于该数字</a:t>
            </a:r>
            <a:r>
              <a:rPr lang="en-US" altLang="zh-CN" sz="1400" dirty="0"/>
              <a:t>(ms)</a:t>
            </a:r>
            <a:r>
              <a:rPr lang="zh-CN" altLang="en-US" sz="1400" dirty="0"/>
              <a:t>的样本数据，</a:t>
            </a:r>
            <a:r>
              <a:rPr lang="en-US" altLang="zh-CN" sz="1400" dirty="0"/>
              <a:t>“/”</a:t>
            </a:r>
            <a:r>
              <a:rPr lang="zh-CN" altLang="en-US" sz="1400" dirty="0"/>
              <a:t>表示方法不必要，因为这些算子具有明显的线性特征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1400" dirty="0">
                <a:sym typeface="+mn-ea"/>
              </a:rPr>
              <a:t>目前模型使用的都是相同参数</a:t>
            </a:r>
            <a:endParaRPr lang="zh-CN" altLang="en-US" sz="1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1400" dirty="0">
                <a:sym typeface="+mn-ea"/>
              </a:rPr>
              <a:t>在预测程序的配置区修改</a:t>
            </a:r>
            <a:r>
              <a:rPr lang="en-US" altLang="zh-CN" sz="1400" dirty="0" err="1">
                <a:sym typeface="+mn-ea"/>
              </a:rPr>
              <a:t>predicted_app</a:t>
            </a:r>
            <a:r>
              <a:rPr lang="zh-CN" altLang="en-US" sz="1400" dirty="0">
                <a:sym typeface="+mn-ea"/>
              </a:rPr>
              <a:t>、</a:t>
            </a:r>
            <a:r>
              <a:rPr lang="en-US" altLang="zh-CN" sz="1400" dirty="0" err="1">
                <a:sym typeface="+mn-ea"/>
              </a:rPr>
              <a:t>host_cpu</a:t>
            </a:r>
            <a:r>
              <a:rPr lang="zh-CN" altLang="en-US" sz="1400" dirty="0">
                <a:sym typeface="+mn-ea"/>
              </a:rPr>
              <a:t>、</a:t>
            </a:r>
            <a:r>
              <a:rPr lang="en-US" altLang="zh-CN" sz="1400" dirty="0">
                <a:sym typeface="+mn-ea"/>
              </a:rPr>
              <a:t>PREDICT_METHOD</a:t>
            </a:r>
            <a:r>
              <a:rPr lang="zh-CN" altLang="en-US" sz="1400" dirty="0">
                <a:sym typeface="+mn-ea"/>
              </a:rPr>
              <a:t>、</a:t>
            </a:r>
            <a:r>
              <a:rPr lang="en-US" altLang="zh-CN" sz="1400" dirty="0">
                <a:sym typeface="+mn-ea"/>
              </a:rPr>
              <a:t>LOWER_BOUND</a:t>
            </a:r>
            <a:r>
              <a:rPr lang="zh-CN" altLang="en-US" sz="1400" dirty="0">
                <a:sym typeface="+mn-ea"/>
              </a:rPr>
              <a:t>就可以复现实现结果</a:t>
            </a:r>
            <a:endParaRPr lang="en-US" altLang="zh-CN" sz="1400" dirty="0"/>
          </a:p>
          <a:p>
            <a:endParaRPr lang="zh-CN" altLang="en-US" sz="1400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50585" y="724340"/>
            <a:ext cx="12949036" cy="5554281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4400888" y="134458"/>
            <a:ext cx="2672080" cy="5219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2800" dirty="0"/>
              <a:t>实验结果一览表</a:t>
            </a:r>
          </a:p>
        </p:txBody>
      </p:sp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1557655" y="2990850"/>
            <a:ext cx="637857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000" dirty="0"/>
              <a:t>后面</a:t>
            </a:r>
            <a:r>
              <a:rPr lang="en-US" altLang="zh-CN" sz="4000" dirty="0"/>
              <a:t>PPT</a:t>
            </a:r>
            <a:r>
              <a:rPr lang="zh-CN" altLang="en-US" sz="4000" dirty="0"/>
              <a:t>是各种预测方法的实验记录及其分析</a:t>
            </a:r>
          </a:p>
        </p:txBody>
      </p:sp>
    </p:spTree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idx="4294967295"/>
          </p:nvPr>
        </p:nvSpPr>
        <p:spPr>
          <a:xfrm>
            <a:off x="124098" y="143056"/>
            <a:ext cx="2434506" cy="457835"/>
          </a:xfrm>
        </p:spPr>
        <p:txBody>
          <a:bodyPr>
            <a:normAutofit fontScale="90000"/>
          </a:bodyPr>
          <a:lstStyle/>
          <a:p>
            <a:r>
              <a:rPr lang="zh-CN" altLang="en-US" sz="2800" dirty="0"/>
              <a:t>随机森林回归</a:t>
            </a:r>
            <a:endParaRPr lang="en-US" altLang="zh-CN" sz="2800" dirty="0"/>
          </a:p>
        </p:txBody>
      </p:sp>
      <p:pic>
        <p:nvPicPr>
          <p:cNvPr id="5" name="图片 4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449217" y="772976"/>
            <a:ext cx="3912326" cy="2934244"/>
          </a:xfrm>
          <a:prstGeom prst="rect">
            <a:avLst/>
          </a:prstGeom>
        </p:spPr>
      </p:pic>
      <p:sp>
        <p:nvSpPr>
          <p:cNvPr id="8" name="标题 1"/>
          <p:cNvSpPr txBox="1"/>
          <p:nvPr>
            <p:custDataLst>
              <p:tags r:id="rId2"/>
            </p:custDataLst>
          </p:nvPr>
        </p:nvSpPr>
        <p:spPr>
          <a:xfrm>
            <a:off x="4361542" y="770944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 model = RandomForestRegressor(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n_estimators</a:t>
            </a:r>
            <a:r>
              <a:rPr lang="en-US" altLang="zh-CN" sz="1000" dirty="0">
                <a:latin typeface="Consolas" panose="020B0609020204030204" pitchFamily="49" charset="0"/>
              </a:rPr>
              <a:t>=100,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random_state</a:t>
            </a:r>
            <a:r>
              <a:rPr lang="en-US" altLang="zh-CN" sz="1000" dirty="0">
                <a:latin typeface="Consolas" panose="020B0609020204030204" pitchFamily="49" charset="0"/>
              </a:rPr>
              <a:t>=2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)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0.2768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0.9963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5.3571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pic>
        <p:nvPicPr>
          <p:cNvPr id="6" name="图片 5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449217" y="3636379"/>
            <a:ext cx="3912325" cy="2934244"/>
          </a:xfrm>
          <a:prstGeom prst="rect">
            <a:avLst/>
          </a:prstGeom>
        </p:spPr>
      </p:pic>
      <p:sp>
        <p:nvSpPr>
          <p:cNvPr id="7" name="标题 1"/>
          <p:cNvSpPr txBox="1"/>
          <p:nvPr>
            <p:custDataLst>
              <p:tags r:id="rId4"/>
            </p:custDataLst>
          </p:nvPr>
        </p:nvSpPr>
        <p:spPr>
          <a:xfrm>
            <a:off x="4361542" y="3709253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 model = RandomForestRegressor(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n_estimators</a:t>
            </a:r>
            <a:r>
              <a:rPr lang="en-US" altLang="zh-CN" sz="1000" dirty="0">
                <a:latin typeface="Consolas" panose="020B0609020204030204" pitchFamily="49" charset="0"/>
              </a:rPr>
              <a:t>=1000,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random_state</a:t>
            </a:r>
            <a:r>
              <a:rPr lang="en-US" altLang="zh-CN" sz="1000" dirty="0">
                <a:latin typeface="Consolas" panose="020B0609020204030204" pitchFamily="49" charset="0"/>
              </a:rPr>
              <a:t>=2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)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0.3288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0.9956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5.8434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sp>
        <p:nvSpPr>
          <p:cNvPr id="3" name="标题 1"/>
          <p:cNvSpPr txBox="1"/>
          <p:nvPr/>
        </p:nvSpPr>
        <p:spPr>
          <a:xfrm>
            <a:off x="7223760" y="3636645"/>
            <a:ext cx="4210050" cy="59563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对矩阵乘，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RF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预测效果不好，原因？</a:t>
            </a:r>
          </a:p>
        </p:txBody>
      </p:sp>
    </p:spTree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/>
          <p:cNvSpPr txBox="1"/>
          <p:nvPr/>
        </p:nvSpPr>
        <p:spPr>
          <a:xfrm>
            <a:off x="1" y="1196812"/>
            <a:ext cx="12192000" cy="4184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Matrix_Multiply on Cortex-R5F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0.1, Lower bound: -1.0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random_forest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1: MAPE=0.0699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R2=0.9971, RMSE=5.7602 (s), RMSE%_mean=4.98%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RMSE%_range=1.67%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N=11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2: MAPE=0.2367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R2=0.9937, RMSE=5.3302 (s), RMSE%_mean=15.19%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RMSE%_range=2.19%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N=11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6: MAPE=0.3420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R2=0.9957, RMSE=5.8029 (s), RMSE%_mean=10.19%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RMSE%_range=1.90%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N=11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42: MAPE=0.1349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R2=0.9984, RMSE=4.2699 (s), RMSE%_mean=3.89%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RMSE%_range=1.28%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N=11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123: MAPE=0.0747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R2=0.9994, RMSE=2.4110 (s), RMSE%_mean=2.78%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RMSE%_range=0.93%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N=11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2025: MAPE=0.1119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R2=0.9972, RMSE=1.4969 (s), RMSE%_mean=6.24%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RMSE%_range=1.80%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N=11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33550336: MAPE=0.1358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R2=0.9924, RMSE=7.2779 (s), RMSE%_mean=9.64%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RMSE%_range=2.53%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N=11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0.1580 ± 0.0982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0.9963 ± 0.0025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4.6213 ± 2.0422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7.56% ± 4.36%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1.76% ± 0.54%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  <a:sym typeface="+mn-ea"/>
              </a:rPr>
              <a:t>（评价指标的数值是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  <a:sym typeface="+mn-ea"/>
              </a:rPr>
              <a:t>7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  <a:sym typeface="+mn-ea"/>
              </a:rPr>
              <a:t>个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  <a:sym typeface="+mn-ea"/>
              </a:rPr>
              <a:t>seed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  <a:sym typeface="+mn-ea"/>
              </a:rPr>
              <a:t>的平均水平）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  <a:p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idx="4294967295"/>
          </p:nvPr>
        </p:nvSpPr>
        <p:spPr>
          <a:xfrm>
            <a:off x="838200" y="658041"/>
            <a:ext cx="10515600" cy="595921"/>
          </a:xfrm>
        </p:spPr>
        <p:txBody>
          <a:bodyPr>
            <a:normAutofit/>
          </a:bodyPr>
          <a:lstStyle/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改进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1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：现在用多个随机种（数据划分、模型）进行多轮测试</a:t>
            </a:r>
            <a:endParaRPr lang="zh-CN" altLang="en-US" sz="2800"/>
          </a:p>
        </p:txBody>
      </p:sp>
      <p:sp>
        <p:nvSpPr>
          <p:cNvPr id="5" name="标题 1"/>
          <p:cNvSpPr txBox="1"/>
          <p:nvPr/>
        </p:nvSpPr>
        <p:spPr>
          <a:xfrm>
            <a:off x="124098" y="143056"/>
            <a:ext cx="2434506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/>
              <a:t>随机森林回归</a:t>
            </a:r>
            <a:endParaRPr lang="en-US" altLang="zh-CN" sz="2800" dirty="0"/>
          </a:p>
        </p:txBody>
      </p:sp>
      <p:sp>
        <p:nvSpPr>
          <p:cNvPr id="12" name="矩形 11"/>
          <p:cNvSpPr/>
          <p:nvPr/>
        </p:nvSpPr>
        <p:spPr>
          <a:xfrm>
            <a:off x="-44450" y="2102786"/>
            <a:ext cx="11989613" cy="468964"/>
          </a:xfrm>
          <a:prstGeom prst="rect">
            <a:avLst/>
          </a:prstGeom>
          <a:noFill/>
          <a:ln w="635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838200" y="5298741"/>
            <a:ext cx="10515600" cy="5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有助于减少随机性</a:t>
            </a:r>
            <a:endParaRPr lang="zh-CN" altLang="en-US" sz="2800"/>
          </a:p>
        </p:txBody>
      </p:sp>
    </p:spTree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内容占位符 12"/>
          <p:cNvSpPr txBox="1">
            <a:spLocks noGrp="1"/>
          </p:cNvSpPr>
          <p:nvPr>
            <p:ph idx="4294967295"/>
          </p:nvPr>
        </p:nvSpPr>
        <p:spPr>
          <a:xfrm>
            <a:off x="51" y="2002714"/>
            <a:ext cx="12193217" cy="4102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/>
              <a:t>RF</a:t>
            </a:r>
            <a:r>
              <a:rPr lang="zh-CN" altLang="en-US" sz="2000" dirty="0"/>
              <a:t>效果不好，应该是与随机种参数有关。随机种参数影响数据划分（不同划分可能噪声不同）和模型表现。</a:t>
            </a:r>
            <a:endParaRPr lang="en-US" altLang="zh-CN" sz="2000" dirty="0"/>
          </a:p>
          <a:p>
            <a:r>
              <a:rPr lang="zh-CN" altLang="en-US" sz="2000" dirty="0"/>
              <a:t>就这两个表现不好的样例来看：即</a:t>
            </a:r>
            <a:r>
              <a:rPr lang="en-US" altLang="zh-CN" sz="2000" dirty="0"/>
              <a:t>Seed 2</a:t>
            </a:r>
            <a:r>
              <a:rPr lang="zh-CN" altLang="en-US" sz="2000" dirty="0"/>
              <a:t>和</a:t>
            </a:r>
            <a:r>
              <a:rPr lang="en-US" altLang="zh-CN" sz="2000" dirty="0"/>
              <a:t>Seed 6</a:t>
            </a:r>
          </a:p>
          <a:p>
            <a:pPr lvl="1"/>
            <a:r>
              <a:rPr lang="en-US" altLang="zh-CN" sz="1800" dirty="0" err="1"/>
              <a:t>RMSE%_range</a:t>
            </a:r>
            <a:r>
              <a:rPr lang="en-US" altLang="zh-CN" sz="1800" dirty="0"/>
              <a:t> </a:t>
            </a:r>
            <a:r>
              <a:rPr lang="zh-CN" altLang="en-US" sz="1800" dirty="0"/>
              <a:t>很低（≈</a:t>
            </a:r>
            <a:r>
              <a:rPr lang="en-US" altLang="zh-CN" sz="1800" dirty="0"/>
              <a:t>2%</a:t>
            </a:r>
            <a:r>
              <a:rPr lang="zh-CN" altLang="en-US" sz="1800" dirty="0"/>
              <a:t>），说明把均方根误差相对于范围看就是一个很小的比例。</a:t>
            </a:r>
          </a:p>
          <a:p>
            <a:pPr lvl="1"/>
            <a:r>
              <a:rPr lang="en-US" altLang="zh-CN" sz="1800" dirty="0" err="1"/>
              <a:t>RMSE%_mean</a:t>
            </a:r>
            <a:r>
              <a:rPr lang="en-US" altLang="zh-CN" sz="1800" dirty="0"/>
              <a:t> </a:t>
            </a:r>
            <a:r>
              <a:rPr lang="zh-CN" altLang="en-US" sz="1800" dirty="0"/>
              <a:t>给出的 </a:t>
            </a:r>
            <a:r>
              <a:rPr lang="en-US" altLang="zh-CN" sz="1800" dirty="0"/>
              <a:t>10–15% </a:t>
            </a:r>
            <a:r>
              <a:rPr lang="zh-CN" altLang="en-US" sz="1800" dirty="0"/>
              <a:t>说明均方根误差相对于均值仍然是中等 ，可反推均值：</a:t>
            </a:r>
          </a:p>
          <a:p>
            <a:pPr lvl="2"/>
            <a:r>
              <a:rPr lang="en-US" altLang="zh-CN" sz="2220" dirty="0"/>
              <a:t>mean ≈ 100 * RMSE / </a:t>
            </a:r>
            <a:r>
              <a:rPr lang="en-US" altLang="zh-CN" sz="2220" dirty="0" err="1"/>
              <a:t>RMSE%_mean</a:t>
            </a:r>
            <a:endParaRPr lang="en-US" altLang="zh-CN" sz="2220" dirty="0"/>
          </a:p>
          <a:p>
            <a:pPr lvl="3"/>
            <a:r>
              <a:rPr lang="en-US" altLang="zh-CN" dirty="0"/>
              <a:t>Seed2 mean ≈ 100*5.3302/15.19 ≈ 35.1 s</a:t>
            </a:r>
          </a:p>
          <a:p>
            <a:pPr lvl="3"/>
            <a:r>
              <a:rPr lang="en-US" altLang="zh-CN" dirty="0"/>
              <a:t>Seed6 mean ≈ 100*5.8029/10.19 ≈ 56.9 s</a:t>
            </a:r>
          </a:p>
          <a:p>
            <a:r>
              <a:rPr lang="zh-CN" altLang="en-US" sz="2000" dirty="0"/>
              <a:t>然而 </a:t>
            </a:r>
            <a:r>
              <a:rPr lang="en-US" altLang="zh-CN" sz="2000" dirty="0"/>
              <a:t>MAPE</a:t>
            </a:r>
            <a:r>
              <a:rPr lang="zh-CN" altLang="en-US" sz="2000" dirty="0"/>
              <a:t>（平均绝对百分比误差）很高（</a:t>
            </a:r>
            <a:r>
              <a:rPr lang="en-US" altLang="zh-CN" sz="2000" dirty="0"/>
              <a:t>23.7% / 34.2%</a:t>
            </a:r>
            <a:r>
              <a:rPr lang="zh-CN" altLang="en-US" sz="2000" dirty="0"/>
              <a:t>），说明按“每个样本的相对百分比误差”去平均时出现了很多非常大的百分比项。我认为在这里可能的原因有：</a:t>
            </a:r>
          </a:p>
          <a:p>
            <a:pPr lvl="1"/>
            <a:r>
              <a:rPr lang="zh-CN" altLang="en-US" sz="2000" dirty="0"/>
              <a:t>存在不少非常小的真实值 </a:t>
            </a:r>
            <a:r>
              <a:rPr lang="en-US" altLang="zh-CN" sz="2000" dirty="0"/>
              <a:t>y</a:t>
            </a:r>
            <a:r>
              <a:rPr lang="zh-CN" altLang="en-US" sz="2000" dirty="0"/>
              <a:t>（例如接近 </a:t>
            </a:r>
            <a:r>
              <a:rPr lang="en-US" altLang="zh-CN" sz="2000" dirty="0"/>
              <a:t>0</a:t>
            </a:r>
            <a:r>
              <a:rPr lang="zh-CN" altLang="en-US" sz="2000" dirty="0"/>
              <a:t>），使得 </a:t>
            </a:r>
            <a:r>
              <a:rPr lang="en-US" altLang="zh-CN" sz="2000" dirty="0"/>
              <a:t>|error|/y </a:t>
            </a:r>
            <a:r>
              <a:rPr lang="zh-CN" altLang="en-US" sz="2000" dirty="0"/>
              <a:t>非常大，从而把平均 </a:t>
            </a:r>
            <a:r>
              <a:rPr lang="en-US" altLang="zh-CN" sz="2000" dirty="0"/>
              <a:t>MAPE </a:t>
            </a:r>
            <a:r>
              <a:rPr lang="zh-CN" altLang="en-US" sz="2000" dirty="0"/>
              <a:t>拉高。</a:t>
            </a:r>
          </a:p>
          <a:p>
            <a:pPr lvl="1"/>
            <a:r>
              <a:rPr lang="zh-CN" altLang="en-US" sz="2000" dirty="0"/>
              <a:t>在小 </a:t>
            </a:r>
            <a:r>
              <a:rPr lang="en-US" altLang="zh-CN" sz="2000" dirty="0"/>
              <a:t>y </a:t>
            </a:r>
            <a:r>
              <a:rPr lang="zh-CN" altLang="en-US" sz="2000" dirty="0"/>
              <a:t>上模型相对表现差。</a:t>
            </a:r>
            <a:endParaRPr lang="en-US" altLang="zh-CN" sz="2000" dirty="0"/>
          </a:p>
          <a:p>
            <a:pPr lvl="1"/>
            <a:r>
              <a:rPr lang="zh-CN" altLang="en-US" sz="2000" dirty="0"/>
              <a:t>这也印证了数据小时查表的合理性。</a:t>
            </a:r>
            <a:endParaRPr lang="en-US" altLang="zh-CN" sz="2000" dirty="0"/>
          </a:p>
        </p:txBody>
      </p:sp>
      <p:sp>
        <p:nvSpPr>
          <p:cNvPr id="5" name="文本框 4"/>
          <p:cNvSpPr txBox="1"/>
          <p:nvPr/>
        </p:nvSpPr>
        <p:spPr>
          <a:xfrm>
            <a:off x="52" y="681838"/>
            <a:ext cx="1219321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>
                <a:latin typeface="Consolas" panose="020B0609020204030204" pitchFamily="49" charset="0"/>
              </a:rPr>
              <a:t>Seed 2: MAPE=0.2367 (</a:t>
            </a:r>
            <a:r>
              <a:rPr lang="zh-CN" altLang="en-US">
                <a:latin typeface="Consolas" panose="020B0609020204030204" pitchFamily="49" charset="0"/>
              </a:rPr>
              <a:t>差</a:t>
            </a:r>
            <a:r>
              <a:rPr lang="en-US" altLang="zh-CN">
                <a:latin typeface="Consolas" panose="020B0609020204030204" pitchFamily="49" charset="0"/>
              </a:rPr>
              <a:t>), R2=0.9937, RMSE=5.3302 (s), RMSE%_mean=15.19% (</a:t>
            </a:r>
            <a:r>
              <a:rPr lang="zh-CN" altLang="en-US">
                <a:latin typeface="Consolas" panose="020B0609020204030204" pitchFamily="49" charset="0"/>
              </a:rPr>
              <a:t>中等</a:t>
            </a:r>
            <a:r>
              <a:rPr lang="en-US" altLang="zh-CN">
                <a:latin typeface="Consolas" panose="020B0609020204030204" pitchFamily="49" charset="0"/>
              </a:rPr>
              <a:t>), RMSE%_range=2.19% (</a:t>
            </a:r>
            <a:r>
              <a:rPr lang="zh-CN" altLang="en-US">
                <a:latin typeface="Consolas" panose="020B0609020204030204" pitchFamily="49" charset="0"/>
              </a:rPr>
              <a:t>优秀</a:t>
            </a:r>
            <a:r>
              <a:rPr lang="en-US" altLang="zh-CN">
                <a:latin typeface="Consolas" panose="020B0609020204030204" pitchFamily="49" charset="0"/>
              </a:rPr>
              <a:t>), N=11</a:t>
            </a:r>
          </a:p>
          <a:p>
            <a:r>
              <a:rPr lang="en-US" altLang="zh-CN">
                <a:latin typeface="Consolas" panose="020B0609020204030204" pitchFamily="49" charset="0"/>
              </a:rPr>
              <a:t>Seed 6: MAPE=0.3420 (</a:t>
            </a:r>
            <a:r>
              <a:rPr lang="zh-CN" altLang="en-US">
                <a:latin typeface="Consolas" panose="020B0609020204030204" pitchFamily="49" charset="0"/>
              </a:rPr>
              <a:t>差</a:t>
            </a:r>
            <a:r>
              <a:rPr lang="en-US" altLang="zh-CN">
                <a:latin typeface="Consolas" panose="020B0609020204030204" pitchFamily="49" charset="0"/>
              </a:rPr>
              <a:t>), R2=0.9957, RMSE=5.8029 (s), RMSE%_mean=10.19% (</a:t>
            </a:r>
            <a:r>
              <a:rPr lang="zh-CN" altLang="en-US">
                <a:latin typeface="Consolas" panose="020B0609020204030204" pitchFamily="49" charset="0"/>
              </a:rPr>
              <a:t>中等</a:t>
            </a:r>
            <a:r>
              <a:rPr lang="en-US" altLang="zh-CN">
                <a:latin typeface="Consolas" panose="020B0609020204030204" pitchFamily="49" charset="0"/>
              </a:rPr>
              <a:t>), RMSE%_range=1.90% (</a:t>
            </a:r>
            <a:r>
              <a:rPr lang="zh-CN" altLang="en-US">
                <a:latin typeface="Consolas" panose="020B0609020204030204" pitchFamily="49" charset="0"/>
              </a:rPr>
              <a:t>优秀</a:t>
            </a:r>
            <a:r>
              <a:rPr lang="en-US" altLang="zh-CN">
                <a:latin typeface="Consolas" panose="020B0609020204030204" pitchFamily="49" charset="0"/>
              </a:rPr>
              <a:t>), N=11</a:t>
            </a:r>
          </a:p>
        </p:txBody>
      </p:sp>
      <p:sp>
        <p:nvSpPr>
          <p:cNvPr id="2" name="标题 1"/>
          <p:cNvSpPr txBox="1"/>
          <p:nvPr/>
        </p:nvSpPr>
        <p:spPr>
          <a:xfrm>
            <a:off x="123825" y="142875"/>
            <a:ext cx="4995545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/>
              <a:t>随机森林回归：</a:t>
            </a:r>
            <a:r>
              <a:rPr lang="en-US" altLang="zh-CN" sz="2800"/>
              <a:t>Seed</a:t>
            </a:r>
            <a:r>
              <a:rPr lang="zh-CN" altLang="en-US" sz="2800"/>
              <a:t>影响</a:t>
            </a:r>
          </a:p>
        </p:txBody>
      </p:sp>
    </p:spTree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idx="4294967295"/>
          </p:nvPr>
        </p:nvSpPr>
        <p:spPr>
          <a:xfrm>
            <a:off x="838200" y="658041"/>
            <a:ext cx="10515600" cy="595921"/>
          </a:xfrm>
        </p:spPr>
        <p:txBody>
          <a:bodyPr>
            <a:normAutofit/>
          </a:bodyPr>
          <a:lstStyle/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改进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2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：尝试修改训练集和测试集的划分，各项指标略有改善</a:t>
            </a:r>
            <a:endParaRPr lang="zh-CN" altLang="en-US" sz="2800"/>
          </a:p>
        </p:txBody>
      </p:sp>
      <p:sp>
        <p:nvSpPr>
          <p:cNvPr id="4" name="标题 1"/>
          <p:cNvSpPr txBox="1"/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5" name="标题 1"/>
          <p:cNvSpPr txBox="1"/>
          <p:nvPr/>
        </p:nvSpPr>
        <p:spPr>
          <a:xfrm>
            <a:off x="124098" y="143056"/>
            <a:ext cx="2434506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/>
              <a:t>随机森林回归</a:t>
            </a:r>
            <a:endParaRPr lang="zh-CN" altLang="en-US" sz="2800" dirty="0"/>
          </a:p>
        </p:txBody>
      </p:sp>
      <p:sp>
        <p:nvSpPr>
          <p:cNvPr id="3" name="文本框 2"/>
          <p:cNvSpPr txBox="1"/>
          <p:nvPr/>
        </p:nvSpPr>
        <p:spPr>
          <a:xfrm>
            <a:off x="1" y="1196812"/>
            <a:ext cx="12192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Predicting runtime for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Matrix_Multiply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 on Cortex-R5F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Method: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random_forest</a:t>
            </a:r>
            <a:endParaRPr lang="en-US" altLang="zh-CN" sz="1400" dirty="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1: MAPE=0.0703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R2=0.9955, RMSE=7.3870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=6.49%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=2.14%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N=33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2: MAPE=0.1688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R2=0.9972, RMSE=5.9634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=7.81%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=1.67%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N=33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6: MAPE=0.1663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R2=0.9964, RMSE=5.6810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=7.50%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=1.74%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N=33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42: MAPE=0.1120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R2=0.9977, RMSE=4.6514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=5.25%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=1.39%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N=33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123: MAPE=0.1848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R2=0.9968, RMSE=6.0358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=7.15%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=1.61%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N=33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2025: MAPE=0.0901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R2=0.9955, RMSE=6.0807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=8.27%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=1.62%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N=33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33550336: MAPE=0.0986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R2=0.9975, RMSE=5.0404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=5.91%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=1.46%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N=33</a:t>
            </a:r>
          </a:p>
          <a:p>
            <a:endParaRPr lang="en-US" altLang="zh-CN" sz="1400" dirty="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MAPE: 0.1273 ± 0.0452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R2:   0.9967 ± 0.0009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RMSE: 5.8342 ± 0.8739 (s)</a:t>
            </a:r>
          </a:p>
          <a:p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: 6.91% ± 1.08%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: 1.66% ± 0.24%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 dirty="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089407" y="1420165"/>
            <a:ext cx="505307" cy="291592"/>
          </a:xfrm>
          <a:prstGeom prst="rect">
            <a:avLst/>
          </a:prstGeom>
          <a:noFill/>
          <a:ln w="635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1" y="4736242"/>
            <a:ext cx="12191999" cy="212175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  <a:buFontTx/>
              <a:buChar char="•"/>
            </a:pPr>
            <a:r>
              <a:rPr lang="zh-CN" altLang="en-US" sz="2000" b="1" dirty="0">
                <a:solidFill>
                  <a:srgbClr val="00B0F0"/>
                </a:solidFill>
                <a:latin typeface="+mn-ea"/>
              </a:rPr>
              <a:t>从训练集</a:t>
            </a:r>
            <a:r>
              <a:rPr lang="en-US" altLang="zh-CN" sz="2000" b="1" dirty="0">
                <a:solidFill>
                  <a:srgbClr val="00B0F0"/>
                </a:solidFill>
                <a:latin typeface="+mn-ea"/>
              </a:rPr>
              <a:t>/</a:t>
            </a:r>
            <a:r>
              <a:rPr lang="zh-CN" altLang="en-US" sz="2000" b="1" dirty="0">
                <a:solidFill>
                  <a:srgbClr val="00B0F0"/>
                </a:solidFill>
                <a:latin typeface="+mn-ea"/>
              </a:rPr>
              <a:t>测试集按</a:t>
            </a:r>
            <a:r>
              <a:rPr lang="en-US" altLang="zh-CN" sz="2000" b="1" dirty="0">
                <a:solidFill>
                  <a:srgbClr val="00B0F0"/>
                </a:solidFill>
                <a:latin typeface="+mn-ea"/>
              </a:rPr>
              <a:t>90%/10%</a:t>
            </a:r>
            <a:r>
              <a:rPr lang="zh-CN" altLang="en-US" sz="2000" b="1" dirty="0">
                <a:solidFill>
                  <a:srgbClr val="00B0F0"/>
                </a:solidFill>
                <a:latin typeface="+mn-ea"/>
              </a:rPr>
              <a:t>划分改为</a:t>
            </a:r>
            <a:r>
              <a:rPr lang="en-US" altLang="zh-CN" sz="2000" b="1" dirty="0">
                <a:solidFill>
                  <a:srgbClr val="00B0F0"/>
                </a:solidFill>
                <a:latin typeface="+mn-ea"/>
              </a:rPr>
              <a:t>70%/30%</a:t>
            </a:r>
            <a:r>
              <a:rPr lang="zh-CN" altLang="en-US" sz="2000" b="1" dirty="0">
                <a:solidFill>
                  <a:srgbClr val="00B0F0"/>
                </a:solidFill>
                <a:latin typeface="+mn-ea"/>
              </a:rPr>
              <a:t>划分。</a:t>
            </a:r>
            <a:endParaRPr lang="en-US" altLang="zh-CN" sz="2000" b="1" dirty="0">
              <a:solidFill>
                <a:srgbClr val="00B0F0"/>
              </a:solidFill>
              <a:latin typeface="+mn-ea"/>
            </a:endParaRPr>
          </a:p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  <a:buFontTx/>
              <a:buChar char="•"/>
            </a:pPr>
            <a:r>
              <a:rPr lang="zh-CN" altLang="zh-CN" sz="2000" b="1" dirty="0">
                <a:solidFill>
                  <a:srgbClr val="00B0F0"/>
                </a:solidFill>
                <a:latin typeface="+mn-ea"/>
              </a:rPr>
              <a:t>70/30 提供更稳定、更低方差的测试误差估计，更容易发现模型的泛化问题（比如过拟合）。</a:t>
            </a:r>
          </a:p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  <a:buFontTx/>
              <a:buChar char="•"/>
            </a:pPr>
            <a:r>
              <a:rPr lang="zh-CN" altLang="zh-CN" sz="2000" b="1" dirty="0">
                <a:solidFill>
                  <a:srgbClr val="00B0F0"/>
                </a:solidFill>
                <a:latin typeface="+mn-ea"/>
              </a:rPr>
              <a:t>90/10 给训练更多数据，可能让模型在训练上表现更好，但测试集太小会导致评估结果高度不稳定（噪声大），容易被“幸运的划分”误导。</a:t>
            </a:r>
            <a:endParaRPr lang="en-US" altLang="zh-CN" sz="2000" b="1" dirty="0">
              <a:solidFill>
                <a:srgbClr val="00B0F0"/>
              </a:solidFill>
              <a:latin typeface="+mn-ea"/>
            </a:endParaRPr>
          </a:p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  <a:buFontTx/>
              <a:buChar char="•"/>
            </a:pPr>
            <a:r>
              <a:rPr lang="zh-CN" altLang="en-US" sz="2000" b="1" dirty="0">
                <a:solidFill>
                  <a:srgbClr val="00B0F0"/>
                </a:solidFill>
                <a:latin typeface="+mn-ea"/>
              </a:rPr>
              <a:t>数据量很大（几千）时可以用</a:t>
            </a:r>
            <a:r>
              <a:rPr lang="en-US" altLang="zh-CN" sz="2000" b="1" dirty="0">
                <a:solidFill>
                  <a:srgbClr val="00B0F0"/>
                </a:solidFill>
                <a:latin typeface="+mn-ea"/>
              </a:rPr>
              <a:t>90%/10%</a:t>
            </a:r>
            <a:r>
              <a:rPr lang="zh-CN" altLang="en-US" sz="2000" b="1" dirty="0">
                <a:solidFill>
                  <a:srgbClr val="00B0F0"/>
                </a:solidFill>
                <a:latin typeface="+mn-ea"/>
              </a:rPr>
              <a:t>，因为此时测试集依然很大。</a:t>
            </a:r>
            <a:endParaRPr lang="en-US" altLang="zh-CN" sz="2000" b="1" dirty="0">
              <a:solidFill>
                <a:srgbClr val="00B0F0"/>
              </a:solidFill>
              <a:latin typeface="+mn-ea"/>
            </a:endParaRPr>
          </a:p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  <a:buFontTx/>
              <a:buChar char="•"/>
            </a:pPr>
            <a:r>
              <a:rPr lang="zh-CN" altLang="en-US" sz="2000" b="1" dirty="0">
                <a:solidFill>
                  <a:srgbClr val="00B0F0"/>
                </a:solidFill>
                <a:latin typeface="+mn-ea"/>
              </a:rPr>
              <a:t>此外还可以准备额外的独立测试集，或者使用交叉验证。</a:t>
            </a:r>
          </a:p>
        </p:txBody>
      </p:sp>
    </p:spTree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idx="4294967295"/>
          </p:nvPr>
        </p:nvSpPr>
        <p:spPr>
          <a:xfrm>
            <a:off x="124097" y="143056"/>
            <a:ext cx="6651171" cy="457835"/>
          </a:xfrm>
        </p:spPr>
        <p:txBody>
          <a:bodyPr>
            <a:normAutofit fontScale="90000"/>
          </a:bodyPr>
          <a:lstStyle/>
          <a:p>
            <a:r>
              <a:rPr lang="zh-CN" altLang="en-US" sz="2800" dirty="0"/>
              <a:t>随机森林回归</a:t>
            </a: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24097" y="791391"/>
            <a:ext cx="3912325" cy="2934244"/>
          </a:xfrm>
          <a:prstGeom prst="rect">
            <a:avLst/>
          </a:prstGeom>
        </p:spPr>
      </p:pic>
      <p:sp>
        <p:nvSpPr>
          <p:cNvPr id="8" name="标题 1"/>
          <p:cNvSpPr txBox="1"/>
          <p:nvPr/>
        </p:nvSpPr>
        <p:spPr>
          <a:xfrm>
            <a:off x="4036422" y="7893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 model = RandomForestRegressor(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n_estimators</a:t>
            </a:r>
            <a:r>
              <a:rPr lang="en-US" altLang="zh-CN" sz="1000" dirty="0">
                <a:latin typeface="Consolas" panose="020B0609020204030204" pitchFamily="49" charset="0"/>
              </a:rPr>
              <a:t>=200,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random_state</a:t>
            </a:r>
            <a:r>
              <a:rPr lang="en-US" altLang="zh-CN" sz="1000" dirty="0">
                <a:latin typeface="Consolas" panose="020B0609020204030204" pitchFamily="49" charset="0"/>
              </a:rPr>
              <a:t>=2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)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2.0482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0.9985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7.1898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24097" y="3654794"/>
            <a:ext cx="3912325" cy="2934243"/>
          </a:xfrm>
          <a:prstGeom prst="rect">
            <a:avLst/>
          </a:prstGeom>
        </p:spPr>
      </p:pic>
      <p:sp>
        <p:nvSpPr>
          <p:cNvPr id="7" name="标题 1"/>
          <p:cNvSpPr txBox="1"/>
          <p:nvPr/>
        </p:nvSpPr>
        <p:spPr>
          <a:xfrm>
            <a:off x="4036422" y="3727668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 model = RandomForestRegressor(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n_estimators</a:t>
            </a:r>
            <a:r>
              <a:rPr lang="en-US" altLang="zh-CN" sz="1000" dirty="0">
                <a:latin typeface="Consolas" panose="020B0609020204030204" pitchFamily="49" charset="0"/>
              </a:rPr>
              <a:t>=2,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random_state</a:t>
            </a:r>
            <a:r>
              <a:rPr lang="en-US" altLang="zh-CN" sz="1000" dirty="0">
                <a:latin typeface="Consolas" panose="020B0609020204030204" pitchFamily="49" charset="0"/>
              </a:rPr>
              <a:t>=2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)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1.8589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0.9987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6.6951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sp>
        <p:nvSpPr>
          <p:cNvPr id="4" name="标题 1"/>
          <p:cNvSpPr txBox="1"/>
          <p:nvPr/>
        </p:nvSpPr>
        <p:spPr>
          <a:xfrm>
            <a:off x="9572898" y="143056"/>
            <a:ext cx="2434506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>
                <a:solidFill>
                  <a:srgbClr val="00B050"/>
                </a:solidFill>
              </a:rPr>
              <a:t>相对较好</a:t>
            </a:r>
            <a:endParaRPr lang="zh-CN" altLang="en-US" sz="2800" dirty="0">
              <a:solidFill>
                <a:srgbClr val="00B050"/>
              </a:solidFill>
            </a:endParaRPr>
          </a:p>
        </p:txBody>
      </p:sp>
    </p:spTree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/>
          <p:cNvSpPr txBox="1"/>
          <p:nvPr/>
        </p:nvSpPr>
        <p:spPr>
          <a:xfrm>
            <a:off x="1" y="1196812"/>
            <a:ext cx="12192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KF on Cortex-R5F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1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random_forest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1: MAPE=0.0746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R2=0.9932, RMSE=18.5183 (s), RMSE%_mean=8.24%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RMSE%_range=2.47%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2: MAPE=0.1277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R2=0.9954, RMSE=14.4128 (s), RMSE%_mean=8.03%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RMSE%_range=1.92%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6: MAPE=0.1071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R2=0.9961, RMSE=13.2809 (s), RMSE%_mean=6.88%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RMSE%_range=1.92%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42: MAPE=0.0850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R2=0.9976, RMSE=9.2902 (s), RMSE%_mean=5.51%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RMSE%_range=1.35%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123: MAPE=0.0783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R2=0.9944, RMSE=15.2321 (s), RMSE%_mean=6.56%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RMSE%_range=2.28%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2025: MAPE=0.1729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R2=0.9957, RMSE=14.9215 (s), RMSE%_mean=6.74%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RMSE%_range=1.99%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33550336: MAPE=0.1214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R2=0.9913, RMSE=22.4851 (s), RMSE%_mean=10.61%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RMSE%_range=3.00%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0.1096 ± 0.0348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0.9948 ± 0.0021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15.4487 ± 4.1424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7.51% ± 1.65%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2.14% ± 0.52%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idx="4294967295"/>
          </p:nvPr>
        </p:nvSpPr>
        <p:spPr>
          <a:xfrm>
            <a:off x="838200" y="648516"/>
            <a:ext cx="10515600" cy="595921"/>
          </a:xfrm>
        </p:spPr>
        <p:txBody>
          <a:bodyPr>
            <a:normAutofit/>
          </a:bodyPr>
          <a:lstStyle/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综合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1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、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2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点，测试运行时间大于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1s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的数据</a:t>
            </a:r>
            <a:endParaRPr lang="zh-CN" altLang="en-US" sz="2800"/>
          </a:p>
        </p:txBody>
      </p:sp>
      <p:sp>
        <p:nvSpPr>
          <p:cNvPr id="4" name="标题 1"/>
          <p:cNvSpPr txBox="1"/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5" name="标题 1"/>
          <p:cNvSpPr txBox="1"/>
          <p:nvPr/>
        </p:nvSpPr>
        <p:spPr>
          <a:xfrm>
            <a:off x="124098" y="143056"/>
            <a:ext cx="2434506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/>
              <a:t>随机森林回归</a:t>
            </a:r>
            <a:endParaRPr lang="zh-CN" altLang="en-US" sz="2800" dirty="0"/>
          </a:p>
        </p:txBody>
      </p:sp>
    </p:spTree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idx="4294967295"/>
          </p:nvPr>
        </p:nvSpPr>
        <p:spPr>
          <a:xfrm>
            <a:off x="124097" y="143056"/>
            <a:ext cx="6651171" cy="457835"/>
          </a:xfrm>
        </p:spPr>
        <p:txBody>
          <a:bodyPr>
            <a:normAutofit fontScale="90000"/>
          </a:bodyPr>
          <a:lstStyle/>
          <a:p>
            <a:r>
              <a:rPr lang="zh-CN" altLang="en-US" sz="2800" dirty="0"/>
              <a:t>随机森林回归</a:t>
            </a: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23825" y="774065"/>
            <a:ext cx="3710940" cy="2655570"/>
          </a:xfrm>
          <a:prstGeom prst="rect">
            <a:avLst/>
          </a:prstGeom>
        </p:spPr>
      </p:pic>
      <p:sp>
        <p:nvSpPr>
          <p:cNvPr id="8" name="标题 1"/>
          <p:cNvSpPr txBox="1"/>
          <p:nvPr/>
        </p:nvSpPr>
        <p:spPr>
          <a:xfrm>
            <a:off x="3583305" y="774065"/>
            <a:ext cx="2513330" cy="246507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 model = RandomForestRegressor(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n_estimators</a:t>
            </a:r>
            <a:r>
              <a:rPr lang="en-US" altLang="zh-CN" sz="1000" dirty="0">
                <a:latin typeface="Consolas" panose="020B0609020204030204" pitchFamily="49" charset="0"/>
              </a:rPr>
              <a:t>=100,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random_state</a:t>
            </a:r>
            <a:r>
              <a:rPr lang="en-US" altLang="zh-CN" sz="1000" dirty="0">
                <a:latin typeface="Consolas" panose="020B0609020204030204" pitchFamily="49" charset="0"/>
              </a:rPr>
              <a:t>=2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)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0.1769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0.5288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236.0175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965825" y="672465"/>
            <a:ext cx="3469005" cy="2757170"/>
          </a:xfrm>
          <a:prstGeom prst="rect">
            <a:avLst/>
          </a:prstGeom>
        </p:spPr>
      </p:pic>
      <p:sp>
        <p:nvSpPr>
          <p:cNvPr id="7" name="标题 1"/>
          <p:cNvSpPr txBox="1"/>
          <p:nvPr/>
        </p:nvSpPr>
        <p:spPr>
          <a:xfrm>
            <a:off x="9443447" y="774283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Best params (</a:t>
            </a:r>
            <a:r>
              <a:rPr lang="en-US" altLang="zh-CN" sz="1000" dirty="0" err="1">
                <a:latin typeface="Consolas" panose="020B0609020204030204" pitchFamily="49" charset="0"/>
              </a:rPr>
              <a:t>random_forest_tuned</a:t>
            </a:r>
            <a:r>
              <a:rPr lang="en-US" altLang="zh-CN" sz="1000" dirty="0">
                <a:latin typeface="Consolas" panose="020B0609020204030204" pitchFamily="49" charset="0"/>
              </a:rPr>
              <a:t>, FFT): {'bootstrap': False, '</a:t>
            </a:r>
            <a:r>
              <a:rPr lang="en-US" altLang="zh-CN" sz="1000" dirty="0" err="1">
                <a:latin typeface="Consolas" panose="020B0609020204030204" pitchFamily="49" charset="0"/>
              </a:rPr>
              <a:t>max_depth</a:t>
            </a:r>
            <a:r>
              <a:rPr lang="en-US" altLang="zh-CN" sz="1000" dirty="0">
                <a:latin typeface="Consolas" panose="020B0609020204030204" pitchFamily="49" charset="0"/>
              </a:rPr>
              <a:t>': 13, '</a:t>
            </a:r>
            <a:r>
              <a:rPr lang="en-US" altLang="zh-CN" sz="1000" dirty="0" err="1">
                <a:latin typeface="Consolas" panose="020B0609020204030204" pitchFamily="49" charset="0"/>
              </a:rPr>
              <a:t>max_features</a:t>
            </a:r>
            <a:r>
              <a:rPr lang="en-US" altLang="zh-CN" sz="1000" dirty="0">
                <a:latin typeface="Consolas" panose="020B0609020204030204" pitchFamily="49" charset="0"/>
              </a:rPr>
              <a:t>': 'log2', '</a:t>
            </a:r>
            <a:r>
              <a:rPr lang="en-US" altLang="zh-CN" sz="1000" dirty="0" err="1">
                <a:latin typeface="Consolas" panose="020B0609020204030204" pitchFamily="49" charset="0"/>
              </a:rPr>
              <a:t>min_samples_leaf</a:t>
            </a:r>
            <a:r>
              <a:rPr lang="en-US" altLang="zh-CN" sz="1000" dirty="0">
                <a:latin typeface="Consolas" panose="020B0609020204030204" pitchFamily="49" charset="0"/>
              </a:rPr>
              <a:t>': 3, '</a:t>
            </a:r>
            <a:r>
              <a:rPr lang="en-US" altLang="zh-CN" sz="1000" dirty="0" err="1">
                <a:latin typeface="Consolas" panose="020B0609020204030204" pitchFamily="49" charset="0"/>
              </a:rPr>
              <a:t>min_samples_split</a:t>
            </a:r>
            <a:r>
              <a:rPr lang="en-US" altLang="zh-CN" sz="1000" dirty="0">
                <a:latin typeface="Consolas" panose="020B0609020204030204" pitchFamily="49" charset="0"/>
              </a:rPr>
              <a:t>': 7, '</a:t>
            </a:r>
            <a:r>
              <a:rPr lang="en-US" altLang="zh-CN" sz="1000" dirty="0" err="1">
                <a:latin typeface="Consolas" panose="020B0609020204030204" pitchFamily="49" charset="0"/>
              </a:rPr>
              <a:t>n_estimators</a:t>
            </a:r>
            <a:r>
              <a:rPr lang="en-US" altLang="zh-CN" sz="1000" dirty="0">
                <a:latin typeface="Consolas" panose="020B0609020204030204" pitchFamily="49" charset="0"/>
              </a:rPr>
              <a:t>': 284}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0.5116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0.3419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278.9316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sp>
        <p:nvSpPr>
          <p:cNvPr id="3" name="标题 1"/>
          <p:cNvSpPr>
            <a:spLocks noGrp="1"/>
          </p:cNvSpPr>
          <p:nvPr/>
        </p:nvSpPr>
        <p:spPr>
          <a:xfrm>
            <a:off x="3374390" y="142875"/>
            <a:ext cx="3401060" cy="408940"/>
          </a:xfrm>
        </p:spPr>
        <p:txBody>
          <a:bodyPr>
            <a:normAutofit fontScale="8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rgbClr val="0070C0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800" b="1">
                <a:solidFill>
                  <a:srgbClr val="FF0000"/>
                </a:solidFill>
                <a:latin typeface="+mn-ea"/>
              </a:rPr>
              <a:t>FFT</a:t>
            </a:r>
            <a:r>
              <a:rPr lang="zh-CN" altLang="en-US" sz="2800" b="1">
                <a:solidFill>
                  <a:srgbClr val="FF0000"/>
                </a:solidFill>
                <a:latin typeface="+mn-ea"/>
              </a:rPr>
              <a:t>表现依然很差</a:t>
            </a:r>
            <a:endParaRPr lang="zh-CN" altLang="en-US" sz="2800">
              <a:solidFill>
                <a:srgbClr val="FF0000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433705" y="3602990"/>
            <a:ext cx="10783570" cy="289877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Predicting runtime for FFT on Cortex-R5F</a:t>
            </a:r>
          </a:p>
          <a:p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Test size: 0.3, Lower bound: -1.0</a:t>
            </a:r>
          </a:p>
          <a:p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Method: random_forest</a:t>
            </a:r>
          </a:p>
          <a:p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Seed 1: MAPE=0.3518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R2=0.0194, RMSE=234.8103 (s), RMSE%_mean=216.62%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RMSE%_range=27.32%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N=14</a:t>
            </a:r>
          </a:p>
          <a:p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Seed 2: MAPE=0.4503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R2=0.5912, RMSE=141.3403 (s), RMSE%_mean=225.68%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RMSE%_range=16.44%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N=14</a:t>
            </a:r>
          </a:p>
          <a:p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Seed 6: MAPE=0.2569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R2=0.5849, RMSE=142.2317 (s), RMSE%_mean=219.72%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RMSE%_range=16.55%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N=14</a:t>
            </a:r>
          </a:p>
          <a:p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Seed 42: MAPE=0.2629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R2=0.5649, RMSE=7.7358 (s), RMSE%_mean=236.38%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RMSE%_range=16.98%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N=14</a:t>
            </a:r>
          </a:p>
          <a:p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Seed 123: MAPE=0.3722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R2=0.5932, RMSE=3.5653 (s), RMSE%_mean=219.74%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RMSE%_range=16.38%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N=14</a:t>
            </a:r>
          </a:p>
          <a:p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Seed 2025: MAPE=0.2233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R2=0.5940, RMSE=0.3835 (s), RMSE%_mean=227.97%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RMSE%_range=16.40%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N=14</a:t>
            </a:r>
          </a:p>
          <a:p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Seed 33550336: MAPE=0.3418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R2=0.5648, RMSE=145.7026 (s), RMSE%_mean=213.62%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RMSE%_range=16.95%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N=14</a:t>
            </a:r>
          </a:p>
          <a:p>
            <a:endParaRPr lang="en-US" altLang="zh-CN" sz="12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MAPE: 0.3227 ± 0.0793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R2:   0.5018 ± 0.2131</a:t>
            </a:r>
          </a:p>
          <a:p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RMSE: 96.5385 ± 92.5626 (s)</a:t>
            </a:r>
          </a:p>
          <a:p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RMSE%_mean: 222.82% ± 7.75%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RMSE%_range: 18.14% ± 4.05%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2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9434830" y="3009265"/>
            <a:ext cx="2333625" cy="22987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 anchor="t">
            <a:spAutoFit/>
          </a:bodyPr>
          <a:lstStyle/>
          <a:p>
            <a:r>
              <a:rPr lang="zh-CN" altLang="en-US" sz="900" dirty="0">
                <a:sym typeface="+mn-ea"/>
              </a:rPr>
              <a:t>引入</a:t>
            </a:r>
            <a:r>
              <a:rPr lang="en-US" altLang="zh-CN" sz="900" dirty="0" err="1">
                <a:sym typeface="+mn-ea"/>
              </a:rPr>
              <a:t>RandomizedSearchCV</a:t>
            </a:r>
            <a:r>
              <a:rPr lang="zh-CN" altLang="en-US" sz="900" dirty="0">
                <a:sym typeface="+mn-ea"/>
              </a:rPr>
              <a:t>自动搜索参数</a:t>
            </a:r>
          </a:p>
        </p:txBody>
      </p:sp>
      <p:sp>
        <p:nvSpPr>
          <p:cNvPr id="13" name="文本框 12"/>
          <p:cNvSpPr txBox="1"/>
          <p:nvPr/>
        </p:nvSpPr>
        <p:spPr>
          <a:xfrm>
            <a:off x="4141470" y="2779395"/>
            <a:ext cx="810895" cy="22987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 anchor="t">
            <a:spAutoFit/>
          </a:bodyPr>
          <a:lstStyle/>
          <a:p>
            <a:r>
              <a:rPr lang="zh-CN" altLang="en-US" sz="900" dirty="0">
                <a:sym typeface="+mn-ea"/>
              </a:rPr>
              <a:t>手动调参</a:t>
            </a:r>
          </a:p>
        </p:txBody>
      </p:sp>
    </p:spTree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idx="4294967295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zh-CN" altLang="en-US" sz="2800" dirty="0"/>
              <a:t>支持向量回归</a:t>
            </a:r>
            <a:r>
              <a:rPr lang="en-US" altLang="zh-CN" sz="2800" dirty="0"/>
              <a:t>  Matrix_Multiply  </a:t>
            </a: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23825" y="695960"/>
            <a:ext cx="3665220" cy="2343150"/>
          </a:xfrm>
          <a:prstGeom prst="rect">
            <a:avLst/>
          </a:prstGeom>
        </p:spPr>
      </p:pic>
      <p:sp>
        <p:nvSpPr>
          <p:cNvPr id="8" name="标题 1"/>
          <p:cNvSpPr txBox="1"/>
          <p:nvPr/>
        </p:nvSpPr>
        <p:spPr>
          <a:xfrm>
            <a:off x="3651885" y="774065"/>
            <a:ext cx="2738755" cy="22650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    model = SVR(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kernel='</a:t>
            </a:r>
            <a:r>
              <a:rPr lang="en-US" altLang="zh-CN" sz="1000" dirty="0" err="1">
                <a:latin typeface="Consolas" panose="020B0609020204030204" pitchFamily="49" charset="0"/>
              </a:rPr>
              <a:t>rbf</a:t>
            </a:r>
            <a:r>
              <a:rPr lang="en-US" altLang="zh-CN" sz="1000" dirty="0">
                <a:latin typeface="Consolas" panose="020B0609020204030204" pitchFamily="49" charset="0"/>
              </a:rPr>
              <a:t>',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C=1000,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epsilon=0.5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)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3784.3033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0.9996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1.8431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888355" y="695960"/>
            <a:ext cx="3560445" cy="2343150"/>
          </a:xfrm>
          <a:prstGeom prst="rect">
            <a:avLst/>
          </a:prstGeom>
        </p:spPr>
      </p:pic>
      <p:sp>
        <p:nvSpPr>
          <p:cNvPr id="4" name="标题 1"/>
          <p:cNvSpPr txBox="1"/>
          <p:nvPr/>
        </p:nvSpPr>
        <p:spPr>
          <a:xfrm>
            <a:off x="9295765" y="851535"/>
            <a:ext cx="2738755" cy="218757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Best params (</a:t>
            </a:r>
            <a:r>
              <a:rPr lang="en-US" altLang="zh-CN" sz="1000" dirty="0" err="1">
                <a:latin typeface="Consolas" panose="020B0609020204030204" pitchFamily="49" charset="0"/>
              </a:rPr>
              <a:t>svr_tuned</a:t>
            </a:r>
            <a:r>
              <a:rPr lang="en-US" altLang="zh-CN" sz="1000" dirty="0">
                <a:latin typeface="Consolas" panose="020B0609020204030204" pitchFamily="49" charset="0"/>
              </a:rPr>
              <a:t>): {'C': 6878.031163887243, 'degree': 4, 'epsilon': 0.38179294084056103, 'gamma': 5.46030627903238, 'kernel': '</a:t>
            </a:r>
            <a:r>
              <a:rPr lang="en-US" altLang="zh-CN" sz="1000" dirty="0" err="1">
                <a:latin typeface="Consolas" panose="020B0609020204030204" pitchFamily="49" charset="0"/>
              </a:rPr>
              <a:t>rbf</a:t>
            </a:r>
            <a:r>
              <a:rPr lang="en-US" altLang="zh-CN" sz="1000" dirty="0">
                <a:latin typeface="Consolas" panose="020B0609020204030204" pitchFamily="49" charset="0"/>
              </a:rPr>
              <a:t>’}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2892.1275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0.9996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1.7198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276225" y="3188335"/>
            <a:ext cx="11339830" cy="9677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/>
              <a:t>效果很差，如上。</a:t>
            </a:r>
          </a:p>
          <a:p>
            <a:r>
              <a:rPr lang="zh-CN" altLang="en-US" b="1">
                <a:solidFill>
                  <a:srgbClr val="00B0F0"/>
                </a:solidFill>
                <a:latin typeface="+mn-ea"/>
                <a:sym typeface="+mn-ea"/>
              </a:rPr>
              <a:t>剔除运行时间不大于</a:t>
            </a:r>
            <a:r>
              <a:rPr lang="en-US" altLang="zh-CN" b="1">
                <a:solidFill>
                  <a:srgbClr val="00B0F0"/>
                </a:solidFill>
                <a:latin typeface="+mn-ea"/>
                <a:sym typeface="+mn-ea"/>
              </a:rPr>
              <a:t>1</a:t>
            </a:r>
            <a:r>
              <a:rPr lang="zh-CN" altLang="en-US" b="1">
                <a:solidFill>
                  <a:srgbClr val="00B0F0"/>
                </a:solidFill>
                <a:latin typeface="+mn-ea"/>
                <a:sym typeface="+mn-ea"/>
              </a:rPr>
              <a:t>秒的样本数据后，表现良好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16" name="文本框 15"/>
          <p:cNvSpPr txBox="1"/>
          <p:nvPr/>
        </p:nvSpPr>
        <p:spPr>
          <a:xfrm>
            <a:off x="344805" y="3845560"/>
            <a:ext cx="11522710" cy="231965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Predicting runtime for Matrix_Multiply on Cortex-R5F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Test size: 0.3, Lower bound: 1.0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Method: svr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1: MAPE=0.0453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R2=0.9981, RMSE=4.2580 (s), RMSE%_mean=3.98%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RMSE%_range=1.14%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2: MAPE=0.1300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R2=0.9974, RMSE=6.0052 (s), RMSE%_mean=6.21%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RMSE%_range=1.61%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6: MAPE=0.0947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R2=0.9994, RMSE=2.1946 (s), RMSE%_mean=2.62%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RMSE%_range=0.62%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42: MAPE=0.0868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R2=0.9968, RMSE=5.6407 (s), RMSE%_mean=6.22%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RMSE%_range=1.69%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123: MAPE=0.0359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R2=0.9994, RMSE=2.7768 (s), RMSE%_mean=2.26%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RMSE%_range=0.81%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2025: MAPE=0.0959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R2=0.9997, RMSE=1.9306 (s), RMSE%_mean=1.79%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RMSE%_range=0.58%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33550336: MAPE=0.1213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R2=0.9988, RMSE=3.5958 (s), RMSE%_mean=3.90%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RMSE%_range=0.96%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N=27       </a:t>
            </a:r>
          </a:p>
          <a:p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MAPE: 0.0871 ± 0.0354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R2:   0.9985 ± 0.0011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RMSE: 3.7717 ± 1.6133 (s)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RMSE%_mean: 3.85% ± 1.80%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RMSE%_range: 1.06% ± 0.45%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0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492885" y="4042410"/>
            <a:ext cx="1864360" cy="2000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9448800" y="2809240"/>
            <a:ext cx="2333625" cy="22987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 anchor="t">
            <a:spAutoFit/>
          </a:bodyPr>
          <a:lstStyle/>
          <a:p>
            <a:r>
              <a:rPr lang="zh-CN" altLang="en-US" sz="900" dirty="0">
                <a:sym typeface="+mn-ea"/>
              </a:rPr>
              <a:t>引入</a:t>
            </a:r>
            <a:r>
              <a:rPr lang="en-US" altLang="zh-CN" sz="900" dirty="0" err="1">
                <a:sym typeface="+mn-ea"/>
              </a:rPr>
              <a:t>RandomizedSearchCV</a:t>
            </a:r>
            <a:r>
              <a:rPr lang="zh-CN" altLang="en-US" sz="900" dirty="0">
                <a:sym typeface="+mn-ea"/>
              </a:rPr>
              <a:t>自动搜索参数</a:t>
            </a:r>
          </a:p>
        </p:txBody>
      </p:sp>
      <p:sp>
        <p:nvSpPr>
          <p:cNvPr id="13" name="文本框 12"/>
          <p:cNvSpPr txBox="1"/>
          <p:nvPr/>
        </p:nvSpPr>
        <p:spPr>
          <a:xfrm>
            <a:off x="4076700" y="2726055"/>
            <a:ext cx="810895" cy="22987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 anchor="t">
            <a:spAutoFit/>
          </a:bodyPr>
          <a:lstStyle/>
          <a:p>
            <a:r>
              <a:rPr lang="zh-CN" altLang="en-US" sz="900" dirty="0">
                <a:sym typeface="+mn-ea"/>
              </a:rPr>
              <a:t>手动调参</a:t>
            </a:r>
          </a:p>
        </p:txBody>
      </p:sp>
    </p:spTree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idx="4294967295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zh-CN" altLang="en-US" sz="2800" dirty="0"/>
              <a:t>支持向量回归</a:t>
            </a:r>
            <a:r>
              <a:rPr lang="en-US" altLang="zh-CN" sz="2800" dirty="0"/>
              <a:t>  KF</a:t>
            </a: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32765" y="762000"/>
            <a:ext cx="3503295" cy="2363470"/>
          </a:xfrm>
          <a:prstGeom prst="rect">
            <a:avLst/>
          </a:prstGeom>
        </p:spPr>
      </p:pic>
      <p:sp>
        <p:nvSpPr>
          <p:cNvPr id="8" name="标题 1"/>
          <p:cNvSpPr txBox="1"/>
          <p:nvPr/>
        </p:nvSpPr>
        <p:spPr>
          <a:xfrm>
            <a:off x="3884295" y="762635"/>
            <a:ext cx="2738755" cy="243078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    model = SVR(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kernel='</a:t>
            </a:r>
            <a:r>
              <a:rPr lang="en-US" altLang="zh-CN" sz="1000" dirty="0" err="1">
                <a:latin typeface="Consolas" panose="020B0609020204030204" pitchFamily="49" charset="0"/>
              </a:rPr>
              <a:t>rbf</a:t>
            </a:r>
            <a:r>
              <a:rPr lang="en-US" altLang="zh-CN" sz="1000" dirty="0">
                <a:latin typeface="Consolas" panose="020B0609020204030204" pitchFamily="49" charset="0"/>
              </a:rPr>
              <a:t>',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C=1000,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epsilon=0.5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)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1357.1281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0.9997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3.3460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315075" y="762000"/>
            <a:ext cx="3189605" cy="2392680"/>
          </a:xfrm>
          <a:prstGeom prst="rect">
            <a:avLst/>
          </a:prstGeom>
        </p:spPr>
      </p:pic>
      <p:sp>
        <p:nvSpPr>
          <p:cNvPr id="4" name="标题 1"/>
          <p:cNvSpPr txBox="1"/>
          <p:nvPr/>
        </p:nvSpPr>
        <p:spPr>
          <a:xfrm>
            <a:off x="9733280" y="762635"/>
            <a:ext cx="2320290" cy="230187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Best params (</a:t>
            </a:r>
            <a:r>
              <a:rPr lang="en-US" altLang="zh-CN" sz="1000" dirty="0" err="1">
                <a:latin typeface="Consolas" panose="020B0609020204030204" pitchFamily="49" charset="0"/>
              </a:rPr>
              <a:t>svr_tuned</a:t>
            </a:r>
            <a:r>
              <a:rPr lang="en-US" altLang="zh-CN" sz="1000" dirty="0">
                <a:latin typeface="Consolas" panose="020B0609020204030204" pitchFamily="49" charset="0"/>
              </a:rPr>
              <a:t>): {'C': 6878.031163887243, 'degree': 4, 'epsilon': 0.38179294084056103, 'gamma': 5.46030627903238, 'kernel': '</a:t>
            </a:r>
            <a:r>
              <a:rPr lang="en-US" altLang="zh-CN" sz="1000" dirty="0" err="1">
                <a:latin typeface="Consolas" panose="020B0609020204030204" pitchFamily="49" charset="0"/>
              </a:rPr>
              <a:t>rbf</a:t>
            </a:r>
            <a:r>
              <a:rPr lang="en-US" altLang="zh-CN" sz="1000" dirty="0">
                <a:latin typeface="Consolas" panose="020B0609020204030204" pitchFamily="49" charset="0"/>
              </a:rPr>
              <a:t>’}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1335.9732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0.9994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4.5853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532765" y="3286760"/>
            <a:ext cx="9992995" cy="78295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/>
              <a:t>效果不好，如上。</a:t>
            </a:r>
          </a:p>
          <a:p>
            <a:r>
              <a:rPr lang="zh-CN" altLang="en-US" b="1">
                <a:solidFill>
                  <a:srgbClr val="00B0F0"/>
                </a:solidFill>
                <a:latin typeface="+mn-ea"/>
                <a:sym typeface="+mn-ea"/>
              </a:rPr>
              <a:t>剔除运行时间不大于</a:t>
            </a:r>
            <a:r>
              <a:rPr lang="en-US" altLang="zh-CN" b="1">
                <a:solidFill>
                  <a:srgbClr val="00B0F0"/>
                </a:solidFill>
                <a:latin typeface="+mn-ea"/>
                <a:sym typeface="+mn-ea"/>
              </a:rPr>
              <a:t>1</a:t>
            </a:r>
            <a:r>
              <a:rPr lang="zh-CN" altLang="en-US" b="1">
                <a:solidFill>
                  <a:srgbClr val="00B0F0"/>
                </a:solidFill>
                <a:latin typeface="+mn-ea"/>
                <a:sym typeface="+mn-ea"/>
              </a:rPr>
              <a:t>秒的样本数据后，表现良好</a:t>
            </a:r>
            <a:endParaRPr lang="en-US" altLang="zh-CN" dirty="0"/>
          </a:p>
          <a:p>
            <a:endParaRPr lang="zh-CN" altLang="en-US" dirty="0"/>
          </a:p>
          <a:p>
            <a:endParaRPr lang="zh-CN" altLang="en-US" dirty="0"/>
          </a:p>
        </p:txBody>
      </p:sp>
      <p:sp>
        <p:nvSpPr>
          <p:cNvPr id="16" name="文本框 15"/>
          <p:cNvSpPr txBox="1"/>
          <p:nvPr/>
        </p:nvSpPr>
        <p:spPr>
          <a:xfrm>
            <a:off x="342265" y="3981450"/>
            <a:ext cx="10383520" cy="2844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Predicting runtime for KF on Cortex-R5F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Test size: 0.3, Lower bound: 1.0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Method: svr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1: MAPE=0.0345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R2=0.9981, RMSE=9.7083 (s), RMSE%_mean=4.32%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RMSE%_range=1.30%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2: MAPE=0.1405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R2=0.9964, RMSE=12.7481 (s), RMSE%_mean=7.11%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RMSE%_range=1.70%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6: MAPE=0.1054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R2=0.9988, RMSE=7.2954 (s), RMSE%_mean=3.78%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RMSE%_range=1.06%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42: MAPE=0.0754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R2=0.9998, RMSE=2.6088 (s), RMSE%_mean=1.55%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RMSE%_range=0.38%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123: MAPE=0.0448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R2=0.9971, RMSE=11.0453 (s), RMSE%_mean=4.76%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RMSE%_range=1.66%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2025: MAPE=0.3072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R2=0.9991, RMSE=6.6797 (s), RMSE%_mean=3.02%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RMSE%_range=0.89%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33550336: MAPE=0.0918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R2=0.9977, RMSE=11.6779 (s), RMSE%_mean=5.51%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RMSE%_range=1.56%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N=28      </a:t>
            </a:r>
          </a:p>
          <a:p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MAPE: 0.1142 ± 0.0924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R2:   0.9982 ± 0.0012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RMSE: 8.8234 ± 3.5314 (s)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RMSE%_mean: 4.29% ± 1.78%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RMSE%_range: 1.22% ± 0.48%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0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513205" y="4163060"/>
            <a:ext cx="1864360" cy="25717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9590405" y="2755900"/>
            <a:ext cx="2333625" cy="22987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 anchor="t">
            <a:spAutoFit/>
          </a:bodyPr>
          <a:lstStyle/>
          <a:p>
            <a:r>
              <a:rPr lang="zh-CN" altLang="en-US" sz="900" dirty="0">
                <a:sym typeface="+mn-ea"/>
              </a:rPr>
              <a:t>引入</a:t>
            </a:r>
            <a:r>
              <a:rPr lang="en-US" altLang="zh-CN" sz="900" dirty="0" err="1">
                <a:sym typeface="+mn-ea"/>
              </a:rPr>
              <a:t>RandomizedSearchCV</a:t>
            </a:r>
            <a:r>
              <a:rPr lang="zh-CN" altLang="en-US" sz="900" dirty="0">
                <a:sym typeface="+mn-ea"/>
              </a:rPr>
              <a:t>自动搜索参数</a:t>
            </a:r>
          </a:p>
        </p:txBody>
      </p:sp>
      <p:sp>
        <p:nvSpPr>
          <p:cNvPr id="13" name="文本框 12"/>
          <p:cNvSpPr txBox="1"/>
          <p:nvPr/>
        </p:nvSpPr>
        <p:spPr>
          <a:xfrm>
            <a:off x="4132580" y="2755900"/>
            <a:ext cx="810895" cy="22987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 anchor="t">
            <a:spAutoFit/>
          </a:bodyPr>
          <a:lstStyle/>
          <a:p>
            <a:r>
              <a:rPr lang="zh-CN" altLang="en-US" sz="900" dirty="0">
                <a:sym typeface="+mn-ea"/>
              </a:rPr>
              <a:t>手动调参</a:t>
            </a:r>
          </a:p>
        </p:txBody>
      </p:sp>
    </p:spTree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idx="4294967295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zh-CN" altLang="en-US" sz="2800" dirty="0"/>
              <a:t>支持向量回归</a:t>
            </a:r>
            <a:r>
              <a:rPr lang="en-US" altLang="zh-CN" sz="2800" dirty="0"/>
              <a:t>  FFT</a:t>
            </a: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23240" y="756920"/>
            <a:ext cx="3131820" cy="2348865"/>
          </a:xfrm>
          <a:prstGeom prst="rect">
            <a:avLst/>
          </a:prstGeom>
        </p:spPr>
      </p:pic>
      <p:sp>
        <p:nvSpPr>
          <p:cNvPr id="8" name="标题 1"/>
          <p:cNvSpPr txBox="1"/>
          <p:nvPr/>
        </p:nvSpPr>
        <p:spPr>
          <a:xfrm>
            <a:off x="3503295" y="756285"/>
            <a:ext cx="2487295" cy="243586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    model = SVR(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kernel='</a:t>
            </a:r>
            <a:r>
              <a:rPr lang="en-US" altLang="zh-CN" sz="1000" dirty="0" err="1">
                <a:latin typeface="Consolas" panose="020B0609020204030204" pitchFamily="49" charset="0"/>
              </a:rPr>
              <a:t>rbf</a:t>
            </a:r>
            <a:r>
              <a:rPr lang="en-US" altLang="zh-CN" sz="1000" dirty="0">
                <a:latin typeface="Consolas" panose="020B0609020204030204" pitchFamily="49" charset="0"/>
              </a:rPr>
              <a:t>',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C=1000,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epsilon=0.5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)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6909.5662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0.2224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303.2106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523990" y="756920"/>
            <a:ext cx="3036570" cy="2277745"/>
          </a:xfrm>
          <a:prstGeom prst="rect">
            <a:avLst/>
          </a:prstGeom>
        </p:spPr>
      </p:pic>
      <p:sp>
        <p:nvSpPr>
          <p:cNvPr id="4" name="标题 1"/>
          <p:cNvSpPr txBox="1"/>
          <p:nvPr/>
        </p:nvSpPr>
        <p:spPr>
          <a:xfrm>
            <a:off x="9636760" y="935990"/>
            <a:ext cx="2339340" cy="209867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Best params (</a:t>
            </a:r>
            <a:r>
              <a:rPr lang="en-US" altLang="zh-CN" sz="1000" dirty="0" err="1">
                <a:latin typeface="Consolas" panose="020B0609020204030204" pitchFamily="49" charset="0"/>
              </a:rPr>
              <a:t>svr_tuned</a:t>
            </a:r>
            <a:r>
              <a:rPr lang="en-US" altLang="zh-CN" sz="1000" dirty="0">
                <a:latin typeface="Consolas" panose="020B0609020204030204" pitchFamily="49" charset="0"/>
              </a:rPr>
              <a:t>): {'C': 577.8627854332454, 'degree': 3, 'epsilon': 0.11958479832931303, 'gamma': 1.0963607629633412e-05, 'kernel': '</a:t>
            </a:r>
            <a:r>
              <a:rPr lang="en-US" altLang="zh-CN" sz="1000" dirty="0" err="1">
                <a:latin typeface="Consolas" panose="020B0609020204030204" pitchFamily="49" charset="0"/>
              </a:rPr>
              <a:t>rbf</a:t>
            </a:r>
            <a:r>
              <a:rPr lang="en-US" altLang="zh-CN" sz="1000" dirty="0">
                <a:latin typeface="Consolas" panose="020B0609020204030204" pitchFamily="49" charset="0"/>
              </a:rPr>
              <a:t>’}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1662.4767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-0.2448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383.6208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532765" y="3286760"/>
            <a:ext cx="9992995" cy="78295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/>
              <a:t>效果不好，如上。</a:t>
            </a:r>
          </a:p>
          <a:p>
            <a:r>
              <a:rPr lang="zh-CN" altLang="en-US" b="1">
                <a:solidFill>
                  <a:srgbClr val="00B0F0"/>
                </a:solidFill>
                <a:latin typeface="+mn-ea"/>
                <a:sym typeface="+mn-ea"/>
              </a:rPr>
              <a:t>剔除运行时间不大于</a:t>
            </a:r>
            <a:r>
              <a:rPr lang="en-US" altLang="zh-CN" b="1">
                <a:solidFill>
                  <a:srgbClr val="00B0F0"/>
                </a:solidFill>
                <a:latin typeface="+mn-ea"/>
                <a:sym typeface="+mn-ea"/>
              </a:rPr>
              <a:t>1</a:t>
            </a:r>
            <a:r>
              <a:rPr lang="zh-CN" altLang="en-US" b="1">
                <a:solidFill>
                  <a:srgbClr val="00B0F0"/>
                </a:solidFill>
                <a:latin typeface="+mn-ea"/>
                <a:sym typeface="+mn-ea"/>
              </a:rPr>
              <a:t>秒的样本数据后</a:t>
            </a:r>
            <a:r>
              <a:rPr lang="zh-CN" altLang="en-US" dirty="0">
                <a:sym typeface="+mn-ea"/>
              </a:rPr>
              <a:t>，</a:t>
            </a:r>
            <a:r>
              <a:rPr lang="zh-CN" altLang="en-US" b="1">
                <a:solidFill>
                  <a:srgbClr val="FF0000"/>
                </a:solidFill>
                <a:latin typeface="+mn-ea"/>
                <a:sym typeface="+mn-ea"/>
              </a:rPr>
              <a:t>对</a:t>
            </a:r>
            <a:r>
              <a:rPr lang="en-US" altLang="zh-CN" b="1">
                <a:solidFill>
                  <a:srgbClr val="FF0000"/>
                </a:solidFill>
                <a:latin typeface="+mn-ea"/>
                <a:sym typeface="+mn-ea"/>
              </a:rPr>
              <a:t>FFT</a:t>
            </a:r>
            <a:r>
              <a:rPr lang="zh-CN" altLang="en-US" b="1">
                <a:solidFill>
                  <a:srgbClr val="FF0000"/>
                </a:solidFill>
                <a:latin typeface="+mn-ea"/>
                <a:sym typeface="+mn-ea"/>
              </a:rPr>
              <a:t>表现依然很差</a:t>
            </a:r>
            <a:endParaRPr lang="zh-CN" altLang="en-US">
              <a:solidFill>
                <a:srgbClr val="FF0000"/>
              </a:solidFill>
            </a:endParaRPr>
          </a:p>
          <a:p>
            <a:endParaRPr lang="en-US" altLang="zh-CN" dirty="0"/>
          </a:p>
          <a:p>
            <a:endParaRPr lang="zh-CN" altLang="en-US" dirty="0"/>
          </a:p>
          <a:p>
            <a:endParaRPr lang="zh-CN" altLang="en-US" dirty="0"/>
          </a:p>
        </p:txBody>
      </p:sp>
      <p:sp>
        <p:nvSpPr>
          <p:cNvPr id="10" name="文本框 9"/>
          <p:cNvSpPr txBox="1"/>
          <p:nvPr/>
        </p:nvSpPr>
        <p:spPr>
          <a:xfrm>
            <a:off x="256540" y="3899535"/>
            <a:ext cx="10544810" cy="27584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Predicting runtime for FFT on Cortex-R5F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Test size: 0.3, Lower bound: 1.0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Method: svr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1: MAPE=0.2804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R2=-0.0012, RMSE=383.6057 (s), RMSE%_mean=119.90%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RMSE%_range=44.88%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2: MAPE=0.2030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R2=0.9789, RMSE=2.5650 (s), RMSE%_mean=11.05%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RMSE%_range=5.94%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6: MAPE=0.3003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R2=0.9934, RMSE=13.6899 (s), RMSE%_mean=6.68%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RMSE%_range=3.33%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42: MAPE=0.2229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R2=0.9757, RMSE=28.7611 (s), RMSE%_mean=18.69%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RMSE%_range=6.99%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123: MAPE=0.7506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R2=0.9780, RMSE=13.1562 (s), RMSE%_mean=17.82%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RMSE%_range=6.66%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2025: MAPE=0.6243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R2=0.9212, RMSE=10.6553 (s), RMSE%_mean=22.33%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RMSE%_range=11.47%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33550336: MAPE=0.5243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R2=-0.1055, RMSE=385.9964 (s), RMSE%_mean=109.32%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RMSE%_range=44.96%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MAPE: 0.4151 ± 0.2166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R2:   0.6772 ± 0.5005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RMSE: 119.7757 ± 181.2139 (s)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RMSE%_mean: 43.68% ± 48.82%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RMSE%_range: 17.75% ± 18.72%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0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9704070" y="2804795"/>
            <a:ext cx="2333625" cy="22987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 anchor="t">
            <a:spAutoFit/>
          </a:bodyPr>
          <a:lstStyle/>
          <a:p>
            <a:r>
              <a:rPr lang="zh-CN" altLang="en-US" sz="900" dirty="0">
                <a:sym typeface="+mn-ea"/>
              </a:rPr>
              <a:t>引入</a:t>
            </a:r>
            <a:r>
              <a:rPr lang="en-US" altLang="zh-CN" sz="900" dirty="0" err="1">
                <a:sym typeface="+mn-ea"/>
              </a:rPr>
              <a:t>RandomizedSearchCV</a:t>
            </a:r>
            <a:r>
              <a:rPr lang="zh-CN" altLang="en-US" sz="900" dirty="0">
                <a:sym typeface="+mn-ea"/>
              </a:rPr>
              <a:t>自动搜索参数</a:t>
            </a:r>
          </a:p>
        </p:txBody>
      </p:sp>
      <p:sp>
        <p:nvSpPr>
          <p:cNvPr id="13" name="文本框 12"/>
          <p:cNvSpPr txBox="1"/>
          <p:nvPr/>
        </p:nvSpPr>
        <p:spPr>
          <a:xfrm>
            <a:off x="4255770" y="2774950"/>
            <a:ext cx="810895" cy="22987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 anchor="t">
            <a:spAutoFit/>
          </a:bodyPr>
          <a:lstStyle/>
          <a:p>
            <a:r>
              <a:rPr lang="zh-CN" altLang="en-US" sz="900" dirty="0">
                <a:sym typeface="+mn-ea"/>
              </a:rPr>
              <a:t>手动调参</a:t>
            </a:r>
          </a:p>
        </p:txBody>
      </p:sp>
    </p:spTree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idx="4294967295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zh-CN" altLang="en-US" sz="2800" dirty="0"/>
              <a:t>神经网络回归</a:t>
            </a:r>
            <a:r>
              <a:rPr lang="en-US" altLang="zh-CN" sz="2800" dirty="0"/>
              <a:t> Matrix_Multiply</a:t>
            </a: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825" y="700405"/>
            <a:ext cx="3779520" cy="2834640"/>
          </a:xfrm>
          <a:prstGeom prst="rect">
            <a:avLst/>
          </a:prstGeom>
        </p:spPr>
      </p:pic>
      <p:sp>
        <p:nvSpPr>
          <p:cNvPr id="8" name="标题 1"/>
          <p:cNvSpPr txBox="1"/>
          <p:nvPr/>
        </p:nvSpPr>
        <p:spPr>
          <a:xfrm>
            <a:off x="3603352" y="7004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 err="1">
                <a:latin typeface="Consolas" panose="020B0609020204030204" pitchFamily="49" charset="0"/>
              </a:rPr>
              <a:t>mlp</a:t>
            </a:r>
            <a:r>
              <a:rPr lang="en-US" altLang="zh-CN" sz="1000" dirty="0">
                <a:latin typeface="Consolas" panose="020B0609020204030204" pitchFamily="49" charset="0"/>
              </a:rPr>
              <a:t> = </a:t>
            </a:r>
            <a:r>
              <a:rPr lang="en-US" altLang="zh-CN" sz="1000" dirty="0" err="1">
                <a:latin typeface="Consolas" panose="020B0609020204030204" pitchFamily="49" charset="0"/>
              </a:rPr>
              <a:t>MLPRegressor</a:t>
            </a:r>
            <a:r>
              <a:rPr lang="en-US" altLang="zh-CN" sz="1000" dirty="0">
                <a:latin typeface="Consolas" panose="020B0609020204030204" pitchFamily="49" charset="0"/>
              </a:rPr>
              <a:t>(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</a:t>
            </a:r>
            <a:r>
              <a:rPr lang="en-US" altLang="zh-CN" sz="1000" dirty="0" err="1">
                <a:latin typeface="Consolas" panose="020B0609020204030204" pitchFamily="49" charset="0"/>
              </a:rPr>
              <a:t>hidden_layer_sizes</a:t>
            </a:r>
            <a:r>
              <a:rPr lang="en-US" altLang="zh-CN" sz="1000" dirty="0">
                <a:latin typeface="Consolas" panose="020B0609020204030204" pitchFamily="49" charset="0"/>
              </a:rPr>
              <a:t>=(100, 50),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activation='</a:t>
            </a:r>
            <a:r>
              <a:rPr lang="en-US" altLang="zh-CN" sz="1000" dirty="0" err="1">
                <a:latin typeface="Consolas" panose="020B0609020204030204" pitchFamily="49" charset="0"/>
              </a:rPr>
              <a:t>relu</a:t>
            </a:r>
            <a:r>
              <a:rPr lang="en-US" altLang="zh-CN" sz="1000" dirty="0">
                <a:latin typeface="Consolas" panose="020B0609020204030204" pitchFamily="49" charset="0"/>
              </a:rPr>
              <a:t>',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solver='</a:t>
            </a:r>
            <a:r>
              <a:rPr lang="en-US" altLang="zh-CN" sz="1000" dirty="0" err="1">
                <a:latin typeface="Consolas" panose="020B0609020204030204" pitchFamily="49" charset="0"/>
              </a:rPr>
              <a:t>adam</a:t>
            </a:r>
            <a:r>
              <a:rPr lang="en-US" altLang="zh-CN" sz="1000" dirty="0">
                <a:latin typeface="Consolas" panose="020B0609020204030204" pitchFamily="49" charset="0"/>
              </a:rPr>
              <a:t>',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</a:t>
            </a:r>
            <a:r>
              <a:rPr lang="en-US" altLang="zh-CN" sz="1000" dirty="0" err="1">
                <a:latin typeface="Consolas" panose="020B0609020204030204" pitchFamily="49" charset="0"/>
              </a:rPr>
              <a:t>max_iter</a:t>
            </a:r>
            <a:r>
              <a:rPr lang="en-US" altLang="zh-CN" sz="1000" dirty="0">
                <a:latin typeface="Consolas" panose="020B0609020204030204" pitchFamily="49" charset="0"/>
              </a:rPr>
              <a:t>=10000,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</a:t>
            </a:r>
            <a:r>
              <a:rPr lang="en-US" altLang="zh-CN" sz="1000" dirty="0" err="1">
                <a:latin typeface="Consolas" panose="020B0609020204030204" pitchFamily="49" charset="0"/>
              </a:rPr>
              <a:t>random_state</a:t>
            </a:r>
            <a:r>
              <a:rPr lang="en-US" altLang="zh-CN" sz="1000" dirty="0">
                <a:latin typeface="Consolas" panose="020B0609020204030204" pitchFamily="49" charset="0"/>
              </a:rPr>
              <a:t>=2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)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544.7565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0.9996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1.7809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123305" y="835660"/>
            <a:ext cx="3437890" cy="2578735"/>
          </a:xfrm>
          <a:prstGeom prst="rect">
            <a:avLst/>
          </a:prstGeom>
        </p:spPr>
      </p:pic>
      <p:sp>
        <p:nvSpPr>
          <p:cNvPr id="4" name="标题 1"/>
          <p:cNvSpPr txBox="1"/>
          <p:nvPr/>
        </p:nvSpPr>
        <p:spPr>
          <a:xfrm>
            <a:off x="9360897" y="821273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Best params (</a:t>
            </a:r>
            <a:r>
              <a:rPr lang="en-US" altLang="zh-CN" sz="1000" dirty="0" err="1">
                <a:latin typeface="Consolas" panose="020B0609020204030204" pitchFamily="49" charset="0"/>
              </a:rPr>
              <a:t>mlp_tuned</a:t>
            </a:r>
            <a:r>
              <a:rPr lang="en-US" altLang="zh-CN" sz="1000" dirty="0">
                <a:latin typeface="Consolas" panose="020B0609020204030204" pitchFamily="49" charset="0"/>
              </a:rPr>
              <a:t>): {'</a:t>
            </a:r>
            <a:r>
              <a:rPr lang="en-US" altLang="zh-CN" sz="1000" dirty="0" err="1">
                <a:latin typeface="Consolas" panose="020B0609020204030204" pitchFamily="49" charset="0"/>
              </a:rPr>
              <a:t>regressor__activation</a:t>
            </a:r>
            <a:r>
              <a:rPr lang="en-US" altLang="zh-CN" sz="1000" dirty="0">
                <a:latin typeface="Consolas" panose="020B0609020204030204" pitchFamily="49" charset="0"/>
              </a:rPr>
              <a:t>': '</a:t>
            </a:r>
            <a:r>
              <a:rPr lang="en-US" altLang="zh-CN" sz="1000" dirty="0" err="1">
                <a:latin typeface="Consolas" panose="020B0609020204030204" pitchFamily="49" charset="0"/>
              </a:rPr>
              <a:t>relu</a:t>
            </a:r>
            <a:r>
              <a:rPr lang="en-US" altLang="zh-CN" sz="1000" dirty="0">
                <a:latin typeface="Consolas" panose="020B0609020204030204" pitchFamily="49" charset="0"/>
              </a:rPr>
              <a:t>', '</a:t>
            </a:r>
            <a:r>
              <a:rPr lang="en-US" altLang="zh-CN" sz="1000" dirty="0" err="1">
                <a:latin typeface="Consolas" panose="020B0609020204030204" pitchFamily="49" charset="0"/>
              </a:rPr>
              <a:t>regressor__alpha</a:t>
            </a:r>
            <a:r>
              <a:rPr lang="en-US" altLang="zh-CN" sz="1000" dirty="0">
                <a:latin typeface="Consolas" panose="020B0609020204030204" pitchFamily="49" charset="0"/>
              </a:rPr>
              <a:t>': 0.006680351314068706, 'regressor__</a:t>
            </a:r>
            <a:r>
              <a:rPr lang="en-US" altLang="zh-CN" sz="1000" dirty="0" err="1">
                <a:latin typeface="Consolas" panose="020B0609020204030204" pitchFamily="49" charset="0"/>
              </a:rPr>
              <a:t>hidden_layer_sizes</a:t>
            </a:r>
            <a:r>
              <a:rPr lang="en-US" altLang="zh-CN" sz="1000" dirty="0">
                <a:latin typeface="Consolas" panose="020B0609020204030204" pitchFamily="49" charset="0"/>
              </a:rPr>
              <a:t>': (200, 100), 'regressor__</a:t>
            </a:r>
            <a:r>
              <a:rPr lang="en-US" altLang="zh-CN" sz="1000" dirty="0" err="1">
                <a:latin typeface="Consolas" panose="020B0609020204030204" pitchFamily="49" charset="0"/>
              </a:rPr>
              <a:t>learning_rate_init</a:t>
            </a:r>
            <a:r>
              <a:rPr lang="en-US" altLang="zh-CN" sz="1000" dirty="0">
                <a:latin typeface="Consolas" panose="020B0609020204030204" pitchFamily="49" charset="0"/>
              </a:rPr>
              <a:t>': 0.07602233354654259, '</a:t>
            </a:r>
            <a:r>
              <a:rPr lang="en-US" altLang="zh-CN" sz="1000" dirty="0" err="1">
                <a:latin typeface="Consolas" panose="020B0609020204030204" pitchFamily="49" charset="0"/>
              </a:rPr>
              <a:t>regressor__solver</a:t>
            </a:r>
            <a:r>
              <a:rPr lang="en-US" altLang="zh-CN" sz="1000" dirty="0">
                <a:latin typeface="Consolas" panose="020B0609020204030204" pitchFamily="49" charset="0"/>
              </a:rPr>
              <a:t>': '</a:t>
            </a:r>
            <a:r>
              <a:rPr lang="en-US" altLang="zh-CN" sz="1000" dirty="0" err="1">
                <a:latin typeface="Consolas" panose="020B0609020204030204" pitchFamily="49" charset="0"/>
              </a:rPr>
              <a:t>lbfgs</a:t>
            </a:r>
            <a:r>
              <a:rPr lang="en-US" altLang="zh-CN" sz="1000" dirty="0">
                <a:latin typeface="Consolas" panose="020B0609020204030204" pitchFamily="49" charset="0"/>
              </a:rPr>
              <a:t>’}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335.4517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0.9994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2.1308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494665" y="3505835"/>
            <a:ext cx="9992995" cy="78295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/>
              <a:t>效果不好，如上。</a:t>
            </a:r>
          </a:p>
          <a:p>
            <a:r>
              <a:rPr lang="zh-CN" altLang="en-US" b="1">
                <a:solidFill>
                  <a:srgbClr val="00B0F0"/>
                </a:solidFill>
                <a:latin typeface="+mn-ea"/>
                <a:sym typeface="+mn-ea"/>
              </a:rPr>
              <a:t>剔除运行时间不大于</a:t>
            </a:r>
            <a:r>
              <a:rPr lang="en-US" altLang="zh-CN" b="1">
                <a:solidFill>
                  <a:srgbClr val="00B0F0"/>
                </a:solidFill>
                <a:latin typeface="+mn-ea"/>
                <a:sym typeface="+mn-ea"/>
              </a:rPr>
              <a:t>0.5</a:t>
            </a:r>
            <a:r>
              <a:rPr lang="zh-CN" altLang="en-US" b="1">
                <a:solidFill>
                  <a:srgbClr val="00B0F0"/>
                </a:solidFill>
                <a:latin typeface="+mn-ea"/>
                <a:sym typeface="+mn-ea"/>
              </a:rPr>
              <a:t>秒的样本数据后，表现良好</a:t>
            </a:r>
            <a:endParaRPr lang="zh-CN" altLang="en-US">
              <a:solidFill>
                <a:srgbClr val="FF0000"/>
              </a:solidFill>
            </a:endParaRPr>
          </a:p>
          <a:p>
            <a:endParaRPr lang="en-US" altLang="zh-CN" dirty="0"/>
          </a:p>
          <a:p>
            <a:endParaRPr lang="zh-CN" altLang="en-US" dirty="0"/>
          </a:p>
          <a:p>
            <a:endParaRPr lang="zh-CN" altLang="en-US" dirty="0"/>
          </a:p>
        </p:txBody>
      </p:sp>
      <p:sp>
        <p:nvSpPr>
          <p:cNvPr id="16" name="文本框 15"/>
          <p:cNvSpPr txBox="1"/>
          <p:nvPr/>
        </p:nvSpPr>
        <p:spPr>
          <a:xfrm>
            <a:off x="352425" y="4206875"/>
            <a:ext cx="9487535" cy="254889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Predicting runtime for Matrix_Multiply on Cortex-R5F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Test size: 0.3, Lower bound: 0.5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Method: mlp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1: MAPE=0.0652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R2=0.9982, RMSE=4.7590 (s), RMSE%_mean=4.24%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RMSE%_range=1.27%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2: MAPE=0.1091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R2=0.9966, RMSE=6.2106 (s), RMSE%_mean=6.93%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RMSE%_range=1.66%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6: MAPE=0.0907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R2=0.9986, RMSE=4.0178 (s), RMSE%_mean=4.17%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RMSE%_range=1.17%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42: MAPE=0.0760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R2=0.9996, RMSE=1.9081 (s), RMSE%_mean=2.27%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RMSE%_range=0.55%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123: MAPE=0.0646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R2=0.9969, RMSE=5.6927 (s), RMSE%_mean=4.91%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RMSE%_range=1.71%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2025: MAPE=0.0717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R2=0.9988, RMSE=4.0340 (s), RMSE%_mean=3.65%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RMSE%_range=1.08%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33550336: MAPE=0.1117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R2=0.9986, RMSE=4.4941 (s), RMSE%_mean=4.25%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RMSE%_range=1.20%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MAPE: 0.0841 ± 0.0199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R2:   0.9982 ± 0.0011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RMSE: 4.4452 ± 1.3882 (s)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RMSE%_mean: 4.35% ± 1.41%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RMSE%_range: 1.23% ± 0.39%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0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494155" y="4380230"/>
            <a:ext cx="1864360" cy="20891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9389745" y="3182620"/>
            <a:ext cx="2333625" cy="22987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 anchor="t">
            <a:spAutoFit/>
          </a:bodyPr>
          <a:lstStyle/>
          <a:p>
            <a:r>
              <a:rPr lang="zh-CN" altLang="en-US" sz="900" dirty="0">
                <a:sym typeface="+mn-ea"/>
              </a:rPr>
              <a:t>引入</a:t>
            </a:r>
            <a:r>
              <a:rPr lang="en-US" altLang="zh-CN" sz="900" dirty="0" err="1">
                <a:sym typeface="+mn-ea"/>
              </a:rPr>
              <a:t>RandomizedSearchCV</a:t>
            </a:r>
            <a:r>
              <a:rPr lang="zh-CN" altLang="en-US" sz="900" dirty="0">
                <a:sym typeface="+mn-ea"/>
              </a:rPr>
              <a:t>自动搜索参数</a:t>
            </a:r>
          </a:p>
        </p:txBody>
      </p:sp>
      <p:sp>
        <p:nvSpPr>
          <p:cNvPr id="13" name="文本框 12"/>
          <p:cNvSpPr txBox="1"/>
          <p:nvPr/>
        </p:nvSpPr>
        <p:spPr>
          <a:xfrm>
            <a:off x="4017645" y="2974975"/>
            <a:ext cx="810895" cy="22987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 anchor="t">
            <a:spAutoFit/>
          </a:bodyPr>
          <a:lstStyle/>
          <a:p>
            <a:r>
              <a:rPr lang="zh-CN" altLang="en-US" sz="900" dirty="0">
                <a:sym typeface="+mn-ea"/>
              </a:rPr>
              <a:t>手动调参</a:t>
            </a:r>
          </a:p>
        </p:txBody>
      </p:sp>
    </p:spTree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idx="4294967295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zh-CN" altLang="en-US" sz="2800" dirty="0"/>
              <a:t>神经网络回归</a:t>
            </a:r>
            <a:r>
              <a:rPr lang="en-US" altLang="zh-CN" sz="2800" dirty="0"/>
              <a:t>  KF</a:t>
            </a: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380365" y="753745"/>
            <a:ext cx="3579495" cy="2489200"/>
          </a:xfrm>
          <a:prstGeom prst="rect">
            <a:avLst/>
          </a:prstGeom>
        </p:spPr>
      </p:pic>
      <p:sp>
        <p:nvSpPr>
          <p:cNvPr id="8" name="标题 1"/>
          <p:cNvSpPr txBox="1"/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Best params (</a:t>
            </a:r>
            <a:r>
              <a:rPr lang="en-US" altLang="zh-CN" sz="1000" dirty="0" err="1">
                <a:latin typeface="Consolas" panose="020B0609020204030204" pitchFamily="49" charset="0"/>
              </a:rPr>
              <a:t>mlp_tuned</a:t>
            </a:r>
            <a:r>
              <a:rPr lang="en-US" altLang="zh-CN" sz="1000" dirty="0">
                <a:latin typeface="Consolas" panose="020B0609020204030204" pitchFamily="49" charset="0"/>
              </a:rPr>
              <a:t>): {'</a:t>
            </a:r>
            <a:r>
              <a:rPr lang="en-US" altLang="zh-CN" sz="1000" dirty="0" err="1">
                <a:latin typeface="Consolas" panose="020B0609020204030204" pitchFamily="49" charset="0"/>
              </a:rPr>
              <a:t>regressor__activation</a:t>
            </a:r>
            <a:r>
              <a:rPr lang="en-US" altLang="zh-CN" sz="1000" dirty="0">
                <a:latin typeface="Consolas" panose="020B0609020204030204" pitchFamily="49" charset="0"/>
              </a:rPr>
              <a:t>': '</a:t>
            </a:r>
            <a:r>
              <a:rPr lang="en-US" altLang="zh-CN" sz="1000" dirty="0" err="1">
                <a:latin typeface="Consolas" panose="020B0609020204030204" pitchFamily="49" charset="0"/>
              </a:rPr>
              <a:t>relu</a:t>
            </a:r>
            <a:r>
              <a:rPr lang="en-US" altLang="zh-CN" sz="1000" dirty="0">
                <a:latin typeface="Consolas" panose="020B0609020204030204" pitchFamily="49" charset="0"/>
              </a:rPr>
              <a:t>', '</a:t>
            </a:r>
            <a:r>
              <a:rPr lang="en-US" altLang="zh-CN" sz="1000" dirty="0" err="1">
                <a:latin typeface="Consolas" panose="020B0609020204030204" pitchFamily="49" charset="0"/>
              </a:rPr>
              <a:t>regressor__alpha</a:t>
            </a:r>
            <a:r>
              <a:rPr lang="en-US" altLang="zh-CN" sz="1000" dirty="0">
                <a:latin typeface="Consolas" panose="020B0609020204030204" pitchFamily="49" charset="0"/>
              </a:rPr>
              <a:t>': 0.006680351314068706, 'regressor__</a:t>
            </a:r>
            <a:r>
              <a:rPr lang="en-US" altLang="zh-CN" sz="1000" dirty="0" err="1">
                <a:latin typeface="Consolas" panose="020B0609020204030204" pitchFamily="49" charset="0"/>
              </a:rPr>
              <a:t>hidden_layer_sizes</a:t>
            </a:r>
            <a:r>
              <a:rPr lang="en-US" altLang="zh-CN" sz="1000" dirty="0">
                <a:latin typeface="Consolas" panose="020B0609020204030204" pitchFamily="49" charset="0"/>
              </a:rPr>
              <a:t>': (200, 100), 'regressor__</a:t>
            </a:r>
            <a:r>
              <a:rPr lang="en-US" altLang="zh-CN" sz="1000" dirty="0" err="1">
                <a:latin typeface="Consolas" panose="020B0609020204030204" pitchFamily="49" charset="0"/>
              </a:rPr>
              <a:t>learning_rate_init</a:t>
            </a:r>
            <a:r>
              <a:rPr lang="en-US" altLang="zh-CN" sz="1000" dirty="0">
                <a:latin typeface="Consolas" panose="020B0609020204030204" pitchFamily="49" charset="0"/>
              </a:rPr>
              <a:t>': 0.07602233354654259, '</a:t>
            </a:r>
            <a:r>
              <a:rPr lang="en-US" altLang="zh-CN" sz="1000" dirty="0" err="1">
                <a:latin typeface="Consolas" panose="020B0609020204030204" pitchFamily="49" charset="0"/>
              </a:rPr>
              <a:t>regressor__solver</a:t>
            </a:r>
            <a:r>
              <a:rPr lang="en-US" altLang="zh-CN" sz="1000" dirty="0">
                <a:latin typeface="Consolas" panose="020B0609020204030204" pitchFamily="49" charset="0"/>
              </a:rPr>
              <a:t>': '</a:t>
            </a:r>
            <a:r>
              <a:rPr lang="en-US" altLang="zh-CN" sz="1000" dirty="0" err="1">
                <a:latin typeface="Consolas" panose="020B0609020204030204" pitchFamily="49" charset="0"/>
              </a:rPr>
              <a:t>lbfgs</a:t>
            </a:r>
            <a:r>
              <a:rPr lang="en-US" altLang="zh-CN" sz="1000" dirty="0">
                <a:latin typeface="Consolas" panose="020B0609020204030204" pitchFamily="49" charset="0"/>
              </a:rPr>
              <a:t>’}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46.8010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0.9995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3.9219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123825" y="3839210"/>
            <a:ext cx="10458450" cy="25533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Predicting runtime for KF on Cortex-R5F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Test size: 0.3, Lower bound: 0.5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Method: mlp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1: MAPE=0.0671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R2=0.9980, RMSE=9.9251 (s), RMSE%_mean=4.36%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RMSE%_range=1.32%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N=29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2: MAPE=0.1114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R2=0.9969, RMSE=12.1973 (s), RMSE%_mean=6.57%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RMSE%_range=1.63%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N=29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6: MAPE=0.0675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R2=0.9993, RMSE=5.6438 (s), RMSE%_mean=3.23%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RMSE%_range=0.84%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N=29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42: MAPE=0.1070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R2=0.9969, RMSE=11.4985 (s), RMSE%_mean=6.46%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RMSE%_range=1.61%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N=29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123: MAPE=0.0752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R2=0.9971, RMSE=10.9083 (s), RMSE%_mean=5.79%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RMSE%_range=1.72%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N=29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2025: MAPE=0.0995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R2=0.9989, RMSE=6.8675 (s), RMSE%_mean=3.56%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RMSE%_range=1.05%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N=29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33550336: MAPE=0.1035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R2=0.9968, RMSE=12.5540 (s), RMSE%_mean=6.28%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RMSE%_range=1.68%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N=29</a:t>
            </a:r>
          </a:p>
          <a:p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MAPE: 0.0902 ± 0.0194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R2:   0.9977 ± 0.0010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RMSE: 9.9421 ± 2.6830 (s)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RMSE%_mean: 5.18% ± 1.43%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RMSE%_range: 1.41% ± 0.34%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0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703908" y="4062400"/>
            <a:ext cx="1864158" cy="3135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123825" y="3192145"/>
            <a:ext cx="9992995" cy="76390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/>
              <a:t>效果不好，如上。</a:t>
            </a:r>
          </a:p>
          <a:p>
            <a:r>
              <a:rPr lang="zh-CN" altLang="en-US" b="1">
                <a:solidFill>
                  <a:srgbClr val="00B0F0"/>
                </a:solidFill>
                <a:latin typeface="+mn-ea"/>
                <a:sym typeface="+mn-ea"/>
              </a:rPr>
              <a:t>剔除运行时间不大于</a:t>
            </a:r>
            <a:r>
              <a:rPr lang="en-US" altLang="zh-CN" b="1">
                <a:solidFill>
                  <a:srgbClr val="00B0F0"/>
                </a:solidFill>
                <a:latin typeface="+mn-ea"/>
                <a:sym typeface="+mn-ea"/>
              </a:rPr>
              <a:t>0.5</a:t>
            </a:r>
            <a:r>
              <a:rPr lang="zh-CN" altLang="en-US" b="1">
                <a:solidFill>
                  <a:srgbClr val="00B0F0"/>
                </a:solidFill>
                <a:latin typeface="+mn-ea"/>
                <a:sym typeface="+mn-ea"/>
              </a:rPr>
              <a:t>秒的样本数据后，表现良好</a:t>
            </a:r>
            <a:endParaRPr lang="zh-CN" altLang="en-US"/>
          </a:p>
          <a:p>
            <a:endParaRPr lang="zh-CN" altLang="en-US"/>
          </a:p>
          <a:p>
            <a:endParaRPr lang="zh-CN" altLang="en-US">
              <a:solidFill>
                <a:srgbClr val="FF0000"/>
              </a:solidFill>
            </a:endParaRPr>
          </a:p>
          <a:p>
            <a:endParaRPr lang="en-US" altLang="zh-CN" dirty="0"/>
          </a:p>
          <a:p>
            <a:endParaRPr lang="zh-CN" altLang="en-US" dirty="0"/>
          </a:p>
          <a:p>
            <a:endParaRPr lang="zh-CN" altLang="en-US" dirty="0"/>
          </a:p>
        </p:txBody>
      </p:sp>
      <p:sp>
        <p:nvSpPr>
          <p:cNvPr id="11" name="文本框 10"/>
          <p:cNvSpPr txBox="1"/>
          <p:nvPr/>
        </p:nvSpPr>
        <p:spPr>
          <a:xfrm>
            <a:off x="4989195" y="2962275"/>
            <a:ext cx="2333625" cy="22987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 anchor="t">
            <a:spAutoFit/>
          </a:bodyPr>
          <a:lstStyle/>
          <a:p>
            <a:r>
              <a:rPr lang="zh-CN" altLang="en-US" sz="900" dirty="0">
                <a:sym typeface="+mn-ea"/>
              </a:rPr>
              <a:t>引入</a:t>
            </a:r>
            <a:r>
              <a:rPr lang="en-US" altLang="zh-CN" sz="900" dirty="0" err="1">
                <a:sym typeface="+mn-ea"/>
              </a:rPr>
              <a:t>RandomizedSearchCV</a:t>
            </a:r>
            <a:r>
              <a:rPr lang="zh-CN" altLang="en-US" sz="900" dirty="0">
                <a:sym typeface="+mn-ea"/>
              </a:rPr>
              <a:t>自动搜索参数</a:t>
            </a:r>
          </a:p>
        </p:txBody>
      </p:sp>
    </p:spTree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idx="4294967295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zh-CN" altLang="en-US" sz="2800" dirty="0"/>
              <a:t>神经网络回归</a:t>
            </a:r>
            <a:r>
              <a:rPr lang="en-US" altLang="zh-CN" sz="2800" dirty="0"/>
              <a:t>  FFT</a:t>
            </a: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89280" y="742950"/>
            <a:ext cx="3446780" cy="2585085"/>
          </a:xfrm>
          <a:prstGeom prst="rect">
            <a:avLst/>
          </a:prstGeom>
        </p:spPr>
      </p:pic>
      <p:sp>
        <p:nvSpPr>
          <p:cNvPr id="8" name="标题 1"/>
          <p:cNvSpPr txBox="1"/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Best params (</a:t>
            </a:r>
            <a:r>
              <a:rPr lang="en-US" altLang="zh-CN" sz="1000" dirty="0" err="1">
                <a:latin typeface="Consolas" panose="020B0609020204030204" pitchFamily="49" charset="0"/>
              </a:rPr>
              <a:t>mlp_tuned</a:t>
            </a:r>
            <a:r>
              <a:rPr lang="en-US" altLang="zh-CN" sz="1000" dirty="0">
                <a:latin typeface="Consolas" panose="020B0609020204030204" pitchFamily="49" charset="0"/>
              </a:rPr>
              <a:t>): {'</a:t>
            </a:r>
            <a:r>
              <a:rPr lang="en-US" altLang="zh-CN" sz="1000" dirty="0" err="1">
                <a:latin typeface="Consolas" panose="020B0609020204030204" pitchFamily="49" charset="0"/>
              </a:rPr>
              <a:t>regressor__activation</a:t>
            </a:r>
            <a:r>
              <a:rPr lang="en-US" altLang="zh-CN" sz="1000" dirty="0">
                <a:latin typeface="Consolas" panose="020B0609020204030204" pitchFamily="49" charset="0"/>
              </a:rPr>
              <a:t>': 'logistic', '</a:t>
            </a:r>
            <a:r>
              <a:rPr lang="en-US" altLang="zh-CN" sz="1000" dirty="0" err="1">
                <a:latin typeface="Consolas" panose="020B0609020204030204" pitchFamily="49" charset="0"/>
              </a:rPr>
              <a:t>regressor__alpha</a:t>
            </a:r>
            <a:r>
              <a:rPr lang="en-US" altLang="zh-CN" sz="1000" dirty="0">
                <a:latin typeface="Consolas" panose="020B0609020204030204" pitchFamily="49" charset="0"/>
              </a:rPr>
              <a:t>': 0.027638772178671115, 'regressor__</a:t>
            </a:r>
            <a:r>
              <a:rPr lang="en-US" altLang="zh-CN" sz="1000" dirty="0" err="1">
                <a:latin typeface="Consolas" panose="020B0609020204030204" pitchFamily="49" charset="0"/>
              </a:rPr>
              <a:t>hidden_layer_sizes</a:t>
            </a:r>
            <a:r>
              <a:rPr lang="en-US" altLang="zh-CN" sz="1000" dirty="0">
                <a:latin typeface="Consolas" panose="020B0609020204030204" pitchFamily="49" charset="0"/>
              </a:rPr>
              <a:t>': (200, 100), 'regressor__</a:t>
            </a:r>
            <a:r>
              <a:rPr lang="en-US" altLang="zh-CN" sz="1000" dirty="0" err="1">
                <a:latin typeface="Consolas" panose="020B0609020204030204" pitchFamily="49" charset="0"/>
              </a:rPr>
              <a:t>learning_rate_init</a:t>
            </a:r>
            <a:r>
              <a:rPr lang="en-US" altLang="zh-CN" sz="1000" dirty="0">
                <a:latin typeface="Consolas" panose="020B0609020204030204" pitchFamily="49" charset="0"/>
              </a:rPr>
              <a:t>': 0.0251637321277227, '</a:t>
            </a:r>
            <a:r>
              <a:rPr lang="en-US" altLang="zh-CN" sz="1000" dirty="0" err="1">
                <a:latin typeface="Consolas" panose="020B0609020204030204" pitchFamily="49" charset="0"/>
              </a:rPr>
              <a:t>regressor__solver</a:t>
            </a:r>
            <a:r>
              <a:rPr lang="en-US" altLang="zh-CN" sz="1000" dirty="0">
                <a:latin typeface="Consolas" panose="020B0609020204030204" pitchFamily="49" charset="0"/>
              </a:rPr>
              <a:t>': '</a:t>
            </a:r>
            <a:r>
              <a:rPr lang="en-US" altLang="zh-CN" sz="1000" dirty="0" err="1">
                <a:latin typeface="Consolas" panose="020B0609020204030204" pitchFamily="49" charset="0"/>
              </a:rPr>
              <a:t>adam</a:t>
            </a:r>
            <a:r>
              <a:rPr lang="en-US" altLang="zh-CN" sz="1000" dirty="0">
                <a:latin typeface="Consolas" panose="020B0609020204030204" pitchFamily="49" charset="0"/>
              </a:rPr>
              <a:t>’}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4376.2991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-0.2491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384.2825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200025" y="3328035"/>
            <a:ext cx="9992995" cy="76390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/>
              <a:t>效果不好，如上。</a:t>
            </a:r>
          </a:p>
          <a:p>
            <a:r>
              <a:rPr lang="zh-CN" altLang="en-US" b="1">
                <a:solidFill>
                  <a:srgbClr val="00B0F0"/>
                </a:solidFill>
                <a:latin typeface="+mn-ea"/>
                <a:sym typeface="+mn-ea"/>
              </a:rPr>
              <a:t>剔除运行时间不大于</a:t>
            </a:r>
            <a:r>
              <a:rPr lang="en-US" altLang="zh-CN" b="1">
                <a:solidFill>
                  <a:srgbClr val="00B0F0"/>
                </a:solidFill>
                <a:latin typeface="+mn-ea"/>
                <a:sym typeface="+mn-ea"/>
              </a:rPr>
              <a:t>1</a:t>
            </a:r>
            <a:r>
              <a:rPr lang="zh-CN" altLang="en-US" b="1">
                <a:solidFill>
                  <a:srgbClr val="00B0F0"/>
                </a:solidFill>
                <a:latin typeface="+mn-ea"/>
                <a:sym typeface="+mn-ea"/>
              </a:rPr>
              <a:t>秒的样本数据后，表现良好</a:t>
            </a:r>
            <a:endParaRPr lang="zh-CN" altLang="en-US"/>
          </a:p>
          <a:p>
            <a:endParaRPr lang="zh-CN" altLang="en-US">
              <a:solidFill>
                <a:srgbClr val="FF0000"/>
              </a:solidFill>
            </a:endParaRPr>
          </a:p>
          <a:p>
            <a:endParaRPr lang="en-US" altLang="zh-CN" dirty="0"/>
          </a:p>
          <a:p>
            <a:endParaRPr lang="zh-CN" altLang="en-US" dirty="0"/>
          </a:p>
          <a:p>
            <a:endParaRPr lang="zh-CN" altLang="en-US" dirty="0"/>
          </a:p>
        </p:txBody>
      </p:sp>
      <p:sp>
        <p:nvSpPr>
          <p:cNvPr id="16" name="文本框 15"/>
          <p:cNvSpPr txBox="1"/>
          <p:nvPr/>
        </p:nvSpPr>
        <p:spPr>
          <a:xfrm>
            <a:off x="247650" y="4068445"/>
            <a:ext cx="9886950" cy="25533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Predicting runtime for FFT on Cortex-R5F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Test size: 0.3, Lower bound: 1.0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Method: mlp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1: MAPE=0.0177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R2=0.9994, RMSE=9.6531 (s), RMSE%_mean=3.02%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RMSE%_range=1.13%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2: MAPE=0.0630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R2=0.9977, RMSE=0.8556 (s), RMSE%_mean=3.68%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RMSE%_range=1.98%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6: MAPE=0.0785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R2=0.9963, RMSE=10.1727 (s), RMSE%_mean=4.96%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RMSE%_range=2.47%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42: MAPE=0.0226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R2=1.0000, RMSE=1.0693 (s), RMSE%_mean=0.69%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RMSE%_range=0.26%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123: MAPE=0.2150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R2=1.0000, RMSE=0.4303 (s), RMSE%_mean=0.58%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RMSE%_range=0.22%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2025: MAPE=0.0339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R2=0.9949, RMSE=2.7062 (s), RMSE%_mean=5.67%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RMSE%_range=2.91%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33550336: MAPE=0.1885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R2=0.9994, RMSE=8.9620 (s), RMSE%_mean=2.54%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RMSE%_range=1.04%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MAPE: 0.0885 ± 0.0807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R2:   0.9982 ± 0.0020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RMSE: 4.8356 ± 4.5219 (s)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RMSE%_mean: 3.02% ± 1.95%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RMSE%_range: 1.43% ± 1.05%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0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4" name="标题 1"/>
          <p:cNvSpPr txBox="1"/>
          <p:nvPr/>
        </p:nvSpPr>
        <p:spPr>
          <a:xfrm>
            <a:off x="247921" y="5552428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380490" y="4297045"/>
            <a:ext cx="1864360" cy="2254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4740910" y="2961640"/>
            <a:ext cx="2333625" cy="22987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 anchor="t">
            <a:spAutoFit/>
          </a:bodyPr>
          <a:lstStyle/>
          <a:p>
            <a:r>
              <a:rPr lang="zh-CN" altLang="en-US" sz="900" dirty="0">
                <a:sym typeface="+mn-ea"/>
              </a:rPr>
              <a:t>引入</a:t>
            </a:r>
            <a:r>
              <a:rPr lang="en-US" altLang="zh-CN" sz="900" dirty="0" err="1">
                <a:sym typeface="+mn-ea"/>
              </a:rPr>
              <a:t>RandomizedSearchCV</a:t>
            </a:r>
            <a:r>
              <a:rPr lang="zh-CN" altLang="en-US" sz="900" dirty="0">
                <a:sym typeface="+mn-ea"/>
              </a:rPr>
              <a:t>自动搜索参数</a:t>
            </a:r>
          </a:p>
        </p:txBody>
      </p:sp>
    </p:spTree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/>
          <p:cNvSpPr txBox="1"/>
          <p:nvPr/>
        </p:nvSpPr>
        <p:spPr>
          <a:xfrm>
            <a:off x="1" y="1196812"/>
            <a:ext cx="1219200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Matrix_Multiply on Cortex-R5F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1.0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curve_fit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拟合公式 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(cubic): T(N) = 4.3226277054994453e-07 * N^3 + -2.0862520794859675e-06 * N^2 + -0.06689848074436114 * N + 12.859605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1: MAPE=0.0680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R2=0.9985, RMSE=3.8106 (s), RMSE%_mean=3.57%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RMSE%_range=1.02%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拟合公式 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(cubic): T(N) = 4.2738982693857415e-07 * N^3 + 1.237759618249166e-05 * N^2 + -0.07628695039796836 * N + 14.741285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2: MAPE=0.1919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R2=0.9978, RMSE=5.5002 (s), RMSE%_mean=5.69%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RMSE%_range=1.47%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拟合公式 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(cubic): T(N) = 4.678375274448998e-07 * N^3 + -6.839138376553646e-05 * N^2 + -0.02779512715072722 * N + 6.288652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6: MAPE=0.0904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R2=0.9993, RMSE=2.4101 (s), RMSE%_mean=2.87%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RMSE%_range=0.68%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拟合公式 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(cubic): T(N) = 4.7207120847748915e-07 * N^3 + -6.279998485335789e-05 * N^2 + -0.03744647693828777 * N + 8.664294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42: MAPE=0.0993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R2=0.9968, RMSE=5.6359 (s), RMSE%_mean=6.22%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RMSE%_range=1.69%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拟合公式 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(cubic): T(N) = 4.878052105604081e-07 * N^3 + -9.49400378413378e-05 * N^2 + -0.019700190913805163 * N + 5.738953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123: MAPE=0.0416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R2=0.9994, RMSE=2.6905 (s), RMSE%_mean=2.19%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RMSE%_range=0.78%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拟合公式 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(cubic): T(N) = 4.483972283468473e-07 * N^3 + -3.3395435645058386e-05 * N^2 + -0.04756806156590248 * N + 9.756775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2025: MAPE=0.1086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R2=0.9995, RMSE=2.2678 (s), RMSE%_mean=2.10%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RMSE%_range=0.68%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拟合公式 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(cubic): T(N) = 4.208773825942904e-07 * N^3 + 2.107791962287693e-05 * N^2 + -0.08085361522447715 * N + 15.338666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33550336: MAPE=0.1885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R2=0.9990, RMSE=3.2330 (s), RMSE%_mean=3.50%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RMSE%_range=0.87%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0.1126 ± 0.0574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0.9986 ± 0.0010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3.6497 ± 1.4104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3.73% ± 1.63%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1.03% ± 0.40%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idx="4294967295"/>
          </p:nvPr>
        </p:nvSpPr>
        <p:spPr>
          <a:xfrm>
            <a:off x="838200" y="648516"/>
            <a:ext cx="10515600" cy="595921"/>
          </a:xfrm>
        </p:spPr>
        <p:txBody>
          <a:bodyPr>
            <a:normAutofit/>
          </a:bodyPr>
          <a:lstStyle/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在运行时间大于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1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秒的数据上表现良好</a:t>
            </a:r>
          </a:p>
        </p:txBody>
      </p:sp>
      <p:sp>
        <p:nvSpPr>
          <p:cNvPr id="4" name="标题 1"/>
          <p:cNvSpPr txBox="1"/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580083" y="1420165"/>
            <a:ext cx="1864158" cy="3135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24097" y="143056"/>
            <a:ext cx="6950697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/>
              <a:t>拟合多项式</a:t>
            </a:r>
            <a:r>
              <a:rPr lang="en-US" altLang="zh-CN" sz="2800"/>
              <a:t>  Matrix_Multiply</a:t>
            </a:r>
          </a:p>
        </p:txBody>
      </p:sp>
    </p:spTree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idx="4294967295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zh-CN" altLang="en-US" sz="2800" dirty="0"/>
              <a:t>拟合多项式</a:t>
            </a:r>
            <a:r>
              <a:rPr lang="en-US" altLang="zh-CN" sz="2800" dirty="0"/>
              <a:t> KF</a:t>
            </a: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24097" y="743766"/>
            <a:ext cx="3912325" cy="2934244"/>
          </a:xfrm>
          <a:prstGeom prst="rect">
            <a:avLst/>
          </a:prstGeom>
        </p:spPr>
      </p:pic>
      <p:sp>
        <p:nvSpPr>
          <p:cNvPr id="8" name="标题 1"/>
          <p:cNvSpPr txBox="1"/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645.0855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0.9998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2.5920</a:t>
            </a:r>
          </a:p>
          <a:p>
            <a:endParaRPr lang="pt-BR" altLang="zh-CN" sz="2000" dirty="0">
              <a:latin typeface="Alte DIN 1451 Mittelschrift gep" panose="020B0603020202020204" pitchFamily="34" charset="0"/>
            </a:endParaRPr>
          </a:p>
          <a:p>
            <a:r>
              <a:rPr lang="pt-BR" altLang="zh-CN" sz="1000" dirty="0">
                <a:latin typeface="Consolas" panose="020B0609020204030204" pitchFamily="49" charset="0"/>
              </a:rPr>
              <a:t>T(N) = 1.0143942756480705e-06 * N^3 + -0.00027262610626153634 * N^2 + 0.016611600964441024 * N + 0.669018</a:t>
            </a:r>
            <a:endParaRPr lang="zh-CN" altLang="en-US" sz="1000" dirty="0">
              <a:latin typeface="Consolas" panose="020B0609020204030204" pitchFamily="49" charset="0"/>
            </a:endParaRPr>
          </a:p>
        </p:txBody>
      </p:sp>
    </p:spTree>
  </p:cSld>
  <p:clrMapOvr>
    <a:masterClrMapping/>
  </p:clrMapOvr>
  <p:transition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idx="4294967295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zh-CN" altLang="en-US" sz="2800" dirty="0"/>
              <a:t>拟合多项式</a:t>
            </a:r>
            <a:r>
              <a:rPr lang="en-US" altLang="zh-CN" sz="2800" dirty="0"/>
              <a:t> FFT</a:t>
            </a: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23825" y="772160"/>
            <a:ext cx="3912235" cy="2019935"/>
          </a:xfrm>
          <a:prstGeom prst="rect">
            <a:avLst/>
          </a:prstGeom>
        </p:spPr>
      </p:pic>
      <p:sp>
        <p:nvSpPr>
          <p:cNvPr id="8" name="标题 1"/>
          <p:cNvSpPr txBox="1"/>
          <p:nvPr/>
        </p:nvSpPr>
        <p:spPr>
          <a:xfrm>
            <a:off x="4036695" y="772160"/>
            <a:ext cx="2738755" cy="19558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50.0670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1.0000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0.5282</a:t>
            </a:r>
          </a:p>
          <a:p>
            <a:endParaRPr lang="pt-BR" altLang="zh-CN" sz="2000" dirty="0">
              <a:latin typeface="Alte DIN 1451 Mittelschrift gep" panose="020B0603020202020204" pitchFamily="34" charset="0"/>
            </a:endParaRPr>
          </a:p>
          <a:p>
            <a:r>
              <a:rPr lang="pt-BR" altLang="zh-CN" sz="1000" dirty="0">
                <a:latin typeface="Consolas" panose="020B0609020204030204" pitchFamily="49" charset="0"/>
              </a:rPr>
              <a:t>T(N) = 4.933307294951645e-07 * N log2(N) + 0.003611</a:t>
            </a:r>
            <a:endParaRPr lang="zh-CN" altLang="en-US" sz="1000" dirty="0">
              <a:latin typeface="Consolas" panose="020B0609020204030204" pitchFamily="49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123825" y="3192780"/>
            <a:ext cx="10753725" cy="358838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Predicting runtime for FFT on Cortex-R5F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Test size: 0.3, Lower bound: 0.1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Method: curve_fit</a:t>
            </a:r>
          </a:p>
          <a:p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拟合公式 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(fft): T(N) = 4.927300161370875e-07 * N log2(N) + 0.089903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1: MAPE=0.0685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R2=1.0000, RMSE=0.0793 (s), RMSE%_mean=0.16%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RMSE%_range=0.04%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N=4</a:t>
            </a:r>
          </a:p>
          <a:p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拟合公式 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(fft): T(N) = 4.927320933295469e-07 * N log2(N) + 0.087347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2: MAPE=0.2005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R2=1.0000, RMSE=0.0739 (s), RMSE%_mean=0.14%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RMSE%_range=0.04%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N=4</a:t>
            </a:r>
          </a:p>
          <a:p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拟合公式 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(fft): T(N) = 4.926476771558109e-07 * N log2(N) + 0.060783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6: MAPE=0.0296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R2=1.0000, RMSE=0.2700 (s), RMSE%_mean=0.23%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RMSE%_range=0.07%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N=4</a:t>
            </a:r>
          </a:p>
          <a:p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拟合公式 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(fft): T(N) = 4.926533533078908e-07 * N log2(N) + 0.040025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42: MAPE=0.0866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R2=1.0000, RMSE=0.2892 (s), RMSE%_mean=0.21%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RMSE%_range=0.07%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N=4</a:t>
            </a:r>
          </a:p>
          <a:p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拟合公式 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(fft): T(N) = 4.927370737719805e-07 * N log2(N) + 0.080887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123: MAPE=0.1827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R2=1.0000, RMSE=0.0652 (s), RMSE%_mean=0.12%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RMSE%_range=0.03%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N=4</a:t>
            </a:r>
          </a:p>
          <a:p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拟合公式 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(fft): T(N) = 4.927444768636933e-07 * N log2(N) + 0.074904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2025: MAPE=0.0814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R2=1.0000, RMSE=0.0732 (s), RMSE%_mean=0.24%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RMSE%_range=0.08%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N=4</a:t>
            </a:r>
          </a:p>
          <a:p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拟合公式 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(fft): T(N) = 4.927454979837824e-07 * N log2(N) + 0.069270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33550336: MAPE=0.0142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R2=1.0000, RMSE=0.0533 (s), RMSE%_mean=0.08%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RMSE%_range=0.03%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N=4        </a:t>
            </a:r>
          </a:p>
          <a:p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MAPE: 0.0948 ± 0.0714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R2:   1.0000 ± 0.0000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RMSE: 0.1292 ± 0.1032 (s)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RMSE%_mean: 0.17% ± 0.06%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RMSE%_range: 0.05% ± 0.02%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0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3" name="标题 1"/>
          <p:cNvSpPr>
            <a:spLocks noGrp="1"/>
          </p:cNvSpPr>
          <p:nvPr/>
        </p:nvSpPr>
        <p:spPr>
          <a:xfrm>
            <a:off x="180975" y="2833370"/>
            <a:ext cx="7658735" cy="595630"/>
          </a:xfrm>
        </p:spPr>
        <p:txBody>
          <a:bodyPr>
            <a:normAutofit fontScale="7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rgbClr val="0070C0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表现不佳，但在剔除运行时间不大于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0.1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秒的样本后，表现改善</a:t>
            </a:r>
            <a:endParaRPr lang="zh-CN" altLang="en-US" sz="2800"/>
          </a:p>
        </p:txBody>
      </p:sp>
      <p:sp>
        <p:nvSpPr>
          <p:cNvPr id="12" name="矩形 11"/>
          <p:cNvSpPr/>
          <p:nvPr/>
        </p:nvSpPr>
        <p:spPr>
          <a:xfrm>
            <a:off x="1389583" y="3381680"/>
            <a:ext cx="1864158" cy="3135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4703445" y="2455545"/>
            <a:ext cx="810895" cy="22987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 anchor="t">
            <a:spAutoFit/>
          </a:bodyPr>
          <a:lstStyle/>
          <a:p>
            <a:r>
              <a:rPr lang="zh-CN" altLang="en-US" sz="900" dirty="0">
                <a:sym typeface="+mn-ea"/>
              </a:rPr>
              <a:t>手动调参</a:t>
            </a:r>
          </a:p>
        </p:txBody>
      </p:sp>
    </p:spTree>
  </p:cSld>
  <p:clrMapOvr>
    <a:masterClrMapping/>
  </p:clrMapOvr>
  <p:transition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idx="4294967295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en-US" altLang="zh-CN" sz="2800" dirty="0" err="1"/>
              <a:t>XGBoost</a:t>
            </a:r>
            <a:r>
              <a:rPr lang="zh-CN" altLang="en-US" sz="2800" dirty="0"/>
              <a:t>回归</a:t>
            </a:r>
            <a:r>
              <a:rPr lang="en-US" altLang="zh-CN" sz="2800" dirty="0"/>
              <a:t> Matrix_Multiply</a:t>
            </a:r>
          </a:p>
        </p:txBody>
      </p:sp>
      <p:sp>
        <p:nvSpPr>
          <p:cNvPr id="8" name="标题 1"/>
          <p:cNvSpPr txBox="1"/>
          <p:nvPr/>
        </p:nvSpPr>
        <p:spPr>
          <a:xfrm>
            <a:off x="3536315" y="967740"/>
            <a:ext cx="2272030" cy="192151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model = </a:t>
            </a:r>
            <a:r>
              <a:rPr lang="en-US" altLang="zh-CN" sz="1000" dirty="0" err="1">
                <a:latin typeface="Consolas" panose="020B0609020204030204" pitchFamily="49" charset="0"/>
              </a:rPr>
              <a:t>XGBRegressor</a:t>
            </a:r>
            <a:r>
              <a:rPr lang="en-US" altLang="zh-CN" sz="1000" dirty="0">
                <a:latin typeface="Consolas" panose="020B0609020204030204" pitchFamily="49" charset="0"/>
              </a:rPr>
              <a:t>(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n_estimators</a:t>
            </a:r>
            <a:r>
              <a:rPr lang="en-US" altLang="zh-CN" sz="1000" dirty="0">
                <a:latin typeface="Consolas" panose="020B0609020204030204" pitchFamily="49" charset="0"/>
              </a:rPr>
              <a:t>=500,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max_depth</a:t>
            </a:r>
            <a:r>
              <a:rPr lang="en-US" altLang="zh-CN" sz="1000" dirty="0">
                <a:latin typeface="Consolas" panose="020B0609020204030204" pitchFamily="49" charset="0"/>
              </a:rPr>
              <a:t>=15,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learning_rate</a:t>
            </a:r>
            <a:r>
              <a:rPr lang="en-US" altLang="zh-CN" sz="1000" dirty="0">
                <a:latin typeface="Consolas" panose="020B0609020204030204" pitchFamily="49" charset="0"/>
              </a:rPr>
              <a:t>=0.05,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random_state</a:t>
            </a:r>
            <a:r>
              <a:rPr lang="en-US" altLang="zh-CN" sz="1000" dirty="0">
                <a:latin typeface="Consolas" panose="020B0609020204030204" pitchFamily="49" charset="0"/>
              </a:rPr>
              <a:t>=2,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n_jobs</a:t>
            </a:r>
            <a:r>
              <a:rPr lang="en-US" altLang="zh-CN" sz="1000" dirty="0">
                <a:latin typeface="Consolas" panose="020B0609020204030204" pitchFamily="49" charset="0"/>
              </a:rPr>
              <a:t>=-1,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verbosity=0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)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4.7861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0.9865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10.2801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367030" y="843915"/>
            <a:ext cx="3169285" cy="2376805"/>
          </a:xfrm>
          <a:prstGeom prst="rect">
            <a:avLst/>
          </a:prstGeom>
        </p:spPr>
      </p:pic>
      <p:sp>
        <p:nvSpPr>
          <p:cNvPr id="7" name="标题 1"/>
          <p:cNvSpPr txBox="1"/>
          <p:nvPr/>
        </p:nvSpPr>
        <p:spPr>
          <a:xfrm>
            <a:off x="9361170" y="967740"/>
            <a:ext cx="2595880" cy="187071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Best params (</a:t>
            </a:r>
            <a:r>
              <a:rPr lang="en-US" altLang="zh-CN" sz="1000" dirty="0" err="1">
                <a:latin typeface="Consolas" panose="020B0609020204030204" pitchFamily="49" charset="0"/>
              </a:rPr>
              <a:t>xgboost_tuned</a:t>
            </a:r>
            <a:r>
              <a:rPr lang="en-US" altLang="zh-CN" sz="1000" dirty="0">
                <a:latin typeface="Consolas" panose="020B0609020204030204" pitchFamily="49" charset="0"/>
              </a:rPr>
              <a:t>): {'</a:t>
            </a:r>
            <a:r>
              <a:rPr lang="en-US" altLang="zh-CN" sz="1000" dirty="0" err="1">
                <a:latin typeface="Consolas" panose="020B0609020204030204" pitchFamily="49" charset="0"/>
              </a:rPr>
              <a:t>colsample_bytree</a:t>
            </a:r>
            <a:r>
              <a:rPr lang="en-US" altLang="zh-CN" sz="1000" dirty="0">
                <a:latin typeface="Consolas" panose="020B0609020204030204" pitchFamily="49" charset="0"/>
              </a:rPr>
              <a:t>': 0.9447600319730725, 'gamma': 1.1871972283905326e-05, '</a:t>
            </a:r>
            <a:r>
              <a:rPr lang="en-US" altLang="zh-CN" sz="1000" dirty="0" err="1">
                <a:latin typeface="Consolas" panose="020B0609020204030204" pitchFamily="49" charset="0"/>
              </a:rPr>
              <a:t>learning_rate</a:t>
            </a:r>
            <a:r>
              <a:rPr lang="en-US" altLang="zh-CN" sz="1000" dirty="0">
                <a:latin typeface="Consolas" panose="020B0609020204030204" pitchFamily="49" charset="0"/>
              </a:rPr>
              <a:t>': 0.0339394647270345, '</a:t>
            </a:r>
            <a:r>
              <a:rPr lang="en-US" altLang="zh-CN" sz="1000" dirty="0" err="1">
                <a:latin typeface="Consolas" panose="020B0609020204030204" pitchFamily="49" charset="0"/>
              </a:rPr>
              <a:t>max_depth</a:t>
            </a:r>
            <a:r>
              <a:rPr lang="en-US" altLang="zh-CN" sz="1000" dirty="0">
                <a:latin typeface="Consolas" panose="020B0609020204030204" pitchFamily="49" charset="0"/>
              </a:rPr>
              <a:t>': 13, '</a:t>
            </a:r>
            <a:r>
              <a:rPr lang="en-US" altLang="zh-CN" sz="1000" dirty="0" err="1">
                <a:latin typeface="Consolas" panose="020B0609020204030204" pitchFamily="49" charset="0"/>
              </a:rPr>
              <a:t>n_estimators</a:t>
            </a:r>
            <a:r>
              <a:rPr lang="en-US" altLang="zh-CN" sz="1000" dirty="0">
                <a:latin typeface="Consolas" panose="020B0609020204030204" pitchFamily="49" charset="0"/>
              </a:rPr>
              <a:t>': 858, '</a:t>
            </a:r>
            <a:r>
              <a:rPr lang="en-US" altLang="zh-CN" sz="1000" dirty="0" err="1">
                <a:latin typeface="Consolas" panose="020B0609020204030204" pitchFamily="49" charset="0"/>
              </a:rPr>
              <a:t>reg_alpha</a:t>
            </a:r>
            <a:r>
              <a:rPr lang="en-US" altLang="zh-CN" sz="1000" dirty="0">
                <a:latin typeface="Consolas" panose="020B0609020204030204" pitchFamily="49" charset="0"/>
              </a:rPr>
              <a:t>': 6.751542867668973e-06, '</a:t>
            </a:r>
            <a:r>
              <a:rPr lang="en-US" altLang="zh-CN" sz="1000" dirty="0" err="1">
                <a:latin typeface="Consolas" panose="020B0609020204030204" pitchFamily="49" charset="0"/>
              </a:rPr>
              <a:t>reg_lambda</a:t>
            </a:r>
            <a:r>
              <a:rPr lang="en-US" altLang="zh-CN" sz="1000" dirty="0">
                <a:latin typeface="Consolas" panose="020B0609020204030204" pitchFamily="49" charset="0"/>
              </a:rPr>
              <a:t>': 0.00016239865993185278, 'subsample': 0.63708662969523}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4.8126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0.9865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10.2800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032500" y="762000"/>
            <a:ext cx="2613660" cy="1960245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216535" y="3256280"/>
            <a:ext cx="11811635" cy="81724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>
                <a:sym typeface="+mn-ea"/>
              </a:rPr>
              <a:t>效果不佳，如上。</a:t>
            </a:r>
          </a:p>
          <a:p>
            <a:r>
              <a:rPr lang="zh-CN" altLang="en-US" b="1">
                <a:solidFill>
                  <a:srgbClr val="00B0F0"/>
                </a:solidFill>
                <a:latin typeface="+mn-ea"/>
              </a:rPr>
              <a:t>剔除</a:t>
            </a:r>
            <a:r>
              <a:rPr lang="zh-CN" altLang="en-US" b="1">
                <a:solidFill>
                  <a:srgbClr val="00B0F0"/>
                </a:solidFill>
                <a:latin typeface="+mn-ea"/>
                <a:sym typeface="+mn-ea"/>
              </a:rPr>
              <a:t>运行时间不大于</a:t>
            </a:r>
            <a:r>
              <a:rPr lang="en-US" altLang="zh-CN" b="1">
                <a:solidFill>
                  <a:srgbClr val="00B0F0"/>
                </a:solidFill>
                <a:latin typeface="+mn-ea"/>
                <a:sym typeface="+mn-ea"/>
              </a:rPr>
              <a:t>1</a:t>
            </a:r>
            <a:r>
              <a:rPr lang="zh-CN" altLang="en-US" b="1">
                <a:solidFill>
                  <a:srgbClr val="00B0F0"/>
                </a:solidFill>
                <a:latin typeface="+mn-ea"/>
                <a:sym typeface="+mn-ea"/>
              </a:rPr>
              <a:t>秒的样本后，表现改善</a:t>
            </a:r>
            <a:endParaRPr lang="zh-CN" altLang="en-US"/>
          </a:p>
          <a:p>
            <a:endParaRPr lang="zh-CN" altLang="en-US" dirty="0"/>
          </a:p>
        </p:txBody>
      </p:sp>
      <p:sp>
        <p:nvSpPr>
          <p:cNvPr id="16" name="文本框 15"/>
          <p:cNvSpPr txBox="1"/>
          <p:nvPr/>
        </p:nvSpPr>
        <p:spPr>
          <a:xfrm>
            <a:off x="123825" y="3978275"/>
            <a:ext cx="10401935" cy="278447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Predicting runtime for Matrix_Multiply on Cortex-R5F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Test size: 0.3, Lower bound: 1.0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Method: xgboost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1: MAPE=0.1252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R2=0.9899, RMSE=9.8814 (s), RMSE%_mean=9.25%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RMSE%_range=2.65%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2: MAPE=0.1470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R2=0.9962, RMSE=7.2537 (s), RMSE%_mean=7.51%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RMSE%_range=1.94%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6: MAPE=0.1559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R2=0.9909, RMSE=8.4229 (s), RMSE%_mean=10.05%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RMSE%_range=2.37%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42: MAPE=0.1791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R2=0.9952, RMSE=6.8274 (s), RMSE%_mean=7.53%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RMSE%_range=2.05%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123: MAPE=0.1188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R2=0.9868, RMSE=12.5077 (s), RMSE%_mean=10.17%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RMSE%_range=3.64%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2025: MAPE=0.1208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R2=0.9943, RMSE=7.9483 (s), RMSE%_mean=7.37%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RMSE%_range=2.39%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33550336: MAPE=0.2045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R2=0.9958, RMSE=6.7213 (s), RMSE%_mean=7.28%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RMSE%_range=1.80%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MAPE: 0.1502 ± 0.0324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R2:   0.9928 ± 0.0036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RMSE: 8.5090 ± 2.0734 (s)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RMSE%_mean: 8.45% ± 1.32%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RMSE%_range: 2.41% ± 0.62%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0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265758" y="4176065"/>
            <a:ext cx="1864158" cy="3135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9389745" y="3163570"/>
            <a:ext cx="2333625" cy="22987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 anchor="t">
            <a:spAutoFit/>
          </a:bodyPr>
          <a:lstStyle/>
          <a:p>
            <a:r>
              <a:rPr lang="zh-CN" altLang="en-US" sz="900" dirty="0">
                <a:sym typeface="+mn-ea"/>
              </a:rPr>
              <a:t>引入</a:t>
            </a:r>
            <a:r>
              <a:rPr lang="en-US" altLang="zh-CN" sz="900" dirty="0" err="1">
                <a:sym typeface="+mn-ea"/>
              </a:rPr>
              <a:t>RandomizedSearchCV</a:t>
            </a:r>
            <a:r>
              <a:rPr lang="zh-CN" altLang="en-US" sz="900" dirty="0">
                <a:sym typeface="+mn-ea"/>
              </a:rPr>
              <a:t>自动搜索参数</a:t>
            </a:r>
          </a:p>
        </p:txBody>
      </p:sp>
      <p:sp>
        <p:nvSpPr>
          <p:cNvPr id="13" name="文本框 12"/>
          <p:cNvSpPr txBox="1"/>
          <p:nvPr/>
        </p:nvSpPr>
        <p:spPr>
          <a:xfrm>
            <a:off x="4017645" y="2955925"/>
            <a:ext cx="810895" cy="22987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 anchor="t">
            <a:spAutoFit/>
          </a:bodyPr>
          <a:lstStyle/>
          <a:p>
            <a:r>
              <a:rPr lang="zh-CN" altLang="en-US" sz="900" dirty="0">
                <a:sym typeface="+mn-ea"/>
              </a:rPr>
              <a:t>手动调参</a:t>
            </a:r>
          </a:p>
        </p:txBody>
      </p:sp>
    </p:spTree>
  </p:cSld>
  <p:clrMapOvr>
    <a:masterClrMapping/>
  </p:clrMapOvr>
  <p:transition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idx="4294967295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en-US" altLang="zh-CN" sz="2800" dirty="0" err="1"/>
              <a:t>XGBoost</a:t>
            </a:r>
            <a:r>
              <a:rPr lang="zh-CN" altLang="en-US" sz="2800" dirty="0"/>
              <a:t>回归</a:t>
            </a:r>
            <a:r>
              <a:rPr lang="en-US" altLang="zh-CN" sz="2800" dirty="0"/>
              <a:t>  KF</a:t>
            </a: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17525" y="895985"/>
            <a:ext cx="3023870" cy="2268220"/>
          </a:xfrm>
          <a:prstGeom prst="rect">
            <a:avLst/>
          </a:prstGeom>
        </p:spPr>
      </p:pic>
      <p:sp>
        <p:nvSpPr>
          <p:cNvPr id="8" name="标题 1"/>
          <p:cNvSpPr txBox="1"/>
          <p:nvPr/>
        </p:nvSpPr>
        <p:spPr>
          <a:xfrm>
            <a:off x="3541395" y="791210"/>
            <a:ext cx="2738755" cy="198437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model = </a:t>
            </a:r>
            <a:r>
              <a:rPr lang="en-US" altLang="zh-CN" sz="1000" dirty="0" err="1">
                <a:latin typeface="Consolas" panose="020B0609020204030204" pitchFamily="49" charset="0"/>
              </a:rPr>
              <a:t>XGBRegressor</a:t>
            </a:r>
            <a:r>
              <a:rPr lang="en-US" altLang="zh-CN" sz="1000" dirty="0">
                <a:latin typeface="Consolas" panose="020B0609020204030204" pitchFamily="49" charset="0"/>
              </a:rPr>
              <a:t>(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n_estimators</a:t>
            </a:r>
            <a:r>
              <a:rPr lang="en-US" altLang="zh-CN" sz="1000" dirty="0">
                <a:latin typeface="Consolas" panose="020B0609020204030204" pitchFamily="49" charset="0"/>
              </a:rPr>
              <a:t>=500,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max_depth</a:t>
            </a:r>
            <a:r>
              <a:rPr lang="en-US" altLang="zh-CN" sz="1000" dirty="0">
                <a:latin typeface="Consolas" panose="020B0609020204030204" pitchFamily="49" charset="0"/>
              </a:rPr>
              <a:t>=15,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learning_rate</a:t>
            </a:r>
            <a:r>
              <a:rPr lang="en-US" altLang="zh-CN" sz="1000" dirty="0">
                <a:latin typeface="Consolas" panose="020B0609020204030204" pitchFamily="49" charset="0"/>
              </a:rPr>
              <a:t>=0.05,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random_state</a:t>
            </a:r>
            <a:r>
              <a:rPr lang="en-US" altLang="zh-CN" sz="1000" dirty="0">
                <a:latin typeface="Consolas" panose="020B0609020204030204" pitchFamily="49" charset="0"/>
              </a:rPr>
              <a:t>=2,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n_jobs</a:t>
            </a:r>
            <a:r>
              <a:rPr lang="en-US" altLang="zh-CN" sz="1000" dirty="0">
                <a:latin typeface="Consolas" panose="020B0609020204030204" pitchFamily="49" charset="0"/>
              </a:rPr>
              <a:t>=-1,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verbosity=0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)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1.4526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0.9964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11.0045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904865" y="689610"/>
            <a:ext cx="3141345" cy="2355850"/>
          </a:xfrm>
          <a:prstGeom prst="rect">
            <a:avLst/>
          </a:prstGeom>
        </p:spPr>
      </p:pic>
      <p:sp>
        <p:nvSpPr>
          <p:cNvPr id="7" name="标题 1"/>
          <p:cNvSpPr txBox="1"/>
          <p:nvPr/>
        </p:nvSpPr>
        <p:spPr>
          <a:xfrm>
            <a:off x="9218295" y="1275715"/>
            <a:ext cx="2624455" cy="141287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Best params (</a:t>
            </a:r>
            <a:r>
              <a:rPr lang="en-US" altLang="zh-CN" sz="1000" dirty="0" err="1">
                <a:latin typeface="Consolas" panose="020B0609020204030204" pitchFamily="49" charset="0"/>
              </a:rPr>
              <a:t>xgboost_tuned</a:t>
            </a:r>
            <a:r>
              <a:rPr lang="en-US" altLang="zh-CN" sz="1000" dirty="0">
                <a:latin typeface="Consolas" panose="020B0609020204030204" pitchFamily="49" charset="0"/>
              </a:rPr>
              <a:t>): {'</a:t>
            </a:r>
            <a:r>
              <a:rPr lang="en-US" altLang="zh-CN" sz="1000" dirty="0" err="1">
                <a:latin typeface="Consolas" panose="020B0609020204030204" pitchFamily="49" charset="0"/>
              </a:rPr>
              <a:t>colsample_bytree</a:t>
            </a:r>
            <a:r>
              <a:rPr lang="en-US" altLang="zh-CN" sz="1000" dirty="0">
                <a:latin typeface="Consolas" panose="020B0609020204030204" pitchFamily="49" charset="0"/>
              </a:rPr>
              <a:t>': 0.5875581919673329, 'gamma': 0.0004302614800676075, '</a:t>
            </a:r>
            <a:r>
              <a:rPr lang="en-US" altLang="zh-CN" sz="1000" dirty="0" err="1">
                <a:latin typeface="Consolas" panose="020B0609020204030204" pitchFamily="49" charset="0"/>
              </a:rPr>
              <a:t>learning_rate</a:t>
            </a:r>
            <a:r>
              <a:rPr lang="en-US" altLang="zh-CN" sz="1000" dirty="0">
                <a:latin typeface="Consolas" panose="020B0609020204030204" pitchFamily="49" charset="0"/>
              </a:rPr>
              <a:t>': 0.23717426076930576, '</a:t>
            </a:r>
            <a:r>
              <a:rPr lang="en-US" altLang="zh-CN" sz="1000" dirty="0" err="1">
                <a:latin typeface="Consolas" panose="020B0609020204030204" pitchFamily="49" charset="0"/>
              </a:rPr>
              <a:t>max_depth</a:t>
            </a:r>
            <a:r>
              <a:rPr lang="en-US" altLang="zh-CN" sz="1000" dirty="0">
                <a:latin typeface="Consolas" panose="020B0609020204030204" pitchFamily="49" charset="0"/>
              </a:rPr>
              <a:t>': 14, '</a:t>
            </a:r>
            <a:r>
              <a:rPr lang="en-US" altLang="zh-CN" sz="1000" dirty="0" err="1">
                <a:latin typeface="Consolas" panose="020B0609020204030204" pitchFamily="49" charset="0"/>
              </a:rPr>
              <a:t>n_estimators</a:t>
            </a:r>
            <a:r>
              <a:rPr lang="en-US" altLang="zh-CN" sz="1000" dirty="0">
                <a:latin typeface="Consolas" panose="020B0609020204030204" pitchFamily="49" charset="0"/>
              </a:rPr>
              <a:t>': 245, '</a:t>
            </a:r>
            <a:r>
              <a:rPr lang="en-US" altLang="zh-CN" sz="1000" dirty="0" err="1">
                <a:latin typeface="Consolas" panose="020B0609020204030204" pitchFamily="49" charset="0"/>
              </a:rPr>
              <a:t>reg_alpha</a:t>
            </a:r>
            <a:r>
              <a:rPr lang="en-US" altLang="zh-CN" sz="1000" dirty="0">
                <a:latin typeface="Consolas" panose="020B0609020204030204" pitchFamily="49" charset="0"/>
              </a:rPr>
              <a:t>': 0.00017320857784693374, '</a:t>
            </a:r>
            <a:r>
              <a:rPr lang="en-US" altLang="zh-CN" sz="1000" dirty="0" err="1">
                <a:latin typeface="Consolas" panose="020B0609020204030204" pitchFamily="49" charset="0"/>
              </a:rPr>
              <a:t>reg_lambda</a:t>
            </a:r>
            <a:r>
              <a:rPr lang="en-US" altLang="zh-CN" sz="1000" dirty="0">
                <a:latin typeface="Consolas" panose="020B0609020204030204" pitchFamily="49" charset="0"/>
              </a:rPr>
              <a:t>': 2.9143439864895515e-06, 'subsample': 0.5131920745577545}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7.7352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0.9964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11.0036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408940" y="3820795"/>
            <a:ext cx="11211560" cy="201739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Predicting runtime for KF on Cortex-R5F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Test size: 0.3, Lower bound: 1.0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Method: xgboost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1: MAPE=0.1170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R2=0.9924, RMSE=19.5764 (s), RMSE%_mean=8.72%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RMSE%_range=2.61%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2: MAPE=0.1522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R2=0.9938, RMSE=16.7722 (s), RMSE%_mean=9.35%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RMSE%_range=2.24%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6: MAPE=0.1224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R2=0.9908, RMSE=20.3722 (s), RMSE%_mean=10.56%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RMSE%_range=2.95%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42: MAPE=0.1443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R2=0.9896, RMSE=19.1469 (s), RMSE%_mean=11.37%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RMSE%_range=2.77%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123: MAPE=0.0912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R2=0.9946, RMSE=14.9641 (s), RMSE%_mean=6.45%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RMSE%_range=2.24%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2025: MAPE=0.1541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R2=0.9920, RMSE=20.4605 (s), RMSE%_mean=9.24%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RMSE%_range=2.73%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33550336: MAPE=0.1315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R2=0.9918, RMSE=21.9011 (s), RMSE%_mean=10.34%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RMSE%_range=2.92%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MAPE: 0.1304 ± 0.0224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R2:   0.9921 ± 0.0017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RMSE: 19.0276 ± 2.3816 (s)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RMSE%_mean: 9.43% ± 1.60%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RMSE%_range: 2.64% ± 0.30%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0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9" name="标题 1"/>
          <p:cNvSpPr>
            <a:spLocks noGrp="1"/>
          </p:cNvSpPr>
          <p:nvPr/>
        </p:nvSpPr>
        <p:spPr>
          <a:xfrm>
            <a:off x="323850" y="3194866"/>
            <a:ext cx="10515600" cy="595921"/>
          </a:xfrm>
        </p:spPr>
        <p:txBody>
          <a:bodyPr>
            <a:normAutofit fontScale="6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rgbClr val="0070C0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solidFill>
                  <a:schemeClr val="tx1"/>
                </a:solidFill>
                <a:sym typeface="+mn-ea"/>
              </a:rPr>
              <a:t>效果不佳，如上。</a:t>
            </a:r>
          </a:p>
          <a:p>
            <a:r>
              <a:rPr lang="zh-CN" altLang="en-US">
                <a:solidFill>
                  <a:srgbClr val="00B0F0"/>
                </a:solidFill>
                <a:latin typeface="+mn-ea"/>
                <a:sym typeface="+mn-ea"/>
              </a:rPr>
              <a:t>剔除运行时间不大于</a:t>
            </a:r>
            <a:r>
              <a:rPr lang="en-US" altLang="zh-CN">
                <a:solidFill>
                  <a:srgbClr val="00B0F0"/>
                </a:solidFill>
                <a:latin typeface="+mn-ea"/>
                <a:sym typeface="+mn-ea"/>
              </a:rPr>
              <a:t>1</a:t>
            </a:r>
            <a:r>
              <a:rPr lang="zh-CN" altLang="en-US">
                <a:solidFill>
                  <a:srgbClr val="00B0F0"/>
                </a:solidFill>
                <a:latin typeface="+mn-ea"/>
                <a:sym typeface="+mn-ea"/>
              </a:rPr>
              <a:t>秒的样本后，表现改善</a:t>
            </a:r>
            <a:endParaRPr lang="zh-CN" altLang="en-US"/>
          </a:p>
          <a:p>
            <a:endParaRPr lang="zh-CN" altLang="en-US" sz="2800"/>
          </a:p>
        </p:txBody>
      </p:sp>
      <p:sp>
        <p:nvSpPr>
          <p:cNvPr id="10" name="标题 1"/>
          <p:cNvSpPr txBox="1"/>
          <p:nvPr/>
        </p:nvSpPr>
        <p:spPr>
          <a:xfrm>
            <a:off x="257446" y="551877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522730" y="4044315"/>
            <a:ext cx="1864360" cy="21844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9286875" y="3377565"/>
            <a:ext cx="2333625" cy="22987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 anchor="t">
            <a:spAutoFit/>
          </a:bodyPr>
          <a:lstStyle/>
          <a:p>
            <a:r>
              <a:rPr lang="zh-CN" altLang="en-US" sz="900" dirty="0">
                <a:sym typeface="+mn-ea"/>
              </a:rPr>
              <a:t>引入</a:t>
            </a:r>
            <a:r>
              <a:rPr lang="en-US" altLang="zh-CN" sz="900" dirty="0" err="1">
                <a:sym typeface="+mn-ea"/>
              </a:rPr>
              <a:t>RandomizedSearchCV</a:t>
            </a:r>
            <a:r>
              <a:rPr lang="zh-CN" altLang="en-US" sz="900" dirty="0">
                <a:sym typeface="+mn-ea"/>
              </a:rPr>
              <a:t>自动搜索参数</a:t>
            </a:r>
          </a:p>
        </p:txBody>
      </p:sp>
      <p:sp>
        <p:nvSpPr>
          <p:cNvPr id="13" name="文本框 12"/>
          <p:cNvSpPr txBox="1"/>
          <p:nvPr/>
        </p:nvSpPr>
        <p:spPr>
          <a:xfrm>
            <a:off x="4017645" y="2870200"/>
            <a:ext cx="810895" cy="22987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 anchor="t">
            <a:spAutoFit/>
          </a:bodyPr>
          <a:lstStyle/>
          <a:p>
            <a:r>
              <a:rPr lang="zh-CN" altLang="en-US" sz="900" dirty="0">
                <a:sym typeface="+mn-ea"/>
              </a:rPr>
              <a:t>手动调参</a:t>
            </a:r>
          </a:p>
        </p:txBody>
      </p:sp>
    </p:spTree>
  </p:cSld>
  <p:clrMapOvr>
    <a:masterClrMapping/>
  </p:clrMapOvr>
  <p:transition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idx="4294967295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en-US" altLang="zh-CN" sz="2800" dirty="0" err="1"/>
              <a:t>XGBoost</a:t>
            </a:r>
            <a:r>
              <a:rPr lang="zh-CN" altLang="en-US" sz="2800" dirty="0"/>
              <a:t>回归</a:t>
            </a:r>
            <a:r>
              <a:rPr lang="en-US" altLang="zh-CN" sz="2800" dirty="0"/>
              <a:t> FFT</a:t>
            </a: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57175" y="807720"/>
            <a:ext cx="3178810" cy="2384425"/>
          </a:xfrm>
          <a:prstGeom prst="rect">
            <a:avLst/>
          </a:prstGeom>
        </p:spPr>
      </p:pic>
      <p:sp>
        <p:nvSpPr>
          <p:cNvPr id="8" name="标题 1"/>
          <p:cNvSpPr txBox="1"/>
          <p:nvPr/>
        </p:nvSpPr>
        <p:spPr>
          <a:xfrm>
            <a:off x="3122022" y="73601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model = </a:t>
            </a:r>
            <a:r>
              <a:rPr lang="en-US" altLang="zh-CN" sz="1000" dirty="0" err="1">
                <a:latin typeface="Consolas" panose="020B0609020204030204" pitchFamily="49" charset="0"/>
              </a:rPr>
              <a:t>XGBRegressor</a:t>
            </a:r>
            <a:r>
              <a:rPr lang="en-US" altLang="zh-CN" sz="1000" dirty="0">
                <a:latin typeface="Consolas" panose="020B0609020204030204" pitchFamily="49" charset="0"/>
              </a:rPr>
              <a:t>(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n_estimators</a:t>
            </a:r>
            <a:r>
              <a:rPr lang="en-US" altLang="zh-CN" sz="1000" dirty="0">
                <a:latin typeface="Consolas" panose="020B0609020204030204" pitchFamily="49" charset="0"/>
              </a:rPr>
              <a:t>=500,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max_depth</a:t>
            </a:r>
            <a:r>
              <a:rPr lang="en-US" altLang="zh-CN" sz="1000" dirty="0">
                <a:latin typeface="Consolas" panose="020B0609020204030204" pitchFamily="49" charset="0"/>
              </a:rPr>
              <a:t>=15,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learning_rate</a:t>
            </a:r>
            <a:r>
              <a:rPr lang="en-US" altLang="zh-CN" sz="1000" dirty="0">
                <a:latin typeface="Consolas" panose="020B0609020204030204" pitchFamily="49" charset="0"/>
              </a:rPr>
              <a:t>=0.05,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random_state</a:t>
            </a:r>
            <a:r>
              <a:rPr lang="en-US" altLang="zh-CN" sz="1000" dirty="0">
                <a:latin typeface="Consolas" panose="020B0609020204030204" pitchFamily="49" charset="0"/>
              </a:rPr>
              <a:t>=2,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n_jobs</a:t>
            </a:r>
            <a:r>
              <a:rPr lang="en-US" altLang="zh-CN" sz="1000" dirty="0">
                <a:latin typeface="Consolas" panose="020B0609020204030204" pitchFamily="49" charset="0"/>
              </a:rPr>
              <a:t>=-1,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verbosity=0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)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3.2217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0.6639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199.3429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24097" y="3464294"/>
            <a:ext cx="3912324" cy="2934243"/>
          </a:xfrm>
          <a:prstGeom prst="rect">
            <a:avLst/>
          </a:prstGeom>
        </p:spPr>
      </p:pic>
      <p:sp>
        <p:nvSpPr>
          <p:cNvPr id="7" name="标题 1"/>
          <p:cNvSpPr txBox="1"/>
          <p:nvPr/>
        </p:nvSpPr>
        <p:spPr>
          <a:xfrm>
            <a:off x="4036422" y="3537168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Best params (</a:t>
            </a:r>
            <a:r>
              <a:rPr lang="en-US" altLang="zh-CN" sz="1000" dirty="0" err="1">
                <a:latin typeface="Consolas" panose="020B0609020204030204" pitchFamily="49" charset="0"/>
              </a:rPr>
              <a:t>xgboost_tuned</a:t>
            </a:r>
            <a:r>
              <a:rPr lang="en-US" altLang="zh-CN" sz="1000" dirty="0">
                <a:latin typeface="Consolas" panose="020B0609020204030204" pitchFamily="49" charset="0"/>
              </a:rPr>
              <a:t>): {'</a:t>
            </a:r>
            <a:r>
              <a:rPr lang="en-US" altLang="zh-CN" sz="1000" dirty="0" err="1">
                <a:latin typeface="Consolas" panose="020B0609020204030204" pitchFamily="49" charset="0"/>
              </a:rPr>
              <a:t>colsample_bytree</a:t>
            </a:r>
            <a:r>
              <a:rPr lang="en-US" altLang="zh-CN" sz="1000" dirty="0">
                <a:latin typeface="Consolas" panose="020B0609020204030204" pitchFamily="49" charset="0"/>
              </a:rPr>
              <a:t>': 0.9902425394993892, 'gamma': 1.6454409475075095e-06, '</a:t>
            </a:r>
            <a:r>
              <a:rPr lang="en-US" altLang="zh-CN" sz="1000" dirty="0" err="1">
                <a:latin typeface="Consolas" panose="020B0609020204030204" pitchFamily="49" charset="0"/>
              </a:rPr>
              <a:t>learning_rate</a:t>
            </a:r>
            <a:r>
              <a:rPr lang="en-US" altLang="zh-CN" sz="1000" dirty="0">
                <a:latin typeface="Consolas" panose="020B0609020204030204" pitchFamily="49" charset="0"/>
              </a:rPr>
              <a:t>': 0.13578266219061227, '</a:t>
            </a:r>
            <a:r>
              <a:rPr lang="en-US" altLang="zh-CN" sz="1000" dirty="0" err="1">
                <a:latin typeface="Consolas" panose="020B0609020204030204" pitchFamily="49" charset="0"/>
              </a:rPr>
              <a:t>max_depth</a:t>
            </a:r>
            <a:r>
              <a:rPr lang="en-US" altLang="zh-CN" sz="1000" dirty="0">
                <a:latin typeface="Consolas" panose="020B0609020204030204" pitchFamily="49" charset="0"/>
              </a:rPr>
              <a:t>': 5, '</a:t>
            </a:r>
            <a:r>
              <a:rPr lang="en-US" altLang="zh-CN" sz="1000" dirty="0" err="1">
                <a:latin typeface="Consolas" panose="020B0609020204030204" pitchFamily="49" charset="0"/>
              </a:rPr>
              <a:t>n_estimators</a:t>
            </a:r>
            <a:r>
              <a:rPr lang="en-US" altLang="zh-CN" sz="1000" dirty="0">
                <a:latin typeface="Consolas" panose="020B0609020204030204" pitchFamily="49" charset="0"/>
              </a:rPr>
              <a:t>': 440, '</a:t>
            </a:r>
            <a:r>
              <a:rPr lang="en-US" altLang="zh-CN" sz="1000" dirty="0" err="1">
                <a:latin typeface="Consolas" panose="020B0609020204030204" pitchFamily="49" charset="0"/>
              </a:rPr>
              <a:t>reg_alpha</a:t>
            </a:r>
            <a:r>
              <a:rPr lang="en-US" altLang="zh-CN" sz="1000" dirty="0">
                <a:latin typeface="Consolas" panose="020B0609020204030204" pitchFamily="49" charset="0"/>
              </a:rPr>
              <a:t>': 2.5418943562330136e-07, '</a:t>
            </a:r>
            <a:r>
              <a:rPr lang="en-US" altLang="zh-CN" sz="1000" dirty="0" err="1">
                <a:latin typeface="Consolas" panose="020B0609020204030204" pitchFamily="49" charset="0"/>
              </a:rPr>
              <a:t>reg_lambda</a:t>
            </a:r>
            <a:r>
              <a:rPr lang="en-US" altLang="zh-CN" sz="1000" dirty="0">
                <a:latin typeface="Consolas" panose="020B0609020204030204" pitchFamily="49" charset="0"/>
              </a:rPr>
              <a:t>': 1.973004444308398e-06, 'subsample': 0.8628150378383002}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2.3804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0.6639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199.3426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953250" y="4196715"/>
            <a:ext cx="2333625" cy="22987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 anchor="t">
            <a:spAutoFit/>
          </a:bodyPr>
          <a:lstStyle/>
          <a:p>
            <a:r>
              <a:rPr lang="zh-CN" altLang="en-US" sz="900" dirty="0">
                <a:sym typeface="+mn-ea"/>
              </a:rPr>
              <a:t>引入</a:t>
            </a:r>
            <a:r>
              <a:rPr lang="en-US" altLang="zh-CN" sz="900" dirty="0" err="1">
                <a:sym typeface="+mn-ea"/>
              </a:rPr>
              <a:t>RandomizedSearchCV</a:t>
            </a:r>
            <a:r>
              <a:rPr lang="zh-CN" altLang="en-US" sz="900" dirty="0">
                <a:sym typeface="+mn-ea"/>
              </a:rPr>
              <a:t>自动搜索参数</a:t>
            </a:r>
          </a:p>
        </p:txBody>
      </p:sp>
      <p:sp>
        <p:nvSpPr>
          <p:cNvPr id="13" name="文本框 12"/>
          <p:cNvSpPr txBox="1"/>
          <p:nvPr/>
        </p:nvSpPr>
        <p:spPr>
          <a:xfrm>
            <a:off x="7074535" y="2127250"/>
            <a:ext cx="810895" cy="22987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 anchor="t">
            <a:spAutoFit/>
          </a:bodyPr>
          <a:lstStyle/>
          <a:p>
            <a:r>
              <a:rPr lang="zh-CN" altLang="en-US" sz="900" dirty="0">
                <a:sym typeface="+mn-ea"/>
              </a:rPr>
              <a:t>手动调参</a:t>
            </a:r>
          </a:p>
        </p:txBody>
      </p:sp>
    </p:spTree>
  </p:cSld>
  <p:clrMapOvr>
    <a:masterClrMapping/>
  </p:clrMapOvr>
  <p:transition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idx="4294967295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en-US" altLang="zh-CN" sz="2800" dirty="0"/>
              <a:t>Hybrid   Matrix_Multiply</a:t>
            </a: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269365" y="706755"/>
            <a:ext cx="2903855" cy="1927225"/>
          </a:xfrm>
          <a:prstGeom prst="rect">
            <a:avLst/>
          </a:prstGeom>
        </p:spPr>
      </p:pic>
      <p:sp>
        <p:nvSpPr>
          <p:cNvPr id="8" name="标题 1"/>
          <p:cNvSpPr txBox="1"/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3.2217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0.6639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199.3429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209551" y="3191982"/>
            <a:ext cx="12192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Matrix_Multiply on Cortex-R5F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1.0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1: MAPE=0.0668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R2=0.9983, RMSE=4.0440 (s), RMSE%_mean=3.78%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RMSE%_range=1.08%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2: MAPE=0.1348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R2=0.9978, RMSE=5.4996 (s), RMSE%_mean=5.69%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RMSE%_range=1.47%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6: MAPE=0.0879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R2=0.9980, RMSE=3.9983 (s), RMSE%_mean=4.77%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RMSE%_range=1.13%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42: MAPE=0.1121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R2=0.9964, RMSE=5.9713 (s), RMSE%_mean=6.59%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RMSE%_range=1.79%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123: MAPE=0.0422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R2=0.9987, RMSE=3.8817 (s), RMSE%_mean=3.16%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RMSE%_range=1.13%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2025: MAPE=0.1146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R2=0.9990, RMSE=3.3372 (s), RMSE%_mean=3.10%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RMSE%_range=1.00%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33550336: MAPE=0.1561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R2=0.9989, RMSE=3.3865 (s), RMSE%_mean=3.67%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RMSE%_range=0.91%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0.1021 ± 0.0393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0.9982 ± 0.0009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4.3027 ± 1.0268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4.39% ± 1.34%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1.22% ± 0.31%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3" name="标题 1"/>
          <p:cNvSpPr>
            <a:spLocks noGrp="1"/>
          </p:cNvSpPr>
          <p:nvPr/>
        </p:nvSpPr>
        <p:spPr>
          <a:xfrm>
            <a:off x="400050" y="2716076"/>
            <a:ext cx="10515600" cy="595921"/>
          </a:xfrm>
        </p:spPr>
        <p:txBody>
          <a:bodyPr>
            <a:normAutofit fontScale="6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rgbClr val="0070C0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solidFill>
                  <a:schemeClr val="tx1"/>
                </a:solidFill>
                <a:sym typeface="+mn-ea"/>
              </a:rPr>
              <a:t>效果不佳，如上。</a:t>
            </a:r>
          </a:p>
          <a:p>
            <a:r>
              <a:rPr lang="zh-CN" altLang="en-US">
                <a:solidFill>
                  <a:srgbClr val="00B0F0"/>
                </a:solidFill>
                <a:latin typeface="+mn-ea"/>
                <a:sym typeface="+mn-ea"/>
              </a:rPr>
              <a:t>剔除运行时间不大于</a:t>
            </a:r>
            <a:r>
              <a:rPr lang="en-US" altLang="zh-CN">
                <a:solidFill>
                  <a:srgbClr val="00B0F0"/>
                </a:solidFill>
                <a:latin typeface="+mn-ea"/>
                <a:sym typeface="+mn-ea"/>
              </a:rPr>
              <a:t>1</a:t>
            </a:r>
            <a:r>
              <a:rPr lang="zh-CN" altLang="en-US">
                <a:solidFill>
                  <a:srgbClr val="00B0F0"/>
                </a:solidFill>
                <a:latin typeface="+mn-ea"/>
                <a:sym typeface="+mn-ea"/>
              </a:rPr>
              <a:t>秒的样本后，表现改善</a:t>
            </a:r>
            <a:endParaRPr lang="zh-CN" altLang="en-US"/>
          </a:p>
          <a:p>
            <a:endParaRPr lang="zh-CN" altLang="en-US"/>
          </a:p>
          <a:p>
            <a:endParaRPr lang="zh-CN" altLang="en-US" sz="2800"/>
          </a:p>
        </p:txBody>
      </p:sp>
      <p:sp>
        <p:nvSpPr>
          <p:cNvPr id="12" name="矩形 11"/>
          <p:cNvSpPr/>
          <p:nvPr/>
        </p:nvSpPr>
        <p:spPr>
          <a:xfrm>
            <a:off x="1789633" y="3415335"/>
            <a:ext cx="1864158" cy="3135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p:transition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idx="4294967295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en-US" altLang="zh-CN" sz="2800" dirty="0"/>
              <a:t>Hybrid   KF</a:t>
            </a:r>
            <a:endParaRPr lang="zh-CN" altLang="en-US" sz="2800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51840" y="678815"/>
            <a:ext cx="3388995" cy="2037080"/>
          </a:xfrm>
          <a:prstGeom prst="rect">
            <a:avLst/>
          </a:prstGeom>
        </p:spPr>
      </p:pic>
      <p:sp>
        <p:nvSpPr>
          <p:cNvPr id="8" name="标题 1"/>
          <p:cNvSpPr txBox="1"/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625.5941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0.9993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4.9308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123826" y="3191982"/>
            <a:ext cx="12192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KF on Cortex-R5F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1.0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1: MAPE=0.0691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R2=0.9988, RMSE=7.6440 (s), RMSE%_mean=3.40%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RMSE%_range=1.02%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2: MAPE=0.2003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R2=0.9969, RMSE=11.8150 (s), RMSE%_mean=6.59%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RMSE%_range=1.58%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6: MAPE=0.1352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R2=0.9977, RMSE=10.2747 (s), RMSE%_mean=5.32%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RMSE%_range=1.49%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42: MAPE=0.1009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R2=0.9997, RMSE=3.1256 (s), RMSE%_mean=1.86%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RMSE%_range=0.45%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123: MAPE=0.0602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R2=0.9972, RMSE=10.8063 (s), RMSE%_mean=4.66%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RMSE%_range=1.62%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2025: MAPE=0.3489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R2=0.9989, RMSE=7.6380 (s), RMSE%_mean=3.45%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RMSE%_range=1.02%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33550336: MAPE=0.2505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R2=0.9992, RMSE=7.0094 (s), RMSE%_mean=3.31%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RMSE%_range=0.94%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0.1664 ± 0.1061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0.9983 ± 0.0011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8.3305 ± 2.9393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4.08% ± 1.56%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1.16% ± 0.42%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4" name="标题 1"/>
          <p:cNvSpPr txBox="1"/>
          <p:nvPr/>
        </p:nvSpPr>
        <p:spPr>
          <a:xfrm>
            <a:off x="247921" y="542606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703908" y="3415335"/>
            <a:ext cx="1864158" cy="3135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标题 1"/>
          <p:cNvSpPr>
            <a:spLocks noGrp="1"/>
          </p:cNvSpPr>
          <p:nvPr/>
        </p:nvSpPr>
        <p:spPr>
          <a:xfrm>
            <a:off x="400050" y="2716076"/>
            <a:ext cx="10515600" cy="595921"/>
          </a:xfrm>
        </p:spPr>
        <p:txBody>
          <a:bodyPr>
            <a:normAutofit fontScale="6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rgbClr val="0070C0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solidFill>
                  <a:schemeClr val="tx1"/>
                </a:solidFill>
                <a:sym typeface="+mn-ea"/>
              </a:rPr>
              <a:t>效果不佳，如上。</a:t>
            </a:r>
          </a:p>
          <a:p>
            <a:r>
              <a:rPr lang="zh-CN" altLang="en-US">
                <a:solidFill>
                  <a:srgbClr val="00B0F0"/>
                </a:solidFill>
                <a:latin typeface="+mn-ea"/>
                <a:sym typeface="+mn-ea"/>
              </a:rPr>
              <a:t>剔除运行时间不大于</a:t>
            </a:r>
            <a:r>
              <a:rPr lang="en-US" altLang="zh-CN">
                <a:solidFill>
                  <a:srgbClr val="00B0F0"/>
                </a:solidFill>
                <a:latin typeface="+mn-ea"/>
                <a:sym typeface="+mn-ea"/>
              </a:rPr>
              <a:t>1</a:t>
            </a:r>
            <a:r>
              <a:rPr lang="zh-CN" altLang="en-US">
                <a:solidFill>
                  <a:srgbClr val="00B0F0"/>
                </a:solidFill>
                <a:latin typeface="+mn-ea"/>
                <a:sym typeface="+mn-ea"/>
              </a:rPr>
              <a:t>秒的样本后，表现改善</a:t>
            </a:r>
            <a:endParaRPr lang="zh-CN" altLang="en-US"/>
          </a:p>
          <a:p>
            <a:endParaRPr lang="zh-CN" altLang="en-US"/>
          </a:p>
          <a:p>
            <a:endParaRPr lang="zh-CN" altLang="en-US" sz="2800"/>
          </a:p>
        </p:txBody>
      </p:sp>
    </p:spTree>
  </p:cSld>
  <p:clrMapOvr>
    <a:masterClrMapping/>
  </p:clrMapOvr>
  <p:transition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/>
          <p:cNvSpPr txBox="1"/>
          <p:nvPr/>
        </p:nvSpPr>
        <p:spPr>
          <a:xfrm>
            <a:off x="381000" y="3707765"/>
            <a:ext cx="8782685" cy="25533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Predicting runtime for FFT on Cortex-R5F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Test size: 0.3, Lower bound: 0.0005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1: MAPE=0.0391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R2=1.0000, RMSE=0.3308 (s), RMSE%_mean=0.23%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RMSE%_range=0.04%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N=9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2: MAPE=0.0391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R2=1.0000, RMSE=0.1386 (s), RMSE%_mean=0.20%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RMSE%_range=0.03%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N=9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6: MAPE=0.1340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R2=1.0000, RMSE=0.3902 (s), RMSE%_mean=0.39%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RMSE%_range=0.05%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N=9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42: MAPE=0.0208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R2=1.0000, RMSE=0.1449 (s), RMSE%_mean=0.20%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RMSE%_range=0.04%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N=9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123: MAPE=0.0638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R2=1.0000, RMSE=0.0099 (s), RMSE%_mean=0.55%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RMSE%_range=0.10%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N=9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2025: MAPE=0.0691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R2=1.0000, RMSE=0.0506 (s), RMSE%_mean=0.14%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RMSE%_range=0.03%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N=9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33550336: MAPE=0.0458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R2=1.0000, RMSE=0.3912 (s), RMSE%_mean=0.39%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RMSE%_range=0.05%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N=9</a:t>
            </a:r>
          </a:p>
          <a:p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MAPE: 0.0588 ± 0.0369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R2:   1.0000 ± 0.0000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RMSE: 0.2080 ± 0.1605 (s)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RMSE%_mean: 0.30% ± 0.15%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RMSE%_range: 0.05% ± 0.02%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0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idx="4294967295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en-US" altLang="zh-CN" sz="2800" dirty="0"/>
              <a:t>Hybrid  FFT</a:t>
            </a:r>
            <a:endParaRPr lang="zh-CN" altLang="en-US" sz="2800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028065" y="720725"/>
            <a:ext cx="2950845" cy="2098675"/>
          </a:xfrm>
          <a:prstGeom prst="rect">
            <a:avLst/>
          </a:prstGeom>
        </p:spPr>
      </p:pic>
      <p:sp>
        <p:nvSpPr>
          <p:cNvPr id="8" name="标题 1"/>
          <p:cNvSpPr txBox="1"/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0.9842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1.0000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0.5302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sp>
        <p:nvSpPr>
          <p:cNvPr id="3" name="标题 1"/>
          <p:cNvSpPr>
            <a:spLocks noGrp="1"/>
          </p:cNvSpPr>
          <p:nvPr/>
        </p:nvSpPr>
        <p:spPr>
          <a:xfrm>
            <a:off x="473710" y="2966085"/>
            <a:ext cx="5867400" cy="595630"/>
          </a:xfrm>
        </p:spPr>
        <p:txBody>
          <a:bodyPr>
            <a:normAutofit fontScale="6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rgbClr val="0070C0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solidFill>
                  <a:schemeClr val="tx1"/>
                </a:solidFill>
                <a:sym typeface="+mn-ea"/>
              </a:rPr>
              <a:t>效果不佳，如上。</a:t>
            </a:r>
          </a:p>
          <a:p>
            <a:r>
              <a:rPr lang="zh-CN" altLang="en-US">
                <a:solidFill>
                  <a:srgbClr val="00B0F0"/>
                </a:solidFill>
                <a:latin typeface="+mn-ea"/>
                <a:sym typeface="+mn-ea"/>
              </a:rPr>
              <a:t>剔除运行时间不大于</a:t>
            </a:r>
            <a:r>
              <a:rPr lang="en-US" altLang="zh-CN">
                <a:solidFill>
                  <a:srgbClr val="00B0F0"/>
                </a:solidFill>
                <a:latin typeface="+mn-ea"/>
                <a:sym typeface="+mn-ea"/>
              </a:rPr>
              <a:t>0.0005</a:t>
            </a:r>
            <a:r>
              <a:rPr lang="zh-CN" altLang="en-US">
                <a:solidFill>
                  <a:srgbClr val="00B0F0"/>
                </a:solidFill>
                <a:latin typeface="+mn-ea"/>
                <a:sym typeface="+mn-ea"/>
              </a:rPr>
              <a:t>秒的样本后，表现改善</a:t>
            </a:r>
            <a:endParaRPr lang="zh-CN" altLang="en-US"/>
          </a:p>
          <a:p>
            <a:endParaRPr lang="zh-CN" altLang="en-US"/>
          </a:p>
          <a:p>
            <a:endParaRPr lang="zh-CN" altLang="en-US" sz="2800"/>
          </a:p>
        </p:txBody>
      </p:sp>
      <p:sp>
        <p:nvSpPr>
          <p:cNvPr id="12" name="矩形 11"/>
          <p:cNvSpPr/>
          <p:nvPr/>
        </p:nvSpPr>
        <p:spPr>
          <a:xfrm>
            <a:off x="1961082" y="3930955"/>
            <a:ext cx="2040941" cy="3135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4552950" y="5377815"/>
            <a:ext cx="3256280" cy="1168400"/>
          </a:xfrm>
          <a:prstGeom prst="rect">
            <a:avLst/>
          </a:prstGeom>
          <a:noFill/>
          <a:ln>
            <a:solidFill>
              <a:schemeClr val="accent1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Test size: 0.3, Lower bound: 0.0001</a:t>
            </a:r>
          </a:p>
          <a:p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MAPE: 0.2050 ± 0.0923 (差)</a:t>
            </a:r>
          </a:p>
          <a:p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R2:   1.0000 ± 0.0000</a:t>
            </a:r>
          </a:p>
          <a:p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RMSE: 0.1905 ± 0.1472 (s)</a:t>
            </a:r>
          </a:p>
          <a:p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RMSE%_mean: 0.38% ± 0.25% (优秀)</a:t>
            </a:r>
          </a:p>
          <a:p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RMSE%_range: 0.05% ± 0.04% (优秀)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8225790" y="1884680"/>
            <a:ext cx="3682365" cy="204533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2800">
                <a:solidFill>
                  <a:schemeClr val="tx1"/>
                </a:solidFill>
                <a:uFillTx/>
              </a:rPr>
              <a:t>这么多实验结果显示：</a:t>
            </a:r>
            <a:r>
              <a:rPr lang="zh-CN" altLang="en-US" sz="2800">
                <a:solidFill>
                  <a:srgbClr val="FF0000"/>
                </a:solidFill>
                <a:uFillTx/>
              </a:rPr>
              <a:t>运行时间值很小的样本，对预测效果有很大的副作用！</a:t>
            </a:r>
          </a:p>
        </p:txBody>
      </p:sp>
    </p:spTree>
  </p:cSld>
  <p:clrMapOvr>
    <a:masterClrMapping/>
  </p:clrMapOvr>
  <p:transition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124097" y="600891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Predicting runtime for AES on R5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Method: curve_fit</a:t>
            </a:r>
          </a:p>
          <a:p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MAPE: 0.0177 ± 0.0123 (优秀)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R2:   0.9999 ± 0.0002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RMSE: 0.0000 ± 0.0000 (s)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RMSE%_mean: 0.56% ± 0.27% (优秀)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RMSE%_range: 0.31% ± 0.25% (优秀)</a:t>
            </a:r>
          </a:p>
        </p:txBody>
      </p:sp>
      <p:sp>
        <p:nvSpPr>
          <p:cNvPr id="6" name="标题 1"/>
          <p:cNvSpPr txBox="1"/>
          <p:nvPr/>
        </p:nvSpPr>
        <p:spPr>
          <a:xfrm>
            <a:off x="124097" y="143056"/>
            <a:ext cx="6950697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800" b="1">
                <a:solidFill>
                  <a:srgbClr val="0070C0"/>
                </a:solidFill>
              </a:rPr>
              <a:t>Curve </a:t>
            </a:r>
            <a:r>
              <a:rPr lang="zh-CN" altLang="en-US" sz="2800" b="1">
                <a:solidFill>
                  <a:srgbClr val="0070C0"/>
                </a:solidFill>
              </a:rPr>
              <a:t>和</a:t>
            </a:r>
            <a:r>
              <a:rPr lang="en-US" altLang="zh-CN" sz="2800" b="1">
                <a:solidFill>
                  <a:srgbClr val="0070C0"/>
                </a:solidFill>
              </a:rPr>
              <a:t> Hybrid     </a:t>
            </a:r>
            <a:r>
              <a:rPr lang="en-US" altLang="zh-CN" sz="2800" b="1">
                <a:solidFill>
                  <a:schemeClr val="tx1"/>
                </a:solidFill>
              </a:rPr>
              <a:t>AES</a:t>
            </a:r>
            <a:endParaRPr lang="en-US" altLang="zh-CN" sz="2800" b="1" dirty="0">
              <a:solidFill>
                <a:schemeClr val="tx1"/>
              </a:solidFill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096000" y="600891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AES on R5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0.0196 ± 0.0120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0.9999 ± 0.0002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0.0000 ± 0.0000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0.58% ± 0.26%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0.33% ± 0.25%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124095" y="2632216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Predicting runtime for AES on 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A72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Method: curve_fit</a:t>
            </a:r>
          </a:p>
          <a:p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0.0248 ± 0.0300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1.0000 ± 0.0000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0.0005 ± 0.0004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0.18% ± 0.06%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0.05% ± 0.02%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124095" y="4663541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AES on M7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curve_fit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0.0248 ± 0.0300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1.0000 ± 0.0000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0.0005 ± 0.0004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0.18% ± 0.06%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0.05% ± 0.02%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6095999" y="2632216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AES on A72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0.0052 ± 0.0034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1.0000 ± 0.0000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0.0005 ± 0.0004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0.18% ± 0.07%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0.05% ± 0.02%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095999" y="4663540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AES on M7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0.0052 ± 0.0034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1.0000 ± 0.0000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0.0005 ± 0.0004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0.18% ± 0.07%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0.05% ± 0.02%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</p:spTree>
  </p:cSld>
  <p:clrMapOvr>
    <a:masterClrMapping/>
  </p:clrMapOvr>
  <p:transition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124097" y="600891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MD5 on R5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curve_fit</a:t>
            </a:r>
          </a:p>
          <a:p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0.2809 ± 0.1202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0.8010 ± 0.2110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0.0000 ± 0.0000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29.00% ± 11.20%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18.08% ± 7.61%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6" name="标题 1"/>
          <p:cNvSpPr txBox="1"/>
          <p:nvPr/>
        </p:nvSpPr>
        <p:spPr>
          <a:xfrm>
            <a:off x="124097" y="143056"/>
            <a:ext cx="6950697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800" b="1">
                <a:solidFill>
                  <a:srgbClr val="0070C0"/>
                </a:solidFill>
                <a:sym typeface="+mn-ea"/>
              </a:rPr>
              <a:t>Curve </a:t>
            </a:r>
            <a:r>
              <a:rPr lang="zh-CN" altLang="en-US" sz="2800" b="1">
                <a:solidFill>
                  <a:srgbClr val="0070C0"/>
                </a:solidFill>
                <a:sym typeface="+mn-ea"/>
              </a:rPr>
              <a:t>和</a:t>
            </a:r>
            <a:r>
              <a:rPr lang="en-US" altLang="zh-CN" sz="2800" b="1">
                <a:solidFill>
                  <a:srgbClr val="0070C0"/>
                </a:solidFill>
                <a:sym typeface="+mn-ea"/>
              </a:rPr>
              <a:t> Hybrid    </a:t>
            </a:r>
            <a:r>
              <a:rPr lang="en-US" altLang="zh-CN" sz="2800" b="1"/>
              <a:t>MD5</a:t>
            </a:r>
            <a:endParaRPr lang="zh-CN" altLang="en-US" sz="2800" b="1" dirty="0"/>
          </a:p>
        </p:txBody>
      </p:sp>
      <p:sp>
        <p:nvSpPr>
          <p:cNvPr id="7" name="文本框 6"/>
          <p:cNvSpPr txBox="1"/>
          <p:nvPr/>
        </p:nvSpPr>
        <p:spPr>
          <a:xfrm>
            <a:off x="6096000" y="600891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MD5 on R5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0.2294 ± 0.1005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0.8237 ± 0.2214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0.0000 ± 0.0000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26.38% ± 11.65%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16.55% ± 8.22%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124095" y="2632216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MD5 on A72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curve_fit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0.0192 ± 0.0112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1.0000 ± 0.0000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0.0000 ± 0.0000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0.07% ± 0.03%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0.02% ± 0.01%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124095" y="4663541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MD5 on M7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curve_fit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0.0192 ± 0.0112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1.0000 ± 0.0000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0.0000 ± 0.0000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0.07% ± 0.03%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0.02% ± 0.01%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6095999" y="2632216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MD5 on A72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0.0214 ± 0.0167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1.0000 ± 0.0000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0.0000 ± 0.0000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0.10% ± 0.06%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0.02% ± 0.01%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095999" y="4663540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MD5 on M7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0.0214 ± 0.0167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1.0000 ± 0.0000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0.0000 ± 0.0000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0.10% ± 0.06%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0.02% ± 0.01%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</p:spTree>
  </p:cSld>
  <p:clrMapOvr>
    <a:masterClrMapping/>
  </p:clrMapOvr>
  <p:transition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124097" y="600891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SHA256 on R5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curve_fit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0.1227 ± 0.0916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0.9784 ± 0.0373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0.0000 ± 0.0000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8.99% ± 4.23%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5.16% ± 3.73%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6" name="标题 1"/>
          <p:cNvSpPr txBox="1"/>
          <p:nvPr/>
        </p:nvSpPr>
        <p:spPr>
          <a:xfrm>
            <a:off x="124097" y="143056"/>
            <a:ext cx="6950697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800" b="1">
                <a:solidFill>
                  <a:srgbClr val="0070C0"/>
                </a:solidFill>
                <a:sym typeface="+mn-ea"/>
              </a:rPr>
              <a:t>Curve </a:t>
            </a:r>
            <a:r>
              <a:rPr lang="zh-CN" altLang="en-US" sz="2800" b="1">
                <a:solidFill>
                  <a:srgbClr val="0070C0"/>
                </a:solidFill>
                <a:sym typeface="+mn-ea"/>
              </a:rPr>
              <a:t>和</a:t>
            </a:r>
            <a:r>
              <a:rPr lang="en-US" altLang="zh-CN" sz="2800" b="1">
                <a:solidFill>
                  <a:srgbClr val="0070C0"/>
                </a:solidFill>
                <a:sym typeface="+mn-ea"/>
              </a:rPr>
              <a:t> Hybrid    </a:t>
            </a:r>
            <a:r>
              <a:rPr lang="en-US" altLang="zh-CN" sz="2800" b="1"/>
              <a:t>SHA256</a:t>
            </a:r>
            <a:endParaRPr lang="zh-CN" altLang="en-US" sz="2800" b="1" dirty="0"/>
          </a:p>
        </p:txBody>
      </p:sp>
      <p:sp>
        <p:nvSpPr>
          <p:cNvPr id="7" name="文本框 6"/>
          <p:cNvSpPr txBox="1"/>
          <p:nvPr/>
        </p:nvSpPr>
        <p:spPr>
          <a:xfrm>
            <a:off x="6096000" y="600891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SHA256 on R5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0.1367 ± 0.0550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0.9792 ± 0.0373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0.0000 ± 0.0000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8.38% ± 4.49%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4.90% ± 3.89%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124095" y="2632216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SHA256 on A72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0.0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curve_fit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0.5308 ± 0.4170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0.9990 ± 0.0004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0.0001 ± 0.0001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4.42% ± 1.31%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1.18% ± 0.29%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124095" y="4663541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SHA256 on M7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0.0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curve_fit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0.5308 ± 0.4170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0.9990 ± 0.0004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90.9086 ± 75.0311 (us)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4.42% ± 1.31%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1.18% ± 0.29%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6095999" y="2632216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SHA256 on A72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0.0838 ± 0.0089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0.9994 ± 0.0004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0.0001 ± 0.0001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3.26% ± 1.15%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0.88% ± 0.34%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095999" y="4663540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SHA256 on M7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0.0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0.0838 ± 0.0089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0.9994 ± 0.0004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79.6302 ± 79.4545 (us)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3.26% ± 1.15%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0.88% ± 0.34%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</p:spTree>
  </p:cSld>
  <p:clrMapOvr>
    <a:masterClrMapping/>
  </p:clrMapOvr>
  <p:transition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内容占位符 4"/>
          <p:cNvPicPr>
            <a:picLocks noGrp="1" noChangeAspect="1"/>
          </p:cNvPicPr>
          <p:nvPr>
            <p:ph idx="4294967295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055" y="817880"/>
            <a:ext cx="3322320" cy="2172970"/>
          </a:xfr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7055" y="817880"/>
            <a:ext cx="3322320" cy="2172970"/>
          </a:xfrm>
          <a:prstGeom prst="rect">
            <a:avLst/>
          </a:prstGeom>
        </p:spPr>
      </p:pic>
      <p:sp>
        <p:nvSpPr>
          <p:cNvPr id="2" name="标题 1"/>
          <p:cNvSpPr txBox="1"/>
          <p:nvPr/>
        </p:nvSpPr>
        <p:spPr>
          <a:xfrm>
            <a:off x="0" y="3650510"/>
            <a:ext cx="12192000" cy="25674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采样了</a:t>
            </a:r>
            <a:r>
              <a:rPr lang="en-US" altLang="zh-CN" sz="2800" b="1" dirty="0">
                <a:solidFill>
                  <a:srgbClr val="00B0F0"/>
                </a:solidFill>
                <a:latin typeface="+mn-ea"/>
              </a:rPr>
              <a:t>156</a:t>
            </a:r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组数据</a:t>
            </a:r>
            <a:endParaRPr lang="en-US" altLang="zh-CN" sz="2800" b="1" dirty="0">
              <a:solidFill>
                <a:srgbClr val="00B0F0"/>
              </a:solidFill>
              <a:latin typeface="+mn-ea"/>
            </a:endParaRPr>
          </a:p>
          <a:p>
            <a:r>
              <a:rPr lang="zh-CN" altLang="en-US" sz="2400" b="1" dirty="0">
                <a:latin typeface="+mn-ea"/>
              </a:rPr>
              <a:t>方法：步数从</a:t>
            </a:r>
            <a:r>
              <a:rPr lang="en-US" altLang="zh-CN" sz="2400" b="1" dirty="0">
                <a:latin typeface="+mn-ea"/>
              </a:rPr>
              <a:t>18</a:t>
            </a:r>
            <a:r>
              <a:rPr lang="zh-CN" altLang="en-US" sz="2400" b="1" dirty="0">
                <a:latin typeface="+mn-ea"/>
              </a:rPr>
              <a:t>每次递增</a:t>
            </a:r>
            <a:r>
              <a:rPr lang="en-US" altLang="zh-CN" sz="2400" b="1" dirty="0">
                <a:latin typeface="+mn-ea"/>
              </a:rPr>
              <a:t>18</a:t>
            </a:r>
            <a:r>
              <a:rPr lang="zh-CN" altLang="en-US" sz="2400" b="1" dirty="0">
                <a:latin typeface="+mn-ea"/>
              </a:rPr>
              <a:t>至</a:t>
            </a:r>
            <a:r>
              <a:rPr lang="en-US" altLang="zh-CN" sz="2400" b="1" dirty="0">
                <a:latin typeface="+mn-ea"/>
              </a:rPr>
              <a:t>468</a:t>
            </a:r>
            <a:r>
              <a:rPr lang="zh-CN" altLang="en-US" sz="2400" b="1" dirty="0">
                <a:latin typeface="+mn-ea"/>
              </a:rPr>
              <a:t>，共在</a:t>
            </a:r>
            <a:r>
              <a:rPr lang="en-US" altLang="zh-CN" sz="2400" b="1" dirty="0">
                <a:latin typeface="+mn-ea"/>
              </a:rPr>
              <a:t>26</a:t>
            </a:r>
            <a:r>
              <a:rPr lang="zh-CN" altLang="en-US" sz="2400" b="1" dirty="0">
                <a:latin typeface="+mn-ea"/>
              </a:rPr>
              <a:t>个步数上采样，每个步数采样</a:t>
            </a:r>
            <a:r>
              <a:rPr lang="en-US" altLang="zh-CN" sz="2400" b="1" dirty="0">
                <a:latin typeface="+mn-ea"/>
              </a:rPr>
              <a:t>6</a:t>
            </a:r>
            <a:r>
              <a:rPr lang="zh-CN" altLang="en-US" sz="2400" b="1" dirty="0">
                <a:latin typeface="+mn-ea"/>
              </a:rPr>
              <a:t>次。</a:t>
            </a:r>
            <a:endParaRPr lang="en-US" altLang="zh-CN" sz="2400" b="1" dirty="0">
              <a:latin typeface="+mn-ea"/>
            </a:endParaRPr>
          </a:p>
          <a:p>
            <a:r>
              <a:rPr lang="en-US" altLang="zh-CN" sz="2800" b="1" dirty="0">
                <a:solidFill>
                  <a:srgbClr val="00B0F0"/>
                </a:solidFill>
                <a:latin typeface="+mn-ea"/>
              </a:rPr>
              <a:t>RF,CURVE,XGB,HYBRID</a:t>
            </a:r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方法效果明显改善</a:t>
            </a:r>
            <a:endParaRPr lang="en-US" altLang="zh-CN" sz="2800" b="1" dirty="0">
              <a:solidFill>
                <a:srgbClr val="00B0F0"/>
              </a:solidFill>
              <a:latin typeface="+mn-ea"/>
            </a:endParaRPr>
          </a:p>
          <a:p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特征越复杂、数据波动越大，需要采样越多数据。</a:t>
            </a:r>
            <a:endParaRPr lang="en-US" altLang="zh-CN" sz="2800" b="1" dirty="0">
              <a:solidFill>
                <a:srgbClr val="00B0F0"/>
              </a:solidFill>
              <a:latin typeface="+mn-ea"/>
            </a:endParaRPr>
          </a:p>
          <a:p>
            <a:endParaRPr lang="en-US" altLang="zh-CN" sz="2800" b="1" dirty="0">
              <a:solidFill>
                <a:srgbClr val="00B0F0"/>
              </a:solidFill>
              <a:latin typeface="+mn-ea"/>
            </a:endParaRPr>
          </a:p>
          <a:p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在相同输入特征下多次采样运行时间，可取均值，减少数据波动的影响</a:t>
            </a:r>
            <a:endParaRPr lang="en-US" altLang="zh-CN" sz="2800" b="1" dirty="0">
              <a:solidFill>
                <a:srgbClr val="00B0F0"/>
              </a:solidFill>
              <a:latin typeface="+mn-ea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1055" y="817880"/>
            <a:ext cx="3322320" cy="2172970"/>
          </a:xfrm>
          <a:prstGeom prst="rect">
            <a:avLst/>
          </a:prstGeom>
        </p:spPr>
      </p:pic>
      <p:sp>
        <p:nvSpPr>
          <p:cNvPr id="7" name="标题 1"/>
          <p:cNvSpPr txBox="1"/>
          <p:nvPr/>
        </p:nvSpPr>
        <p:spPr>
          <a:xfrm>
            <a:off x="0" y="3048000"/>
            <a:ext cx="12192000" cy="38986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CN" sz="2000" b="1">
                <a:latin typeface="+mn-ea"/>
              </a:rPr>
              <a:t>MPC</a:t>
            </a:r>
            <a:r>
              <a:rPr lang="zh-CN" altLang="en-US" sz="2000" b="1">
                <a:latin typeface="+mn-ea"/>
              </a:rPr>
              <a:t>算法步数与运行时间的关系在</a:t>
            </a:r>
            <a:r>
              <a:rPr lang="en-US" altLang="zh-CN" sz="2000" b="1">
                <a:latin typeface="+mn-ea"/>
              </a:rPr>
              <a:t>M7</a:t>
            </a:r>
            <a:r>
              <a:rPr lang="zh-CN" altLang="en-US" sz="2000" b="1">
                <a:latin typeface="+mn-ea"/>
              </a:rPr>
              <a:t>上是线性，但是在</a:t>
            </a:r>
            <a:r>
              <a:rPr lang="en-US" altLang="zh-CN" sz="2000" b="1">
                <a:latin typeface="+mn-ea"/>
              </a:rPr>
              <a:t>A72</a:t>
            </a:r>
            <a:r>
              <a:rPr lang="zh-CN" altLang="en-US" sz="2000" b="1">
                <a:latin typeface="+mn-ea"/>
              </a:rPr>
              <a:t>上是二次</a:t>
            </a:r>
            <a:endParaRPr lang="en-US" altLang="zh-CN" sz="2000" b="1">
              <a:latin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-344805" y="16192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124097" y="143056"/>
            <a:ext cx="6950697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 b="1">
                <a:solidFill>
                  <a:schemeClr val="tx1"/>
                </a:solidFill>
                <a:sym typeface="+mn-ea"/>
              </a:rPr>
              <a:t>关于</a:t>
            </a:r>
            <a:r>
              <a:rPr lang="en-US" altLang="zh-CN" sz="2800" b="1">
                <a:solidFill>
                  <a:schemeClr val="tx1"/>
                </a:solidFill>
                <a:sym typeface="+mn-ea"/>
              </a:rPr>
              <a:t>MPC</a:t>
            </a:r>
            <a:endParaRPr lang="en-US" altLang="zh-CN" sz="2800" b="1" dirty="0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  <p:transition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/>
          <p:cNvSpPr txBox="1"/>
          <p:nvPr/>
        </p:nvSpPr>
        <p:spPr>
          <a:xfrm>
            <a:off x="1" y="1196812"/>
            <a:ext cx="12192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Predicting runtime for MPC on A72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Test size: 0.3, Lower bound: 0.0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1: MAPE=0.0268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R2=0.9986, RMSE=0.0160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=3.14%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=1.12%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N=47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2: MAPE=0.0675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R2=0.9981, RMSE=0.0173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=3.90%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=1.30%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N=47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6: MAPE=0.0498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R2=0.9973, RMSE=0.0230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=4.52%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=1.53%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N=47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42: MAPE=0.0288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R2=0.9983, RMSE=0.0176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=3.50%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=1.21%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N=47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123: MAPE=0.0776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R2=0.9980, RMSE=0.0216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=3.93%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=1.56%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N=47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2025: MAPE=0.2295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R2=0.9981, RMSE=0.0193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=3.74%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=1.28%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N=47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33550336: MAPE=0.0391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R2=0.9988, RMSE=0.0150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=3.27%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=1.02%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N=47</a:t>
            </a:r>
          </a:p>
          <a:p>
            <a:endParaRPr lang="en-US" altLang="zh-CN" sz="1400" dirty="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MAPE: 0.0741 ± 0.0711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R2:   0.9982 ± 0.0005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RMSE: 0.0186 ± 0.0029 (s)</a:t>
            </a:r>
          </a:p>
          <a:p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: 3.71% ± 0.47%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: 1.29% ± 0.20%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 dirty="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4" name="标题 1"/>
          <p:cNvSpPr txBox="1"/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3" name="标题 1"/>
          <p:cNvSpPr txBox="1"/>
          <p:nvPr/>
        </p:nvSpPr>
        <p:spPr>
          <a:xfrm>
            <a:off x="123825" y="142875"/>
            <a:ext cx="8407400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800" b="1">
                <a:solidFill>
                  <a:srgbClr val="0070C0"/>
                </a:solidFill>
                <a:sym typeface="+mn-ea"/>
              </a:rPr>
              <a:t>Hybrid  </a:t>
            </a:r>
            <a:r>
              <a:rPr lang="en-US" altLang="zh-CN" sz="2800" dirty="0"/>
              <a:t>MPC on M7</a:t>
            </a:r>
            <a:endParaRPr lang="zh-CN" altLang="en-US" sz="2800" dirty="0"/>
          </a:p>
        </p:txBody>
      </p:sp>
    </p:spTree>
  </p:cSld>
  <p:clrMapOvr>
    <a:masterClrMapping/>
  </p:clrMapOvr>
  <p:transition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123825" y="859790"/>
            <a:ext cx="11630025" cy="599821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2000" dirty="0"/>
              <a:t>对于要拟合的</a:t>
            </a:r>
            <a:r>
              <a:rPr lang="en-US" altLang="zh-CN" sz="2000" dirty="0"/>
              <a:t>n</a:t>
            </a:r>
            <a:r>
              <a:rPr lang="zh-CN" altLang="en-US" sz="2000" dirty="0"/>
              <a:t>与</a:t>
            </a:r>
            <a:r>
              <a:rPr lang="en-US" altLang="zh-CN" sz="2000" dirty="0"/>
              <a:t>T</a:t>
            </a:r>
            <a:r>
              <a:rPr lang="zh-CN" altLang="en-US" sz="2000" dirty="0"/>
              <a:t>，采样更多</a:t>
            </a:r>
            <a:r>
              <a:rPr lang="en-US" altLang="zh-CN" sz="2000" dirty="0"/>
              <a:t>n</a:t>
            </a:r>
            <a:r>
              <a:rPr lang="zh-CN" altLang="en-US" sz="2000" dirty="0"/>
              <a:t>能使模型更贴合数据，对同一个</a:t>
            </a:r>
            <a:r>
              <a:rPr lang="en-US" altLang="zh-CN" sz="2000" dirty="0"/>
              <a:t>n</a:t>
            </a:r>
            <a:r>
              <a:rPr lang="zh-CN" altLang="en-US" sz="2000" dirty="0"/>
              <a:t>采样更多</a:t>
            </a:r>
            <a:r>
              <a:rPr lang="en-US" altLang="zh-CN" sz="2000" dirty="0"/>
              <a:t>T</a:t>
            </a:r>
            <a:r>
              <a:rPr lang="zh-CN" altLang="en-US" sz="2000" dirty="0"/>
              <a:t>有助于降低噪声影响，提高精度。现在要拟合的关系大多数都是知道函数的形式的，因此可以更多地考虑后者。</a:t>
            </a:r>
            <a:endParaRPr lang="en-US" altLang="zh-CN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zh-CN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2000" dirty="0"/>
              <a:t>当某个随机种子在当前数据上表现很好，能否推到别的数据上？</a:t>
            </a:r>
            <a:endParaRPr lang="en-US" altLang="zh-CN" sz="20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zh-CN" altLang="en-US" sz="1600" dirty="0"/>
              <a:t>不能保证，一次好的结果可能是随机性与样本噪声、具体数据划分、超参恰好“契合”。在其他的数据上未必如此。</a:t>
            </a:r>
            <a:endParaRPr lang="en-US" altLang="zh-CN" sz="16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zh-CN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2000" dirty="0"/>
              <a:t>随机种与其他参数的区别：</a:t>
            </a:r>
            <a:endParaRPr lang="en-US" altLang="zh-CN" sz="20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zh-CN" altLang="en-US" sz="1600" dirty="0"/>
              <a:t>模型参数（超参数）：如</a:t>
            </a:r>
            <a:r>
              <a:rPr lang="en-US" altLang="zh-CN" sz="1600" dirty="0" err="1"/>
              <a:t>n_estimators</a:t>
            </a:r>
            <a:r>
              <a:rPr lang="en-US" altLang="zh-CN" sz="1600" dirty="0"/>
              <a:t>, </a:t>
            </a:r>
            <a:r>
              <a:rPr lang="en-US" altLang="zh-CN" sz="1600" dirty="0" err="1"/>
              <a:t>max_depth</a:t>
            </a:r>
            <a:r>
              <a:rPr lang="en-US" altLang="zh-CN" sz="1600" dirty="0"/>
              <a:t>, </a:t>
            </a:r>
            <a:r>
              <a:rPr lang="en-US" altLang="zh-CN" sz="1600" dirty="0" err="1"/>
              <a:t>learning_rate</a:t>
            </a:r>
            <a:r>
              <a:rPr lang="en-US" altLang="zh-CN" sz="1600" dirty="0"/>
              <a:t>, </a:t>
            </a:r>
            <a:r>
              <a:rPr lang="en-US" altLang="zh-CN" sz="1600" dirty="0" err="1"/>
              <a:t>hidden_layer_sizes</a:t>
            </a:r>
            <a:r>
              <a:rPr lang="zh-CN" altLang="en-US" sz="1600" dirty="0"/>
              <a:t>；决定模型的结构、复杂度、学习能力等，直接影响性能。</a:t>
            </a:r>
            <a:endParaRPr lang="en-US" altLang="zh-CN" sz="16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zh-CN" altLang="en-US" sz="1600" dirty="0"/>
              <a:t>训练参数：决定训练过程的收敛路径，影响收敛效果</a:t>
            </a:r>
            <a:endParaRPr lang="en-US" altLang="zh-CN" sz="16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zh-CN" altLang="en-US" sz="1600" dirty="0"/>
              <a:t>随机种：控制随机过程（初始化、抽样、打乱），只影响随机性。</a:t>
            </a:r>
            <a:endParaRPr lang="en-US" altLang="zh-CN" sz="16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zh-CN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2000" dirty="0"/>
              <a:t>对一组固定超参，使用多个 </a:t>
            </a:r>
            <a:r>
              <a:rPr lang="en-US" altLang="zh-CN" sz="2000" dirty="0"/>
              <a:t>seed </a:t>
            </a:r>
            <a:r>
              <a:rPr lang="zh-CN" altLang="en-US" sz="2000" dirty="0"/>
              <a:t>看指标的标准差能量化对随机性的敏感度。如果标准差大说明模型稳定性差，应该考虑更多数据或者调参，或者是某个特定的</a:t>
            </a:r>
            <a:r>
              <a:rPr lang="en-US" altLang="zh-CN" sz="2000" dirty="0"/>
              <a:t>seed</a:t>
            </a:r>
            <a:r>
              <a:rPr lang="zh-CN" altLang="en-US" sz="2000" dirty="0"/>
              <a:t>出现了极端情况。</a:t>
            </a:r>
          </a:p>
        </p:txBody>
      </p:sp>
      <p:sp>
        <p:nvSpPr>
          <p:cNvPr id="3" name="标题 1"/>
          <p:cNvSpPr txBox="1"/>
          <p:nvPr/>
        </p:nvSpPr>
        <p:spPr>
          <a:xfrm>
            <a:off x="123825" y="142875"/>
            <a:ext cx="8407400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 b="1">
                <a:solidFill>
                  <a:srgbClr val="0070C0"/>
                </a:solidFill>
                <a:sym typeface="+mn-ea"/>
              </a:rPr>
              <a:t>关于</a:t>
            </a:r>
            <a:r>
              <a:rPr lang="en-US" altLang="zh-CN" sz="2800" b="1">
                <a:solidFill>
                  <a:srgbClr val="0070C0"/>
                </a:solidFill>
                <a:sym typeface="+mn-ea"/>
              </a:rPr>
              <a:t> </a:t>
            </a:r>
            <a:r>
              <a:rPr lang="zh-CN" altLang="en-US" sz="2800" b="1">
                <a:solidFill>
                  <a:srgbClr val="0070C0"/>
                </a:solidFill>
                <a:sym typeface="+mn-ea"/>
              </a:rPr>
              <a:t>模型、样本量、参数的认识</a:t>
            </a:r>
          </a:p>
        </p:txBody>
      </p:sp>
    </p:spTree>
  </p:cSld>
  <p:clrMapOvr>
    <a:masterClrMapping/>
  </p:clrMapOvr>
  <p:transition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/>
          <p:cNvSpPr txBox="1"/>
          <p:nvPr/>
        </p:nvSpPr>
        <p:spPr>
          <a:xfrm>
            <a:off x="0" y="1118173"/>
            <a:ext cx="3898605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Predicting runtime for SHA256 on A72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Test size: 0.3, Lower bound: 0.0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MAPE: 0.0034 ± </a:t>
            </a:r>
            <a:r>
              <a:rPr lang="en-US" altLang="zh-CN" sz="1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0.0022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R2:   1.0000 ± </a:t>
            </a:r>
            <a:r>
              <a:rPr lang="en-US" altLang="zh-CN" sz="1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0.0000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RMSE: 0.0001 ± </a:t>
            </a:r>
            <a:r>
              <a:rPr lang="en-US" altLang="zh-CN" sz="1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0.0001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 (s)</a:t>
            </a:r>
          </a:p>
          <a:p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: 0.27% ± 0.15%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: 0.15% ± 0.08%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</p:txBody>
      </p:sp>
      <p:sp>
        <p:nvSpPr>
          <p:cNvPr id="5" name="文本框 4"/>
          <p:cNvSpPr txBox="1"/>
          <p:nvPr/>
        </p:nvSpPr>
        <p:spPr>
          <a:xfrm>
            <a:off x="0" y="3798199"/>
            <a:ext cx="3898605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Predicting runtime for SHA256 on A72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Test size: 0.3, Lower bound: 0.0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MAPE: 0.0009 ± </a:t>
            </a:r>
            <a:r>
              <a:rPr lang="en-US" altLang="zh-CN" sz="1400" dirty="0">
                <a:highlight>
                  <a:srgbClr val="00FF00"/>
                </a:highlight>
                <a:latin typeface="Consolas" panose="020B0609020204030204" pitchFamily="49" charset="0"/>
                <a:ea typeface="+mj-ea"/>
                <a:cs typeface="+mj-cs"/>
              </a:rPr>
              <a:t>0.0002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R2:   1.0000 ± </a:t>
            </a:r>
            <a:r>
              <a:rPr lang="en-US" altLang="zh-CN" sz="1400" dirty="0">
                <a:highlight>
                  <a:srgbClr val="00FF00"/>
                </a:highlight>
                <a:latin typeface="Consolas" panose="020B0609020204030204" pitchFamily="49" charset="0"/>
                <a:ea typeface="+mj-ea"/>
                <a:cs typeface="+mj-cs"/>
              </a:rPr>
              <a:t>0.0000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RMSE: 0.0001 ± </a:t>
            </a:r>
            <a:r>
              <a:rPr lang="en-US" altLang="zh-CN" sz="1400" dirty="0">
                <a:highlight>
                  <a:srgbClr val="00FF00"/>
                </a:highlight>
                <a:latin typeface="Consolas" panose="020B0609020204030204" pitchFamily="49" charset="0"/>
                <a:ea typeface="+mj-ea"/>
                <a:cs typeface="+mj-cs"/>
              </a:rPr>
              <a:t>0.0000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 (s)</a:t>
            </a:r>
          </a:p>
          <a:p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: 0.25% ± 0.04%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: 0.12% ± 0.02%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</p:txBody>
      </p:sp>
      <p:sp>
        <p:nvSpPr>
          <p:cNvPr id="7" name="标题 1"/>
          <p:cNvSpPr txBox="1"/>
          <p:nvPr/>
        </p:nvSpPr>
        <p:spPr>
          <a:xfrm>
            <a:off x="77419" y="3283610"/>
            <a:ext cx="2263445" cy="5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数据量</a:t>
            </a:r>
            <a:r>
              <a:rPr lang="en-US" altLang="zh-CN" sz="2800" b="1" dirty="0">
                <a:solidFill>
                  <a:srgbClr val="00B0F0"/>
                </a:solidFill>
                <a:latin typeface="+mn-ea"/>
              </a:rPr>
              <a:t>4671</a:t>
            </a:r>
            <a:endParaRPr lang="zh-CN" altLang="en-US" sz="2800" dirty="0">
              <a:solidFill>
                <a:srgbClr val="00B0F0"/>
              </a:solidFill>
            </a:endParaRPr>
          </a:p>
        </p:txBody>
      </p:sp>
      <p:sp>
        <p:nvSpPr>
          <p:cNvPr id="8" name="标题 1"/>
          <p:cNvSpPr txBox="1"/>
          <p:nvPr/>
        </p:nvSpPr>
        <p:spPr>
          <a:xfrm>
            <a:off x="135940" y="603584"/>
            <a:ext cx="2263445" cy="5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数据量</a:t>
            </a:r>
            <a:r>
              <a:rPr lang="en-US" altLang="zh-CN" sz="2800" b="1" dirty="0">
                <a:solidFill>
                  <a:srgbClr val="00B0F0"/>
                </a:solidFill>
                <a:latin typeface="+mn-ea"/>
              </a:rPr>
              <a:t>47</a:t>
            </a:r>
            <a:endParaRPr lang="zh-CN" altLang="en-US" sz="2800" dirty="0">
              <a:solidFill>
                <a:srgbClr val="00B0F0"/>
              </a:solidFill>
            </a:endParaRPr>
          </a:p>
        </p:txBody>
      </p:sp>
      <p:sp>
        <p:nvSpPr>
          <p:cNvPr id="4" name="标题 1"/>
          <p:cNvSpPr>
            <a:spLocks noGrp="1"/>
          </p:cNvSpPr>
          <p:nvPr>
            <p:ph type="title" idx="4294967295"/>
          </p:nvPr>
        </p:nvSpPr>
        <p:spPr>
          <a:xfrm>
            <a:off x="313055" y="207645"/>
            <a:ext cx="9726295" cy="396240"/>
          </a:xfrm>
        </p:spPr>
        <p:txBody>
          <a:bodyPr>
            <a:normAutofit fontScale="90000"/>
          </a:bodyPr>
          <a:lstStyle/>
          <a:p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数据量增大，在不同随机种下的表现差异减小</a:t>
            </a:r>
            <a:endParaRPr lang="zh-CN" altLang="en-US" sz="2800" dirty="0">
              <a:solidFill>
                <a:srgbClr val="00B0F0"/>
              </a:solidFill>
            </a:endParaRPr>
          </a:p>
        </p:txBody>
      </p:sp>
    </p:spTree>
  </p:cSld>
  <p:clrMapOvr>
    <a:masterClrMapping/>
  </p:clrMapOvr>
  <p:transition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825" y="3725825"/>
            <a:ext cx="3664690" cy="2748517"/>
          </a:xfrm>
          <a:prstGeom prst="rect">
            <a:avLst/>
          </a:prstGeom>
        </p:spPr>
      </p:pic>
      <p:pic>
        <p:nvPicPr>
          <p:cNvPr id="13" name="图片 1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350" y="737870"/>
            <a:ext cx="3664690" cy="2748517"/>
          </a:xfrm>
          <a:prstGeom prst="rect">
            <a:avLst/>
          </a:prstGeom>
        </p:spPr>
      </p:pic>
      <p:sp>
        <p:nvSpPr>
          <p:cNvPr id="15" name="文本框 14"/>
          <p:cNvSpPr txBox="1"/>
          <p:nvPr/>
        </p:nvSpPr>
        <p:spPr>
          <a:xfrm>
            <a:off x="3788410" y="1157605"/>
            <a:ext cx="4859655" cy="23069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FFT</a:t>
            </a:r>
            <a:r>
              <a:rPr lang="zh-CN" altLang="en-US" dirty="0"/>
              <a:t>在</a:t>
            </a:r>
            <a:r>
              <a:rPr lang="en-US" altLang="zh-CN" dirty="0"/>
              <a:t>A72</a:t>
            </a:r>
            <a:r>
              <a:rPr lang="zh-CN" altLang="en-US" dirty="0"/>
              <a:t>平台（左）：</a:t>
            </a:r>
            <a:endParaRPr lang="en-US" altLang="zh-CN" dirty="0"/>
          </a:p>
          <a:p>
            <a:r>
              <a:rPr lang="zh-CN" altLang="en-US" dirty="0"/>
              <a:t>对一个输入规模</a:t>
            </a:r>
            <a:r>
              <a:rPr lang="en-US" altLang="zh-CN" dirty="0"/>
              <a:t>n</a:t>
            </a:r>
            <a:r>
              <a:rPr lang="zh-CN" altLang="en-US" dirty="0"/>
              <a:t>采样了</a:t>
            </a:r>
            <a:r>
              <a:rPr lang="en-US" altLang="zh-CN" dirty="0"/>
              <a:t>10</a:t>
            </a:r>
            <a:r>
              <a:rPr lang="zh-CN" altLang="en-US" dirty="0"/>
              <a:t>个运行时间</a:t>
            </a:r>
            <a:r>
              <a:rPr lang="en-US" altLang="zh-CN" dirty="0"/>
              <a:t>T</a:t>
            </a:r>
            <a:r>
              <a:rPr lang="zh-CN" altLang="en-US" dirty="0"/>
              <a:t>。</a:t>
            </a:r>
            <a:endParaRPr lang="en-US" altLang="zh-CN" dirty="0"/>
          </a:p>
          <a:p>
            <a:r>
              <a:rPr lang="zh-CN" altLang="en-US" dirty="0"/>
              <a:t>总体而言数据波动过大，尤其在</a:t>
            </a:r>
            <a:r>
              <a:rPr lang="en-US" altLang="zh-CN" dirty="0"/>
              <a:t>n=2^19</a:t>
            </a:r>
            <a:r>
              <a:rPr lang="zh-CN" altLang="en-US" dirty="0"/>
              <a:t>处。</a:t>
            </a:r>
            <a:endParaRPr lang="en-US" altLang="zh-CN" dirty="0"/>
          </a:p>
          <a:p>
            <a:r>
              <a:rPr lang="zh-CN" altLang="en-US" dirty="0"/>
              <a:t>完全无法拟合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原因之一：</a:t>
            </a:r>
            <a:endParaRPr lang="en-US" altLang="zh-CN" dirty="0"/>
          </a:p>
          <a:p>
            <a:r>
              <a:rPr lang="zh-CN" altLang="en-US" dirty="0"/>
              <a:t>时间激增应该是因为，数据量增多，存储的区域从访问较快的缓存区移到慢缓存区了</a:t>
            </a: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451112" y="3681967"/>
            <a:ext cx="3664689" cy="2748517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3788515" y="4021586"/>
            <a:ext cx="4447121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FFT</a:t>
            </a:r>
            <a:r>
              <a:rPr lang="zh-CN" altLang="en-US" dirty="0"/>
              <a:t>在</a:t>
            </a:r>
            <a:r>
              <a:rPr lang="en-US" altLang="zh-CN" dirty="0"/>
              <a:t>R5</a:t>
            </a:r>
            <a:r>
              <a:rPr lang="zh-CN" altLang="en-US" dirty="0"/>
              <a:t>平台（右）：</a:t>
            </a:r>
            <a:endParaRPr lang="en-US" altLang="zh-CN" dirty="0"/>
          </a:p>
          <a:p>
            <a:r>
              <a:rPr lang="zh-CN" altLang="en-US" dirty="0"/>
              <a:t>可采样的数据点过少（</a:t>
            </a:r>
            <a:r>
              <a:rPr lang="en-US" altLang="zh-CN" dirty="0"/>
              <a:t>2^3~2^10</a:t>
            </a:r>
            <a:r>
              <a:rPr lang="zh-CN" altLang="en-US" dirty="0"/>
              <a:t>共</a:t>
            </a:r>
            <a:r>
              <a:rPr lang="en-US" altLang="zh-CN" dirty="0"/>
              <a:t>8</a:t>
            </a:r>
            <a:r>
              <a:rPr lang="zh-CN" altLang="en-US" dirty="0"/>
              <a:t>个），</a:t>
            </a:r>
            <a:endParaRPr lang="en-US" altLang="zh-CN" dirty="0"/>
          </a:p>
          <a:p>
            <a:r>
              <a:rPr lang="zh-CN" altLang="en-US" dirty="0"/>
              <a:t>对同一个规模多次测试，运行时间几乎没有波动</a:t>
            </a:r>
            <a:endParaRPr lang="en-US" altLang="zh-CN" dirty="0"/>
          </a:p>
          <a:p>
            <a:r>
              <a:rPr lang="zh-CN" altLang="en-US" dirty="0"/>
              <a:t>考虑使用查表表</a:t>
            </a:r>
          </a:p>
        </p:txBody>
      </p:sp>
      <p:sp>
        <p:nvSpPr>
          <p:cNvPr id="4" name="标题 1"/>
          <p:cNvSpPr>
            <a:spLocks noGrp="1"/>
          </p:cNvSpPr>
          <p:nvPr>
            <p:ph type="title" idx="4294967295"/>
          </p:nvPr>
        </p:nvSpPr>
        <p:spPr>
          <a:xfrm>
            <a:off x="313055" y="207645"/>
            <a:ext cx="9726295" cy="396240"/>
          </a:xfrm>
        </p:spPr>
        <p:txBody>
          <a:bodyPr>
            <a:normAutofit fontScale="90000"/>
          </a:bodyPr>
          <a:lstStyle/>
          <a:p>
            <a:r>
              <a:rPr lang="en-US" altLang="zh-CN" sz="2800" b="1" dirty="0">
                <a:solidFill>
                  <a:srgbClr val="00B0F0"/>
                </a:solidFill>
                <a:latin typeface="+mn-ea"/>
              </a:rPr>
              <a:t>FFT</a:t>
            </a:r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在</a:t>
            </a:r>
            <a:r>
              <a:rPr lang="en-US" altLang="zh-CN" sz="2800" b="1" dirty="0">
                <a:solidFill>
                  <a:srgbClr val="00B0F0"/>
                </a:solidFill>
                <a:latin typeface="+mn-ea"/>
              </a:rPr>
              <a:t>A72</a:t>
            </a:r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的样本数据波动大</a:t>
            </a:r>
            <a:endParaRPr lang="zh-CN" altLang="en-US" sz="2800" dirty="0">
              <a:solidFill>
                <a:srgbClr val="00B0F0"/>
              </a:solidFill>
            </a:endParaRPr>
          </a:p>
        </p:txBody>
      </p:sp>
    </p:spTree>
  </p:cSld>
  <p:clrMapOvr>
    <a:masterClrMapping/>
  </p:clrMapOvr>
  <p:transition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D4A304A6-AE3D-F8C3-0E48-4A37F0F69C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85794"/>
            <a:ext cx="7315215" cy="5486411"/>
          </a:xfrm>
          <a:prstGeom prst="rect">
            <a:avLst/>
          </a:prstGeom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0C82E765-5467-2F05-819B-72388E4E7C8A}"/>
              </a:ext>
            </a:extLst>
          </p:cNvPr>
          <p:cNvSpPr txBox="1">
            <a:spLocks/>
          </p:cNvSpPr>
          <p:nvPr/>
        </p:nvSpPr>
        <p:spPr>
          <a:xfrm>
            <a:off x="313055" y="207645"/>
            <a:ext cx="9726295" cy="3962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800" b="1" dirty="0">
                <a:solidFill>
                  <a:srgbClr val="00B0F0"/>
                </a:solidFill>
                <a:latin typeface="+mn-ea"/>
              </a:rPr>
              <a:t>FFT</a:t>
            </a:r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在</a:t>
            </a:r>
            <a:r>
              <a:rPr lang="en-US" altLang="zh-CN" sz="2800" b="1" dirty="0">
                <a:solidFill>
                  <a:srgbClr val="00B0F0"/>
                </a:solidFill>
                <a:latin typeface="+mn-ea"/>
              </a:rPr>
              <a:t>A72</a:t>
            </a:r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的样本数据波动大</a:t>
            </a:r>
            <a:endParaRPr lang="zh-CN" altLang="en-US" sz="2800" dirty="0">
              <a:solidFill>
                <a:srgbClr val="00B0F0"/>
              </a:solidFill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F24A0EC-2CAA-29A4-0A0B-0138BEE609B8}"/>
              </a:ext>
            </a:extLst>
          </p:cNvPr>
          <p:cNvSpPr txBox="1"/>
          <p:nvPr/>
        </p:nvSpPr>
        <p:spPr>
          <a:xfrm>
            <a:off x="6978701" y="290773"/>
            <a:ext cx="485965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11/12</a:t>
            </a:r>
          </a:p>
          <a:p>
            <a:r>
              <a:rPr lang="zh-CN" altLang="en-US" dirty="0"/>
              <a:t>扩大测试规模到</a:t>
            </a:r>
            <a:r>
              <a:rPr lang="en-US" altLang="zh-CN" dirty="0"/>
              <a:t>2^26.</a:t>
            </a:r>
            <a:r>
              <a:rPr lang="zh-CN" altLang="en-US" dirty="0"/>
              <a:t>可见总体符合</a:t>
            </a:r>
            <a:r>
              <a:rPr lang="en-US" altLang="zh-CN" dirty="0" err="1"/>
              <a:t>nlogn</a:t>
            </a:r>
            <a:r>
              <a:rPr lang="zh-CN" altLang="en-US" dirty="0"/>
              <a:t>规律，但在某些点上波动很大。</a:t>
            </a:r>
            <a:endParaRPr lang="en-US" altLang="zh-CN" dirty="0"/>
          </a:p>
          <a:p>
            <a:r>
              <a:rPr lang="zh-CN" altLang="en-US" dirty="0"/>
              <a:t>对于这些波动很大的点不可能做到误差很小（模型预测的点会比较靠近所有时间的平均值），只能保证在波动小的点上误差较小，使模型总体而言误差较小。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B8506733-3529-CFF1-390D-FED830F74E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8701" y="2322098"/>
            <a:ext cx="4969466" cy="3727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19870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840" y="838200"/>
            <a:ext cx="4925695" cy="2771140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848360" y="838200"/>
            <a:ext cx="5428615" cy="70675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CN" altLang="en-US" sz="2000" dirty="0"/>
              <a:t>错误码</a:t>
            </a:r>
            <a:r>
              <a:rPr lang="en-US" altLang="zh-CN" sz="2000" dirty="0"/>
              <a:t>2——</a:t>
            </a:r>
            <a:r>
              <a:rPr lang="zh-CN" altLang="en-US" sz="2000" dirty="0"/>
              <a:t>无法分配内存</a:t>
            </a:r>
            <a:endParaRPr lang="en-US" altLang="zh-CN" sz="2000" dirty="0"/>
          </a:p>
          <a:p>
            <a:r>
              <a:rPr lang="zh-CN" altLang="en-US" sz="2000" dirty="0"/>
              <a:t>原因：代码中内存动态分配超过可用</a:t>
            </a:r>
            <a:r>
              <a:rPr lang="en-US" altLang="zh-CN" sz="2000" dirty="0"/>
              <a:t>heap</a:t>
            </a:r>
            <a:r>
              <a:rPr lang="zh-CN" altLang="en-US" sz="2000" dirty="0"/>
              <a:t>内存</a:t>
            </a:r>
            <a:endParaRPr lang="en-US" altLang="zh-CN" sz="2000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840" y="3609340"/>
            <a:ext cx="5155565" cy="307721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0577" y="2120267"/>
            <a:ext cx="4465674" cy="3589234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7613325" y="1364441"/>
            <a:ext cx="33173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800" dirty="0"/>
              <a:t>解决方法：改为静态分配</a:t>
            </a:r>
            <a:endParaRPr lang="en-US" altLang="zh-CN" sz="1800" dirty="0"/>
          </a:p>
          <a:p>
            <a:r>
              <a:rPr lang="zh-CN" altLang="en-US" dirty="0"/>
              <a:t>经测试</a:t>
            </a:r>
            <a:r>
              <a:rPr lang="en-US" altLang="zh-CN" dirty="0"/>
              <a:t>MAX_DIM</a:t>
            </a:r>
            <a:r>
              <a:rPr lang="zh-CN" altLang="en-US" dirty="0"/>
              <a:t>可开到</a:t>
            </a:r>
            <a:r>
              <a:rPr lang="en-US" altLang="zh-CN" dirty="0"/>
              <a:t>40</a:t>
            </a:r>
            <a:r>
              <a:rPr lang="zh-CN" altLang="en-US" dirty="0"/>
              <a:t>左右</a:t>
            </a:r>
            <a:endParaRPr lang="zh-CN" altLang="en-US" sz="1800" dirty="0"/>
          </a:p>
        </p:txBody>
      </p:sp>
      <p:sp>
        <p:nvSpPr>
          <p:cNvPr id="4" name="标题 1"/>
          <p:cNvSpPr>
            <a:spLocks noGrp="1"/>
          </p:cNvSpPr>
          <p:nvPr>
            <p:ph type="title" idx="4294967295"/>
          </p:nvPr>
        </p:nvSpPr>
        <p:spPr>
          <a:xfrm>
            <a:off x="313055" y="207645"/>
            <a:ext cx="9726295" cy="396240"/>
          </a:xfrm>
        </p:spPr>
        <p:txBody>
          <a:bodyPr>
            <a:normAutofit fontScale="90000"/>
          </a:bodyPr>
          <a:lstStyle/>
          <a:p>
            <a:r>
              <a:rPr lang="en-US" altLang="zh-CN" sz="2800" b="1" dirty="0">
                <a:solidFill>
                  <a:srgbClr val="00B0F0"/>
                </a:solidFill>
                <a:latin typeface="+mn-ea"/>
              </a:rPr>
              <a:t>KF</a:t>
            </a:r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程序在</a:t>
            </a:r>
            <a:r>
              <a:rPr lang="en-US" altLang="zh-CN" sz="2800" b="1" dirty="0">
                <a:solidFill>
                  <a:srgbClr val="00B0F0"/>
                </a:solidFill>
                <a:latin typeface="+mn-ea"/>
              </a:rPr>
              <a:t>M7</a:t>
            </a:r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上出错</a:t>
            </a:r>
            <a:r>
              <a:rPr lang="en-US" altLang="zh-CN" sz="2800" b="1" dirty="0">
                <a:solidFill>
                  <a:srgbClr val="00B0F0"/>
                </a:solidFill>
                <a:latin typeface="+mn-ea"/>
              </a:rPr>
              <a:t> calloc/free</a:t>
            </a:r>
            <a:endParaRPr lang="zh-CN" altLang="en-US" sz="2800" dirty="0">
              <a:solidFill>
                <a:srgbClr val="00B0F0"/>
              </a:solidFill>
            </a:endParaRPr>
          </a:p>
        </p:txBody>
      </p:sp>
    </p:spTree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0.21763779527555,&quot;left&quot;:9.771417322834646,&quot;top&quot;:47.154251968503935,&quot;width&quot;:549.3141732283464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0.21763779527555,&quot;left&quot;:9.771417322834646,&quot;top&quot;:47.154251968503935,&quot;width&quot;:549.3141732283464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0.21763779527555,&quot;left&quot;:9.771417322834646,&quot;top&quot;:47.154251968503935,&quot;width&quot;:549.3141732283464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0.21763779527555,&quot;left&quot;:9.771417322834646,&quot;top&quot;:47.154251968503935,&quot;width&quot;:549.3141732283464}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4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5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6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7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8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9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0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4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5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6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7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8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9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0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4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5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6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7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370</TotalTime>
  <Words>10666</Words>
  <Application>Microsoft Office PowerPoint</Application>
  <PresentationFormat>宽屏</PresentationFormat>
  <Paragraphs>869</Paragraphs>
  <Slides>36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36</vt:i4>
      </vt:variant>
      <vt:variant>
        <vt:lpstr>幻灯片标题</vt:lpstr>
      </vt:variant>
      <vt:variant>
        <vt:i4>36</vt:i4>
      </vt:variant>
    </vt:vector>
  </HeadingPairs>
  <TitlesOfParts>
    <vt:vector size="79" baseType="lpstr">
      <vt:lpstr>等线</vt:lpstr>
      <vt:lpstr>等线 Light</vt:lpstr>
      <vt:lpstr>Alte DIN 1451 Mittelschrift gep</vt:lpstr>
      <vt:lpstr>Arial</vt:lpstr>
      <vt:lpstr>Cambria Math</vt:lpstr>
      <vt:lpstr>Consolas</vt:lpstr>
      <vt:lpstr>Wingdings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PowerPoint 演示文稿</vt:lpstr>
      <vt:lpstr>PowerPoint 演示文稿</vt:lpstr>
      <vt:lpstr>PowerPoint 演示文稿</vt:lpstr>
      <vt:lpstr>PowerPoint 演示文稿</vt:lpstr>
      <vt:lpstr>随机森林回归</vt:lpstr>
      <vt:lpstr>改进1：现在用多个随机种（数据划分、模型）进行多轮测试</vt:lpstr>
      <vt:lpstr>PowerPoint 演示文稿</vt:lpstr>
      <vt:lpstr>改进2：尝试修改训练集和测试集的划分，各项指标略有改善</vt:lpstr>
      <vt:lpstr>随机森林回归</vt:lpstr>
      <vt:lpstr>综合1、2点，测试运行时间大于1s的数据</vt:lpstr>
      <vt:lpstr>随机森林回归</vt:lpstr>
      <vt:lpstr>支持向量回归  Matrix_Multiply  </vt:lpstr>
      <vt:lpstr>支持向量回归  KF</vt:lpstr>
      <vt:lpstr>支持向量回归  FFT</vt:lpstr>
      <vt:lpstr>神经网络回归 Matrix_Multiply</vt:lpstr>
      <vt:lpstr>神经网络回归  KF</vt:lpstr>
      <vt:lpstr>神经网络回归  FFT</vt:lpstr>
      <vt:lpstr>在运行时间大于1秒的数据上表现良好</vt:lpstr>
      <vt:lpstr>拟合多项式 KF</vt:lpstr>
      <vt:lpstr>拟合多项式 FFT</vt:lpstr>
      <vt:lpstr>XGBoost回归 Matrix_Multiply</vt:lpstr>
      <vt:lpstr>XGBoost回归  KF</vt:lpstr>
      <vt:lpstr>XGBoost回归 FFT</vt:lpstr>
      <vt:lpstr>Hybrid   Matrix_Multiply</vt:lpstr>
      <vt:lpstr>Hybrid   KF</vt:lpstr>
      <vt:lpstr>Hybrid  FFT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数据量增大，在不同随机种下的表现差异减小</vt:lpstr>
      <vt:lpstr>FFT在A72的样本数据波动大</vt:lpstr>
      <vt:lpstr>PowerPoint 演示文稿</vt:lpstr>
      <vt:lpstr>KF程序在M7上出错 calloc/free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誉祺 金</dc:creator>
  <cp:lastModifiedBy>誉祺 金</cp:lastModifiedBy>
  <cp:revision>91</cp:revision>
  <dcterms:created xsi:type="dcterms:W3CDTF">2025-10-02T06:17:00Z</dcterms:created>
  <dcterms:modified xsi:type="dcterms:W3CDTF">2025-11-13T13:29:27Z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8B1FA4B6E6244C5BA3B82EE18FE580BD_12</vt:lpwstr>
  </property>
  <property fmtid="{D5CDD505-2E9C-101B-9397-08002B2CF9AE}" pid="3" name="KSOProductBuildVer">
    <vt:lpwstr>2052-12.1.0.23125</vt:lpwstr>
  </property>
</Properties>
</file>