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81" r:id="rId2"/>
    <p:sldId id="284" r:id="rId3"/>
    <p:sldId id="303" r:id="rId4"/>
    <p:sldId id="260" r:id="rId5"/>
    <p:sldId id="282" r:id="rId6"/>
    <p:sldId id="286" r:id="rId7"/>
    <p:sldId id="283" r:id="rId8"/>
    <p:sldId id="266" r:id="rId9"/>
    <p:sldId id="290" r:id="rId10"/>
    <p:sldId id="275" r:id="rId11"/>
    <p:sldId id="291" r:id="rId12"/>
    <p:sldId id="262" r:id="rId13"/>
    <p:sldId id="288" r:id="rId14"/>
    <p:sldId id="268" r:id="rId15"/>
    <p:sldId id="289" r:id="rId16"/>
    <p:sldId id="276" r:id="rId17"/>
    <p:sldId id="293" r:id="rId18"/>
    <p:sldId id="259" r:id="rId19"/>
    <p:sldId id="297" r:id="rId20"/>
    <p:sldId id="267" r:id="rId21"/>
    <p:sldId id="298" r:id="rId22"/>
    <p:sldId id="274" r:id="rId23"/>
    <p:sldId id="299" r:id="rId24"/>
    <p:sldId id="263" r:id="rId25"/>
    <p:sldId id="292" r:id="rId26"/>
    <p:sldId id="269" r:id="rId27"/>
    <p:sldId id="272" r:id="rId28"/>
    <p:sldId id="304" r:id="rId29"/>
    <p:sldId id="265" r:id="rId30"/>
    <p:sldId id="300" r:id="rId31"/>
    <p:sldId id="271" r:id="rId32"/>
    <p:sldId id="301" r:id="rId33"/>
    <p:sldId id="277" r:id="rId34"/>
    <p:sldId id="302" r:id="rId35"/>
    <p:sldId id="278" r:id="rId36"/>
    <p:sldId id="294" r:id="rId37"/>
    <p:sldId id="280" r:id="rId38"/>
    <p:sldId id="295" r:id="rId39"/>
    <p:sldId id="279" r:id="rId40"/>
    <p:sldId id="296" r:id="rId41"/>
    <p:sldId id="305" r:id="rId42"/>
    <p:sldId id="306" r:id="rId43"/>
    <p:sldId id="307" r:id="rId44"/>
    <p:sldId id="309" r:id="rId45"/>
    <p:sldId id="313" r:id="rId46"/>
    <p:sldId id="310" r:id="rId47"/>
    <p:sldId id="312" r:id="rId48"/>
    <p:sldId id="311" r:id="rId49"/>
    <p:sldId id="314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979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365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0305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789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6D901-FD06-FA72-4FE6-2741A13F5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0307610-2F68-9DD8-A7DF-FA3BD9D43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A030BC9-E426-AB8E-7716-06164AA68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43DFD0-2B1D-2FDE-F4F1-8A653DA10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3505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B0515-8C85-986D-CD58-CF53350DC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926839-B56C-0604-08DD-FF05664B2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DE9641-CFA5-9D35-8503-9E596E6F2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5BA7FB-41EF-1743-E044-45A615F7F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359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01F2-48F1-BA49-66DA-5E23A333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3379CA-2FF1-091E-6629-41DDB8EE6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1A2A92-D17C-7E79-CF66-B07EBD7464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5B2403-E893-F1C7-47C8-C17DBFD4D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0604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1F2E6-FD0D-3C48-94F0-8782AEB77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67841F-A093-B5A0-191F-A11972D682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0348B2-9112-D156-623E-04DF0640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C49CF82-C7BD-4C35-6D70-31A14BC06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383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6D5EA-4A7F-F505-8489-F6D5925D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C6FD38E-2DDE-2CAD-BB56-C2B32FE94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B32AC20-E216-379E-9CEB-D2B978095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0E5A4E-A717-40A2-FD01-7513BE4294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8091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49371-01EF-14DD-0304-B85370CD0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D805CEB-290F-FF05-6069-3E4E318B7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5FD164-37D9-968D-3E16-52C13BB4B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692F2E8-C5FB-DDA4-22A6-6039DEB42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3924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CFE4-85BD-2E2E-BF1D-DEBECC6D7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A52152-1427-B4F9-874E-ACCFF48D7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336329-22D7-3714-DE62-59523AD56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AAA5D6-DF0C-6602-72BA-B473A3B8D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163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2EC3-032B-531A-398B-9E92876D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F6DE4C-E640-D0A2-FE7E-4EA0BFF7E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CF8B61-DC63-61CB-29A5-73C966436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89AB19-BA8A-9269-93AA-EA834F1A1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93356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FAA2E-9D47-9096-987E-DCC3C59EB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EAAB2BA-EEB9-1C98-508C-F38BAEF1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8BAAEE9-79A6-6843-0ABB-FF34D87CB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4A8BFE-70BA-4099-B685-664E132A2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03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E6D3-9C8B-8681-3BC5-A7AD23C21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37DD0F-CE3A-4599-C3FE-55962169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3A99D0-4AB0-A5DE-F89A-BC9D84304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7A4A9E5-D5E9-9BAE-3FD1-F1127E4C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1947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C2994-2A73-83F3-E51D-EF8FB2E1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7E4418-84DD-19F6-2B34-08A26FCA7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11ACFE-E27F-5E32-FE1D-401334031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C7D81C-2CD1-9A17-1925-4299613047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7235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D91-073F-3B95-7380-27378D005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5C7FC6E-55B3-C8C9-18A0-8F80F1EA3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84B189-ADCA-4BAD-4661-38FEDA50A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249379-61B4-452B-CD3D-A1695A106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109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0320-8557-E50D-7614-965E88C0B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6CFCE1-06B5-3C0F-888C-7B82A39F8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9C26C9-6863-1CE2-172B-E3B2B5D93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196D17-8F71-A4FB-501A-683CED3B6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83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FE9-10B1-87E1-D230-7366F747C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058C66-C6CD-41D8-FCA1-FC40D94EF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3C5A1A7-3F7E-F185-DE28-B805598F5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0A81F0-0DC4-D4FA-F49A-3B865D1DE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08318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FD50F-A3D0-2451-F693-E9655A60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D97CBE-0C02-5BB8-BA7F-41C85499E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2E18FF-0C31-F5AA-0D64-B6C34AEAD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180B29-37DE-3D12-434F-E5C64F2D1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6290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A7EB-99F1-4C0E-FEE1-5015922A1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D3D1D4-4C4D-742F-8949-1F731598B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E98AF4-5BB1-21C6-6E2D-18F6DCEF9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1C958B-983A-9A25-0CF0-8ECEAD19D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7204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CBE2E-C0A0-91AC-16C1-A6F80E22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3FD7B51-9BE7-B4CD-F67F-527A430C5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AFFD340-F9F0-0B30-B90A-387C96D39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F56B4C-B961-4719-B6D0-7AB804D43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06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F3645-4DD3-11CF-2F67-8A382E23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E408D1-A7B2-2052-4D60-C4DA8394E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30B01F-0FCA-F7E7-04AE-235BE8B97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C80577-73AE-81D0-5CB4-586492AFE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4949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FF1F-EE47-5957-DBE2-F47220F7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184750-B089-59C9-3F4B-5F9BFBCB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493136-9DE2-BFEB-1467-7D0200EE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584054-053D-16C8-CF46-F7A15F1C2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7676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2F85F-D620-C0D9-3F26-727A1CA28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2D39F05-15A6-CACA-38B6-8D34D2A52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B93517-3297-891A-8480-A00EF567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566F60-4427-34BA-6217-B8100B60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D0B616-B2AA-9FD5-A2F2-5EFE1074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997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A1D353-80CD-5A65-DED6-860DB06D4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DE1922-E7AC-5026-69FC-D415C8CC8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A09ACD-8FBF-24D1-3C15-B2C57BD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6E4395-9026-A228-F860-66E00EA80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BA0A1E-DC1F-0E75-3618-354E010B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73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742969-4079-4736-1587-F3EF03F1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CE1610-FFB3-1FA1-57CC-F913CDBEB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494957-4FD1-257B-664D-6283FA04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D6868A-E16D-CCCF-5575-2D7D46E47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B2A177-F3C7-7EFD-0C6F-20CAAE7D7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849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60BADD-A670-6303-FBB3-8F9F9AA3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22D050-D8D1-F913-0DE5-26105C5126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4D20D78-F808-7F8A-DC10-7B3DFA6E1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5636E0-F57E-9437-90F3-48527DFB4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89B43AF-7129-84AC-2CC2-D770E8573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50573A9-8BF8-614E-BB94-018797C1B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563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92461-B3E7-6BE9-BAB3-17B43A57A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3E9E8-ACB4-F75A-121C-F4F9405DF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C7A56C-62D9-AA03-FE61-3610DEFB7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E9B596F-8FC9-C00D-10F9-1F87B9C46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3EE8EFF-4F4F-8ED5-47E0-750DB719F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13BEAE7-5A50-0C3B-764F-DD81AEC41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DEBDD7-FF78-EE68-CC2A-B62BF04DC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7EA80D4-85A6-F9A9-D191-824183D2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7472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BA8A7-45A4-49E5-101C-7B89F4D41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28936F-DC12-E288-AC52-3AA7BCE84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67B3427-AD26-7BF2-5B36-0E3464ECE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4D2B1FE-7D4C-11D2-1B7C-37D39DDAA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2702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B494198-98CD-74DB-862D-91DA800F4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A6C827-1D33-7E07-E0CA-317315348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1E79D6-E1EB-D707-7BEB-2D546C21E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7031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674B2C-15C4-67B1-A194-ACBB62E7E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D97DD7-992A-27D0-3BC4-45A76F4F8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F1FE3B-07B3-D19C-74E3-3FF747A904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C5E577-16A0-8F1B-D777-F6A32B3B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0C9985-65E8-1037-B9B5-0C2F197BF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C21764-FC0B-0A88-0C43-BCBD4F78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470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F57E01-6F55-FFEC-5339-67B5271F6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03B64C-9F32-C3B8-F6A8-C5FC5A6845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87BA1FA-3297-8DE5-5950-B81EE391F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9B7D9-3D43-A662-87DE-74AFDF0E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340528-54AB-EC40-1DE1-BF08B53C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116F75-4592-F169-2D5D-604F7FF8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5123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5A723-1E6F-4E4B-252A-8A10EEFB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1FF3DB-C670-4A4B-CD40-571820756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06C398-9A7E-DAA4-1882-D92180551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BC714C-CC0A-9E01-092C-8C85024D0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7421D-592A-C38D-94C6-2981AD9B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202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3032FF-D5B8-F2B5-9206-C0B3312B1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59C3F79-C3ED-64B8-A3EA-9D15E3A769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12C2A3-1767-0073-DBA6-623F750F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7824B4-5853-701B-B6BF-696A97D0F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6B6A39-2D87-5EAD-83CF-CD3681285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894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474F798-CA71-CD73-5861-1FD0D500F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D138D5-B6D3-AE28-5637-908F4EC73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B7E960-9065-6507-E06B-8FFBEBDFA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316963-EF35-41F4-B235-3A3F02295E84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F42E9B-F136-A170-4051-0718B49E5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DEB638-B930-E77C-02EA-BE42247D7D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14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3507118-AED5-2E28-7606-2B191D012962}"/>
              </a:ext>
            </a:extLst>
          </p:cNvPr>
          <p:cNvSpPr txBox="1"/>
          <p:nvPr/>
        </p:nvSpPr>
        <p:spPr>
          <a:xfrm>
            <a:off x="385261" y="163033"/>
            <a:ext cx="11339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同平台程序运行时间预测（静态特征）：通过输入规模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0555F39-84D7-53C4-EAB1-220E4E9A44EA}"/>
              </a:ext>
            </a:extLst>
          </p:cNvPr>
          <p:cNvSpPr txBox="1"/>
          <p:nvPr/>
        </p:nvSpPr>
        <p:spPr>
          <a:xfrm>
            <a:off x="180757" y="964018"/>
            <a:ext cx="117489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预测算法：卡尔曼滤波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，安全算法</a:t>
            </a:r>
            <a:r>
              <a:rPr lang="en-US" altLang="zh-CN" sz="2400" dirty="0"/>
              <a:t>AES</a:t>
            </a:r>
            <a:r>
              <a:rPr lang="zh-CN" altLang="en-US" sz="2400" dirty="0"/>
              <a:t>，</a:t>
            </a:r>
            <a:r>
              <a:rPr lang="en-US" altLang="zh-CN" sz="2400" dirty="0"/>
              <a:t>MD5</a:t>
            </a:r>
            <a:r>
              <a:rPr lang="zh-CN" altLang="en-US" sz="2400" dirty="0"/>
              <a:t>，</a:t>
            </a:r>
            <a:r>
              <a:rPr lang="en-US" altLang="zh-CN" sz="2400" dirty="0"/>
              <a:t>SHA256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预测方法：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RF</a:t>
            </a:r>
            <a:r>
              <a:rPr lang="en-US" altLang="zh-CN" sz="2400" dirty="0"/>
              <a:t>,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SVR</a:t>
            </a:r>
            <a:r>
              <a:rPr lang="en-US" altLang="zh-CN" sz="2400" dirty="0"/>
              <a:t>,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MLP</a:t>
            </a:r>
            <a:r>
              <a:rPr lang="en-US" altLang="zh-CN" sz="2400" dirty="0"/>
              <a:t>,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en-US" altLang="zh-CN" sz="2400" dirty="0"/>
              <a:t>,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dirty="0"/>
              <a:t>：对非线性、异常值鲁棒，外推弱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en-US" altLang="zh-CN" sz="2400" dirty="0"/>
              <a:t>,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2446994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59A636-633D-2CAD-1164-D524388DE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8" y="1445908"/>
            <a:ext cx="7497431" cy="922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MAPE</a:t>
            </a:r>
            <a:r>
              <a:rPr lang="zh-CN" altLang="en-US" sz="2000" dirty="0"/>
              <a:t>（</a:t>
            </a:r>
            <a:r>
              <a:rPr lang="en-US" altLang="zh-CN" sz="2000" dirty="0"/>
              <a:t>Mean Absolute Percentage Error</a:t>
            </a:r>
            <a:r>
              <a:rPr lang="zh-CN" altLang="en-US" sz="2000" dirty="0"/>
              <a:t>，平均绝对百分比误差）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误差占真实值的百分比，结果以百分数表示（例如 </a:t>
            </a:r>
            <a:r>
              <a:rPr lang="en-US" altLang="zh-CN" sz="2000" dirty="0"/>
              <a:t>10%</a:t>
            </a:r>
            <a:r>
              <a:rPr lang="zh-CN" altLang="en-US" sz="2000" dirty="0"/>
              <a:t>）。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2841308-5D08-AA82-E17B-D2FC52AE6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149" y="1397635"/>
            <a:ext cx="4648849" cy="12479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79D5B7F-8D5E-EB3C-0B26-5D403BD46347}"/>
                  </a:ext>
                </a:extLst>
              </p:cNvPr>
              <p:cNvSpPr txBox="1"/>
              <p:nvPr/>
            </p:nvSpPr>
            <p:spPr>
              <a:xfrm>
                <a:off x="45717" y="4035449"/>
                <a:ext cx="7883247" cy="2246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/>
                  <a:t>RMSE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Root Mean Squared Error</a:t>
                </a:r>
                <a:r>
                  <a:rPr lang="zh-CN" altLang="en-US" sz="2000" dirty="0"/>
                  <a:t>，均方根误差）</a:t>
                </a:r>
                <a:endParaRPr lang="en-US" altLang="zh-CN" sz="2000" dirty="0"/>
              </a:p>
              <a:p>
                <a:r>
                  <a:rPr lang="zh-CN" altLang="en-US" sz="2000" dirty="0"/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/>
                  <a:t>相同。对大误差惩罚更重（平方项）。</a:t>
                </a:r>
                <a:endParaRPr lang="en-US" altLang="zh-CN" sz="2000" dirty="0"/>
              </a:p>
              <a:p>
                <a:endParaRPr lang="en-US" altLang="zh-CN" sz="2000" dirty="0"/>
              </a:p>
              <a:p>
                <a:r>
                  <a:rPr lang="en-US" altLang="zh-CN" sz="2000" dirty="0" err="1"/>
                  <a:t>RMSE%_mean</a:t>
                </a:r>
                <a:r>
                  <a:rPr lang="zh-CN" altLang="en-US" sz="2000" dirty="0"/>
                  <a:t>：</a:t>
                </a:r>
                <a:r>
                  <a:rPr lang="en-US" altLang="zh-CN" sz="2000" dirty="0"/>
                  <a:t>RMSE</a:t>
                </a:r>
                <a:r>
                  <a:rPr lang="zh-CN" altLang="en-US" sz="2000" dirty="0"/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/>
                  <a:t>RMSE%_range</a:t>
                </a:r>
                <a:r>
                  <a:rPr lang="zh-CN" altLang="en-US" sz="2000" dirty="0"/>
                  <a:t>：</a:t>
                </a:r>
                <a:r>
                  <a:rPr lang="en-US" altLang="zh-CN" sz="2000" dirty="0"/>
                  <a:t>RMSE</a:t>
                </a:r>
                <a:r>
                  <a:rPr lang="zh-CN" altLang="en-US" sz="2000" dirty="0"/>
                  <a:t>相对于观测范围（数据最大值与最小值之差）的百分比</a:t>
                </a:r>
                <a:endParaRPr lang="en-US" altLang="zh-CN" sz="20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79D5B7F-8D5E-EB3C-0B26-5D403BD46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7" y="4035449"/>
                <a:ext cx="7883247" cy="2246769"/>
              </a:xfrm>
              <a:prstGeom prst="rect">
                <a:avLst/>
              </a:prstGeom>
              <a:blipFill>
                <a:blip r:embed="rId4"/>
                <a:stretch>
                  <a:fillRect l="-773" t="-1626" r="-773" b="-3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C397A9AA-850F-CA7E-815B-62A3BB886FA6}"/>
              </a:ext>
            </a:extLst>
          </p:cNvPr>
          <p:cNvSpPr txBox="1"/>
          <p:nvPr/>
        </p:nvSpPr>
        <p:spPr>
          <a:xfrm>
            <a:off x="1" y="2693857"/>
            <a:ext cx="75431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R2</a:t>
            </a:r>
            <a:r>
              <a:rPr lang="zh-CN" altLang="en-US" sz="2000" dirty="0"/>
              <a:t>（决定系数，</a:t>
            </a:r>
            <a:r>
              <a:rPr lang="en-US" altLang="zh-CN" sz="2000" dirty="0"/>
              <a:t>coefficient of determination</a:t>
            </a:r>
            <a:r>
              <a:rPr lang="zh-CN" altLang="en-US" sz="2000" dirty="0"/>
              <a:t>）</a:t>
            </a:r>
            <a:endParaRPr lang="en-US" altLang="zh-CN" sz="2000" dirty="0"/>
          </a:p>
          <a:p>
            <a:r>
              <a:rPr lang="zh-CN" altLang="en-US" sz="2000" dirty="0"/>
              <a:t>被模型解释的方差比例，越靠近</a:t>
            </a:r>
            <a:r>
              <a:rPr lang="en-US" altLang="zh-CN" sz="2000" dirty="0"/>
              <a:t>1</a:t>
            </a:r>
            <a:r>
              <a:rPr lang="zh-CN" altLang="en-US" sz="2000" dirty="0"/>
              <a:t>越好（</a:t>
            </a:r>
            <a:r>
              <a:rPr lang="en-US" altLang="zh-CN" sz="2000" dirty="0"/>
              <a:t>0–1</a:t>
            </a:r>
            <a:r>
              <a:rPr lang="zh-CN" altLang="en-US" sz="2000" dirty="0"/>
              <a:t>通常表示解释能力，但也可为负，表示模型比用均值预测更差）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7843555-E18B-1C4A-9A09-04A0DDBA2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9018" y="2645584"/>
            <a:ext cx="3477110" cy="128605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B93B68-8464-093D-C904-DE559DCCB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965" y="3931638"/>
            <a:ext cx="3877216" cy="1533739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7C8D0D0-F8CF-757D-5E98-3099E4458B03}"/>
              </a:ext>
            </a:extLst>
          </p:cNvPr>
          <p:cNvSpPr txBox="1"/>
          <p:nvPr/>
        </p:nvSpPr>
        <p:spPr>
          <a:xfrm>
            <a:off x="5285522" y="163033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49679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>
            <a:extLst>
              <a:ext uri="{FF2B5EF4-FFF2-40B4-BE49-F238E27FC236}">
                <a16:creationId xmlns:a16="http://schemas.microsoft.com/office/drawing/2014/main" id="{2AE82ACD-8260-33E6-DAE4-8635290A94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-1" y="0"/>
            <a:ext cx="6570921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2000" dirty="0"/>
              <a:t>MAPE / </a:t>
            </a:r>
            <a:r>
              <a:rPr lang="en-US" altLang="zh-CN" sz="2000" dirty="0" err="1"/>
              <a:t>RMSE%_range</a:t>
            </a:r>
            <a:r>
              <a:rPr lang="en-US" altLang="zh-CN" sz="2000" dirty="0"/>
              <a:t>(%) / </a:t>
            </a:r>
            <a:r>
              <a:rPr lang="en-US" altLang="zh-CN" sz="2000" dirty="0" err="1"/>
              <a:t>RMSE%_mean</a:t>
            </a:r>
            <a:r>
              <a:rPr lang="en-US" altLang="zh-CN" sz="2000" dirty="0"/>
              <a:t>(%)</a:t>
            </a:r>
          </a:p>
          <a:p>
            <a:pPr marL="457200" lvl="1" indent="0">
              <a:buNone/>
            </a:pPr>
            <a:r>
              <a:rPr lang="en-US" altLang="zh-CN" sz="2000" dirty="0"/>
              <a:t>&lt; 10%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</a:p>
          <a:p>
            <a:pPr marL="457200" lvl="1" indent="0">
              <a:buNone/>
            </a:pPr>
            <a:r>
              <a:rPr lang="en-US" altLang="zh-CN" sz="2000" dirty="0"/>
              <a:t>10–20%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  <a:endParaRPr lang="en-US" altLang="zh-CN" sz="2000" dirty="0"/>
          </a:p>
        </p:txBody>
      </p:sp>
      <p:sp>
        <p:nvSpPr>
          <p:cNvPr id="3" name="内容占位符 16">
            <a:extLst>
              <a:ext uri="{FF2B5EF4-FFF2-40B4-BE49-F238E27FC236}">
                <a16:creationId xmlns:a16="http://schemas.microsoft.com/office/drawing/2014/main" id="{EE5460BB-4573-44CA-2FC8-085057D8D06B}"/>
              </a:ext>
            </a:extLst>
          </p:cNvPr>
          <p:cNvSpPr txBox="1">
            <a:spLocks/>
          </p:cNvSpPr>
          <p:nvPr/>
        </p:nvSpPr>
        <p:spPr>
          <a:xfrm>
            <a:off x="5829060" y="6433268"/>
            <a:ext cx="6362940" cy="4247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目前模型使用的都是相同参数，只需要在预测程序配置区修改</a:t>
            </a:r>
            <a:r>
              <a:rPr lang="en-US" altLang="zh-CN" sz="1200" dirty="0" err="1"/>
              <a:t>predicted_app</a:t>
            </a:r>
            <a:r>
              <a:rPr lang="zh-CN" altLang="en-US" sz="1200" dirty="0"/>
              <a:t>、</a:t>
            </a:r>
            <a:r>
              <a:rPr lang="en-US" altLang="zh-CN" sz="1200" dirty="0" err="1"/>
              <a:t>host_cpu</a:t>
            </a:r>
            <a:r>
              <a:rPr lang="zh-CN" altLang="en-US" sz="1200" dirty="0"/>
              <a:t>、</a:t>
            </a:r>
            <a:r>
              <a:rPr lang="en-US" altLang="zh-CN" sz="1200" dirty="0"/>
              <a:t>PREDICT_METHOD</a:t>
            </a:r>
            <a:r>
              <a:rPr lang="zh-CN" altLang="en-US" sz="1200" dirty="0"/>
              <a:t>、</a:t>
            </a:r>
            <a:r>
              <a:rPr lang="en-US" altLang="zh-CN" sz="1200" dirty="0"/>
              <a:t>LOWER_BOUND</a:t>
            </a:r>
            <a:r>
              <a:rPr lang="zh-CN" altLang="en-US" sz="1200" dirty="0"/>
              <a:t>就可以复现数据</a:t>
            </a:r>
            <a:endParaRPr lang="en-US" altLang="zh-CN" sz="1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EF6D18-1050-172A-8D6D-18F8976670A7}"/>
              </a:ext>
            </a:extLst>
          </p:cNvPr>
          <p:cNvSpPr txBox="1"/>
          <p:nvPr/>
        </p:nvSpPr>
        <p:spPr>
          <a:xfrm>
            <a:off x="0" y="1392689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表格中的数字代表忽略了运行时间小于该数字</a:t>
            </a:r>
            <a:r>
              <a:rPr lang="en-US" altLang="zh-CN" sz="2000" dirty="0"/>
              <a:t>(ms)</a:t>
            </a:r>
            <a:r>
              <a:rPr lang="zh-CN" altLang="en-US" sz="2000" dirty="0"/>
              <a:t>的数据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8FECC31-9D08-CF36-019C-EBC98316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898" y="0"/>
            <a:ext cx="13312489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70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C0C66B-6704-8389-C0B8-159AE1D01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4E3AAA-41AD-CD12-1C2A-64E59FF94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8" y="143056"/>
            <a:ext cx="2434506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31BD863-E9F8-608C-26CD-7DEA4B36E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3707775C-D8BA-E0BE-B454-0A792D4BB69C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0.2768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5.3571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95B1AB2-8DD3-1008-47D5-E941B57C3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4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C509280B-16DE-96B5-4AEC-169535F9F18A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0.3288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0.9956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5.8434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720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CDCFA1E-3B34-8A59-C522-78BF027FB6AD}"/>
              </a:ext>
            </a:extLst>
          </p:cNvPr>
          <p:cNvSpPr txBox="1"/>
          <p:nvPr/>
        </p:nvSpPr>
        <p:spPr>
          <a:xfrm>
            <a:off x="1" y="1196812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此处数据代表七个数据的平均水平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E5F912D-A27A-33A1-D2D6-0FB38A09B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C509280B-16DE-96B5-4AEC-169535F9F18A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4287F427-AE33-505A-F981-E1F6BA0B50E5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9AD1981-A7E9-7501-1525-85331CE57EEC}"/>
              </a:ext>
            </a:extLst>
          </p:cNvPr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CEA4C2F-3A6E-6979-8CCE-ECB1DE368015}"/>
              </a:ext>
            </a:extLst>
          </p:cNvPr>
          <p:cNvSpPr txBox="1">
            <a:spLocks/>
          </p:cNvSpPr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  <p:extLst>
      <p:ext uri="{BB962C8B-B14F-4D97-AF65-F5344CB8AC3E}">
        <p14:creationId xmlns:p14="http://schemas.microsoft.com/office/powerpoint/2010/main" val="3340161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>
            <a:extLst>
              <a:ext uri="{FF2B5EF4-FFF2-40B4-BE49-F238E27FC236}">
                <a16:creationId xmlns:a16="http://schemas.microsoft.com/office/drawing/2014/main" id="{550EC198-DA50-0D34-1B1A-9E14C7E4CD9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-1219" y="1598854"/>
            <a:ext cx="12193217" cy="459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之前表现不好的情况，应该是与随机种参数有关。随机种参数影响数据划分（不同划分可能噪声不同）和模型表现。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</a:t>
            </a:r>
            <a:endParaRPr lang="en-US" altLang="zh-CN" sz="2000" dirty="0"/>
          </a:p>
          <a:p>
            <a:r>
              <a:rPr lang="en-US" altLang="zh-CN" sz="2000" dirty="0" err="1"/>
              <a:t>RMSE%_range</a:t>
            </a:r>
            <a:r>
              <a:rPr lang="en-US" altLang="zh-CN" sz="2000" dirty="0"/>
              <a:t> </a:t>
            </a:r>
            <a:r>
              <a:rPr lang="zh-CN" altLang="en-US" sz="2000" dirty="0"/>
              <a:t>很低（≈</a:t>
            </a:r>
            <a:r>
              <a:rPr lang="en-US" altLang="zh-CN" sz="2000" dirty="0"/>
              <a:t>2%</a:t>
            </a:r>
            <a:r>
              <a:rPr lang="zh-CN" altLang="en-US" sz="2000" dirty="0"/>
              <a:t>），说明把均方根误差相对于范围看就是一个很小的比例。</a:t>
            </a:r>
          </a:p>
          <a:p>
            <a:r>
              <a:rPr lang="en-US" altLang="zh-CN" sz="2000" dirty="0" err="1"/>
              <a:t>RMSE%_mean</a:t>
            </a:r>
            <a:r>
              <a:rPr lang="en-US" altLang="zh-CN" sz="2000" dirty="0"/>
              <a:t> </a:t>
            </a:r>
            <a:r>
              <a:rPr lang="zh-CN" altLang="en-US" sz="2000" dirty="0"/>
              <a:t>给出的 </a:t>
            </a:r>
            <a:r>
              <a:rPr lang="en-US" altLang="zh-CN" sz="2000" dirty="0"/>
              <a:t>10–15% </a:t>
            </a:r>
            <a:r>
              <a:rPr lang="zh-CN" altLang="en-US" sz="2000" dirty="0"/>
              <a:t>说明均方根误差相对于均值仍然是中等 ，可反推均值：</a:t>
            </a:r>
          </a:p>
          <a:p>
            <a:pPr lvl="1"/>
            <a:r>
              <a:rPr lang="en-US" altLang="zh-CN" sz="2000" dirty="0"/>
              <a:t>mean ≈ 100 * RMSE / </a:t>
            </a:r>
            <a:r>
              <a:rPr lang="en-US" altLang="zh-CN" sz="2000" dirty="0" err="1"/>
              <a:t>RMSE%_mean</a:t>
            </a:r>
            <a:endParaRPr lang="en-US" altLang="zh-CN" sz="2000" dirty="0"/>
          </a:p>
          <a:p>
            <a:pPr lvl="2"/>
            <a:r>
              <a:rPr lang="en-US" altLang="zh-CN" dirty="0"/>
              <a:t>Seed2 mean ≈ 100*5.3302/15.19 ≈ 35.1 s</a:t>
            </a:r>
          </a:p>
          <a:p>
            <a:pPr lvl="2"/>
            <a:r>
              <a:rPr lang="en-US" altLang="zh-CN" dirty="0"/>
              <a:t>Seed6 mean ≈ 100*5.8029/10.19 ≈ 56.9 s</a:t>
            </a:r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这也印证了之前提到数据小时查表的合理性。</a:t>
            </a:r>
            <a:endParaRPr lang="en-US" altLang="zh-CN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1A015-7B63-18E0-EC9D-6D7E77C89477}"/>
              </a:ext>
            </a:extLst>
          </p:cNvPr>
          <p:cNvSpPr txBox="1"/>
          <p:nvPr/>
        </p:nvSpPr>
        <p:spPr>
          <a:xfrm>
            <a:off x="-1218" y="27797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</p:txBody>
      </p:sp>
    </p:spTree>
    <p:extLst>
      <p:ext uri="{BB962C8B-B14F-4D97-AF65-F5344CB8AC3E}">
        <p14:creationId xmlns:p14="http://schemas.microsoft.com/office/powerpoint/2010/main" val="2062483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8B88C-27A6-0552-5F65-241A17A4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35E746-4DEC-1430-D138-9E5022D0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8DEF5E8A-9559-C865-C699-C666BF36E630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CC2F7F3-76E5-3902-31D7-9CFB6FB37C5A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8711DE2-AB1C-82A7-D779-8E25CCF9D344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A80189-49F7-9FC4-7CBF-7EC2C1B7D3D3}"/>
              </a:ext>
            </a:extLst>
          </p:cNvPr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4DA4C2A7-7CA1-FAF4-0F75-A4429B7D2DD9}"/>
              </a:ext>
            </a:extLst>
          </p:cNvPr>
          <p:cNvSpPr txBox="1">
            <a:spLocks/>
          </p:cNvSpPr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</a:p>
        </p:txBody>
      </p:sp>
    </p:spTree>
    <p:extLst>
      <p:ext uri="{BB962C8B-B14F-4D97-AF65-F5344CB8AC3E}">
        <p14:creationId xmlns:p14="http://schemas.microsoft.com/office/powerpoint/2010/main" val="815306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4E2E7B-040F-4DFE-D456-54562534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2344B3-3AFC-BFC4-7F7B-4E47495D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A1DF74E-4838-7A09-B407-62D34C2182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0653816E-05C5-08FB-2A44-26971F71051A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2.0482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7.1898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8C89FED-23A1-B204-B33F-E715533C7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37DF5CB0-9604-C12C-2F9E-E222FD741549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1.8589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6.6951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3296497-8C6A-3620-E022-CA29532E0570}"/>
              </a:ext>
            </a:extLst>
          </p:cNvPr>
          <p:cNvSpPr txBox="1">
            <a:spLocks/>
          </p:cNvSpPr>
          <p:nvPr/>
        </p:nvSpPr>
        <p:spPr>
          <a:xfrm>
            <a:off x="95728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rgbClr val="00B050"/>
                </a:solidFill>
              </a:rPr>
              <a:t>相对较好</a:t>
            </a:r>
            <a:endParaRPr lang="zh-CN" altLang="en-US" sz="28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365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653E3-C7E9-901F-83A8-2C9E7FCAA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F0ECAF1-2E95-EB47-195B-8C97F263D599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5E1602-E08D-ACA9-3A39-6B8E6CABC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75AFBF2-92A9-EEFB-16F6-CC80B25DF3F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A1D96878-37E7-2DA3-A20C-46349F2BB088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523102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886FCF-2823-B591-4B2D-9EAF5E445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38AB34-5255-682D-FDE0-44D8C513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9A06633-1BEF-17BB-C068-B596C9F66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D62CA8A9-C1BB-5871-DA14-B70FD3F9AF68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C1C0209-B043-D39A-24E5-06E00A852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B8B14501-8D1A-0B60-C3AE-C0F32664CC94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56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941CB-AD58-AD73-F8BD-782B334CD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75899-EFE1-E8FF-D5D8-38398113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+mn-ea"/>
              </a:rPr>
              <a:t>对</a:t>
            </a:r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A9AF0D2-601A-81FD-E4BC-DF8F62B56C12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0B22E685-ED88-E295-C14D-86E9993C6C42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56260C-AC53-63EA-05C9-55ED60DDA8FA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80612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19434-7FB6-4DB2-99C5-63CB8AEDC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009291-CA2A-2C82-B1B1-FB5C8D1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2746CF9-4808-059F-B4E6-8E260C05F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AD314C31-812B-9817-F16F-96150BA9B8D3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3784.3033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1.8431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949E60-4F73-5555-920A-1801172C30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9C39BA7B-6752-617F-CA85-E05BAA197AC5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2892.1275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1.7198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0A6BAB-4B5A-7BEE-638B-176CBC70C30F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C84A97-FA51-DBEC-1985-722E870EE4F2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48309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99B30-728E-DE83-11D1-45333EEF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E19B91E7-8B54-83D7-68E1-4B3FF68EBCD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MAPE=0.0453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R2=0.9981, RMSE=4.2580 (s), RMSE%_mean=3.98%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R2=0.9974, RMSE=6.0052 (s), RMSE%_mean=6.21%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RMSE=2.1946 (s), RMSE%_mean=2.62%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RMSE=5.6407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MAPE=0.0359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RMSE=2.7768 (s), RMSE%_mean=2.26%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MAPE=0.0959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RMSE=1.9306 (s), RMSE%_mean=1.79%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RMSE=3.5958 (s), RMSE%_mean=3.90%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 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0.0871 ± 0.0354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0.9985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3.7717 ± 1.6133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3.85% ± 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1.06% ± 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2B6988E-F46D-6DA3-AFDD-B4DAC80F1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C40E770-B9D7-327B-24B2-F9AFF465DD8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52A928-B697-1FDE-CB61-A5B831B52A89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55564F8E-8391-A004-9F45-C7A0BA3B672F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738373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A4DE5B-B970-AF26-5A17-0ABEEAE00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6B1353-6F95-21C0-14C7-7CFF163C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99A0AB3-C398-C774-CEFD-DBE87C2DB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95F8F62B-13DB-66B7-FAEE-7AD42101F83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8C876F-C61F-78B9-4A8F-0608BBFEF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2A1DCDE6-B313-E067-FB81-7A61372740E7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1335.9732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BF2C502-8E46-BF58-950B-0DBFCE2251F1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235AE84-E363-182B-EA10-8ED82D695907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83846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56AF-233B-F9C1-2B3E-48E63C7A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5B33162-3350-6697-3B2B-ACD63302B7AA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4F76A43-E68D-C8CE-A325-C7B02958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9BAECBF5-1BC4-844A-EB10-890FDA4E66C9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B5F68A-FDAB-67E9-E5D2-FB7615033705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09225879-3001-EEAF-1567-AD97E7D4C343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53192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8B914B-0D79-1F41-C8A4-6822F7D62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1E67AE-9DB8-00A5-6CB2-8BFAE5499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C742A88-6901-A5A0-B9CF-6B9C01460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72C90F70-C452-5F86-535C-2AE1D56D586F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AE39883-DB11-F34B-A9DF-FAF9FFDFD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CFA2DA3E-F9EE-46A5-C501-CF475E0E11B6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3A5B27A-7D60-37BB-5F6B-E925AE2CFFD7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B23BCC-899C-72CE-9435-8ED2539255BC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99873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A3A5-99DD-84D9-8AEA-989E57755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7A5B94-D156-5861-5722-F54AADAB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+mn-ea"/>
              </a:rPr>
              <a:t>对</a:t>
            </a:r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6E1D8DA-28F5-676F-F960-530110E7CF9F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8D4228B-F142-3716-C9E9-490E2124BD0C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5AD32C04-0A12-F82D-D23E-94E16AE2AD87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19231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1A36EC-11E0-E2D2-7496-77B1618B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06AE17-2726-0191-EAC1-02531696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0C7A3C9-0CF2-F497-B3AA-AE74D4D2D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7" y="600891"/>
            <a:ext cx="3912326" cy="2934245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F84EE26-013C-51AB-6775-C0052A7BCCD1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 err="1">
                <a:latin typeface="Consolas" panose="020B0609020204030204" pitchFamily="49" charset="0"/>
              </a:rPr>
              <a:t>mlp</a:t>
            </a:r>
            <a:r>
              <a:rPr lang="en-US" altLang="zh-CN" sz="1000" dirty="0">
                <a:latin typeface="Consolas" panose="020B0609020204030204" pitchFamily="49" charset="0"/>
              </a:rPr>
              <a:t> = </a:t>
            </a:r>
            <a:r>
              <a:rPr lang="en-US" altLang="zh-CN" sz="1000" dirty="0" err="1">
                <a:latin typeface="Consolas" panose="020B0609020204030204" pitchFamily="49" charset="0"/>
              </a:rPr>
              <a:t>MLPRegressor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=(100, 50),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activation='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solver='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max_iter</a:t>
            </a:r>
            <a:r>
              <a:rPr lang="en-US" altLang="zh-CN" sz="1000" dirty="0">
                <a:latin typeface="Consolas" panose="020B0609020204030204" pitchFamily="49" charset="0"/>
              </a:rPr>
              <a:t>=10000,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544.7565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1.7809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E2CB0F-87C6-7DAC-8FFC-2205F728D2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4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D0E97B04-9E6F-C06C-A48D-CF770D627264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335.4517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2.1308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D2F568-C28A-6F84-C04D-D4D27E71A7A0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B88A30-28A4-B505-6102-940CCBBB2FF3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20983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DC470-C048-DCC2-9136-8CD8E9D1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F246882-2000-D1C9-0133-2AF7B206346F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R2=0.9982, RMSE=4.7590 (s), RMSE%_mean=4.24%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MAPE=0.1091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R2=0.9966, RMSE=6.2106 (s), RMSE%_mean=6.93%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R2=0.9986, RMSE=4.0178 (s), RMSE%_mean=4.17%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MAPE=0.0760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R2=0.9996, RMSE=1.9081 (s), RMSE%_mean=2.27%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RMSE=5.6927 (s), RMSE%_mean=4.91%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MAPE=0.0717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RMSE=4.0340 (s), RMSE%_mean=3.65%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MAPE=0.1117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R2=0.9986, RMSE=4.4941 (s), RMSE%_mean=4.25%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0.0841 ± 0.0199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4.4452 ± 1.3882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4.35% ± 1.41%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1.23% ± 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B03D6C-684A-A152-CB16-A7AC1FBF6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7100C95-9B6C-5D00-CD0C-C4631A707953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844DD62-39FF-6FAC-7BF6-4CF409995372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E38CF7EA-A703-B182-57DA-3EDE53C35DA5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54979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A324E-4F03-1E1C-0F81-CCDE86613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28A8F7-7F19-D411-E0AA-3BDB82580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690701-8AA6-A719-41BB-1633DFAE28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B3EFC040-718C-9FF3-20AE-B622C984C3F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71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7D2B-106C-9D63-A1B8-9637171F7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9542B66A-FABE-7788-241A-29A20FD0F88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AF03D57-4E55-970D-569D-DD0F00B0A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F02F330-C656-1D2A-5300-1A68DF8816E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AB6055-DF54-4464-0CF8-A836DCD44045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773A3A34-EF07-4D20-1EBD-C9D0E1538CAA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324543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2B3C1D7-B3E3-AD09-C722-B38111E6E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968676-7CE1-A2B7-49C5-24975D09C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F77262D-7E2B-0D9A-D71D-90D58E677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254D641-4CE2-7FBB-E5DF-622CBB75F7C4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365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89B4F-9BFF-CBFC-78B8-5D088055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B84EBF79-6DED-6F34-BAFE-59C337E7B4BF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F6A3BDC-0D03-0FA5-227F-FFD57ECC0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98A7956-713C-0D71-047C-139050254AFF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B29EF91-07C6-5DC6-DF45-1058F5B0923F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8FC5501C-68CC-2DF9-91BD-C781F8834649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2391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EECF1-6507-DD4B-B156-62FDDA54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2BFF46-DD9C-94F8-9778-CB9E7AAC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C259035-F5DA-901D-2D63-63D1A35EC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7D98A111-CF32-1FB1-5096-F8E1D66E91AC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poly = </a:t>
            </a:r>
            <a:r>
              <a:rPr lang="en-US" altLang="zh-CN" sz="1000" dirty="0" err="1">
                <a:latin typeface="Consolas" panose="020B0609020204030204" pitchFamily="49" charset="0"/>
              </a:rPr>
              <a:t>PolynomialFeatures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degree=3,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include_bias</a:t>
            </a:r>
            <a:r>
              <a:rPr lang="en-US" altLang="zh-CN" sz="1000" dirty="0">
                <a:latin typeface="Consolas" panose="020B0609020204030204" pitchFamily="49" charset="0"/>
              </a:rPr>
              <a:t>=True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2011.0220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2.3611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T(N) = 5.038849091828685e-07 * N^3 + -0.00013313793040276603 * N^2 + 0.008000656253323172 * N + 0.257575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7281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DC6A2-A8DF-974C-352A-8A9799FE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A5B9895-ED5E-C6C5-D945-F6F93CF4CA98}"/>
              </a:ext>
            </a:extLst>
          </p:cNvPr>
          <p:cNvSpPr txBox="1"/>
          <p:nvPr/>
        </p:nvSpPr>
        <p:spPr>
          <a:xfrm>
            <a:off x="1" y="1196812"/>
            <a:ext cx="12192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4.3226277054994453e-07 * N^3 + -2.0862520794859675e-06 * N^2 + -0.06689848074436114 * N + 12.859605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R2=0.9985, RMSE=3.8106 (s), RMSE%_mean=3.57%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4.2738982693857415e-07 * N^3 + 1.237759618249166e-05 * N^2 + -0.07628695039796836 * N + 14.741285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MAPE=0.1919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RMSE=5.5002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4.678375274448998e-07 * N^3 + -6.839138376553646e-05 * N^2 + -0.02779512715072722 * N + 6.288652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RMSE=2.4101 (s), RMSE%_mean=2.87%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4.7207120847748915e-07 * N^3 + -6.279998485335789e-05 * N^2 + -0.03744647693828777 * N + 8.664294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MAPE=0.0993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RMSE=5.6359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4.878052105604081e-07 * N^3 + -9.49400378413378e-05 * N^2 + -0.019700190913805163 * N + 5.738953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RMSE=2.6905 (s), RMSE%_mean=2.19%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4.483972283468473e-07 * N^3 + -3.3395435645058386e-05 * N^2 + -0.04756806156590248 * N + 9.756775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MAPE=0.1086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R2=0.9995, RMSE=2.2678 (s), RMSE%_mean=2.10%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4.208773825942904e-07 * N^3 + 2.107791962287693e-05 * N^2 + -0.08085361522447715 * N + 15.338666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RMSE=3.2330 (s), RMSE%_mean=3.50%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0.1126 ± 0.0574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0.9986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3.6497 ± 1.4104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3.73% ± 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1.03% ± 0.40%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505C24F-8E16-65E7-273D-AF0D47C7E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3B5C2BD-9354-39C5-3080-40E6D8B818AA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81B254-F346-D546-9014-F5C96C39294C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6B75971B-3C31-B6C0-39B9-4707431C176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73567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30C702-1A76-DC11-56A6-530002205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D3F7F1-808D-9206-38B1-FA1C9889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2F2D35C-DB79-AAB6-D2D3-3C76FE3730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211AB25-CBF2-0C54-3894-7726B5E8C598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645.0855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2.5920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1.0143942756480705e-06 * N^3 + -0.00027262610626153634 * N^2 + 0.016611600964441024 * N + 0.669018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50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74FBB3-B68A-9B41-5700-63CCE9E4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5365C6-1FB5-AD5B-ABDB-610D35971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5F791E7-C8DD-1DE1-6A23-149C83366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8D4129F2-45CE-E96F-B37F-A9D6A4185685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50.0670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0.5282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4.933307294951645e-07 * N log2(N) + 0.003611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02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AC0C3-74E5-D548-4336-0E599E66F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5ADB0B2-612D-6CCF-1499-551F4EF88063}"/>
              </a:ext>
            </a:extLst>
          </p:cNvPr>
          <p:cNvSpPr txBox="1"/>
          <p:nvPr/>
        </p:nvSpPr>
        <p:spPr>
          <a:xfrm>
            <a:off x="1" y="1196812"/>
            <a:ext cx="121920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4.927300161370875e-07 * N log2(N) + 0.089903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RMSE=0.0793 (s), RMSE%_mean=0.16%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4.927320933295469e-07 * N log2(N) + 0.087347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RMSE=0.0739 (s), RMSE%_mean=0.14%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4.926476771558109e-07 * N log2(N) + 0.060783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MAPE=0.0296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RMSE=0.2700 (s), RMSE%_mean=0.23%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4.926533533078908e-07 * N log2(N) + 0.040025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MAPE=0.0866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RMSE=0.2892 (s), RMSE%_mean=0.21%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4.927370737719805e-07 * N log2(N) + 0.080887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MAPE=0.1827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RMSE=0.0652 (s), RMSE%_mean=0.12%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4.927444768636933e-07 * N log2(N) + 0.074904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MAPE=0.0814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RMSE=0.0732 (s), RMSE%_mean=0.24%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4.927454979837824e-07 * N log2(N) + 0.069270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MAPE=0.0142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RMSE=0.0533 (s), RMSE%_mean=0.08%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  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0.0948 ± 0.0714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0.1292 ± 0.1032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0.17%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E81EB5E-622E-6BFF-0CC1-A430B6F23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684ADCF1-768C-2D31-2090-B91818B3B113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CD7ECE-6D31-D6A5-C27D-32EE8D1ACCCB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994546F7-B6F6-8E3B-516B-906625583604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84675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0A82F3-3561-7555-429B-B9EB0A922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9DEFA-C841-7196-F1C0-27C0F7414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DA8929C-3E7C-8957-77F1-CD7A4E2BDA8B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4.7861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10884ED-A998-A4F8-52FF-AD67F2EFC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2924"/>
            <a:ext cx="3912325" cy="2934244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0743E2B4-D3D7-1BA6-FFC2-4E155135B227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0.9447600319730725, 'gamma': 1.1871972283905326e-05,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0.0339394647270345,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858,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6.751542867668973e-06,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0.00016239865993185278, 'subsample': 0.63708662969523}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4.8126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548C4FC-08E8-CECA-2F94-5C3D947505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B6030D3-2C14-01A9-E0CF-973EC74DCE80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3D4B85-93DB-8CA6-BE3C-31795EE3F61F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99697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0D7FA-3727-0773-D317-B44F8FA1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923539E-ACA3-D781-FD4F-E66B60D6BB7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A00AB8D-96FE-12A7-B3DB-D84E3EBBB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F2CFDE7-9B23-F399-A321-3819B6171546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10AE11-EE28-7D5D-8ECB-FCF6D9FC4363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7093DB4-61A1-454C-4B5C-8178A9D5E1D8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597419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A478A4-D215-02BE-5CD9-86C0943EF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FFEBB-D2E8-AE32-B1B0-C611BDA52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F958C2D-61DC-2B60-E725-325961BB9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C8BE2AB3-60A7-BE0D-D730-AF232C2E69B0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E69945A-C558-8075-1A67-61EF2EFC71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B0C23F7D-536E-AB9B-AA54-CC7D8BDDF0B6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0.5875581919673329, 'gamma': 0.0004302614800676075,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0.23717426076930576,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14,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245,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0.00017320857784693374,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2.9143439864895515e-06, 'subsample': 0.5131920745577545}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7.7352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11.0036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AECCC18-A132-0D27-576F-27656030E2B3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9925B-72DD-3232-D3BF-145995C82858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4352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0599-A1B9-6518-6C30-4B3568AC3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1DC8EF0-02BB-2ABB-4076-150B7C306347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99899FE-39E1-4DDA-38CB-10FA9386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418C7F54-24FC-5662-71CC-121EF348C2C1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5D71549-936D-10B1-3558-DC17A67FCA72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C30B0896-1DF2-3522-1C9F-5BF4C3A8666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760355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436B94-1F0A-DA0F-A011-E14903C5F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580CCB-004E-F278-78F3-59950AAC8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738FDF2-E58D-7D31-FE01-920E630E8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B71FC5EC-80DD-47D3-2719-D146D92E916F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952D5FC-3191-879B-FEA2-54B004814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A3E63CD2-A08D-E83E-25B1-A4089B90801A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0.9902425394993892, 'gamma': 1.6454409475075095e-06,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0.13578266219061227,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5,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440,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2.5418943562330136e-07,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1.973004444308398e-06, 'subsample': 0.8628150378383002}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2.3804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811DFF3-728B-4845-724C-202A09859396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04D7E9C-3C6B-5B08-143E-CBD97EF8EC88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19292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AFC2-929D-294E-0E62-2C4B1748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6E68F4A4-0C4F-4A25-2DC9-682AAEBC7722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E4D511A-20B9-B994-B25D-C86513722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1E3FA54-165A-7998-2F80-933EE3FA3085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5F9DD8-9804-DA17-2063-0F27C26FD219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74925CBF-4B52-3551-716D-1C4C9E8FA906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22155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F435C8-2637-56FF-B1AF-7CDF37E9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BCF4C-9A24-96FF-A206-3EF4BF398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B8E6B64-40B9-93CF-2DAF-BD31BF4160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5F37A7FC-AA28-2BE4-EA0B-099797D5F88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7682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13135-37FD-DD5F-843B-6033AA599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A6D4A43-98AE-6A97-B942-A5F736734CF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R2=0.9983, RMSE=4.0440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RMSE=5.4996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MAPE=0.0879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RMSE=3.9983 (s), RMSE%_mean=4.77%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MAPE=0.1121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RMSE=5.9713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R2=0.9987, RMSE=3.8817 (s), RMSE%_mean=3.16%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RMSE=3.3372 (s), RMSE%_mean=3.10%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MAPE=0.1561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RMSE=3.3865 (s), RMSE%_mean=3.67%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0.1021 ± 0.0393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0.0009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4.3027 ± 1.0268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4.39% ± 1.34%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48942CB-23BF-C33A-2DEA-DF1ECF28A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D2910DA-5236-E4E3-4507-98924493CE04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D9AE348-5D59-3735-8186-3BCC591F69F0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A0546ED2-26AC-5168-0656-AE3D45F65B05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74714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E40ECB-C3FF-7275-06B1-C98A5E92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23386F-31BD-797D-A0BC-5CDDB51BC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7E45F6-2DB7-9E46-8399-88952A208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4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4D17D35B-E058-F6C7-4805-DDC7E6C12D6B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2885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2D35-C02E-48F6-0AF0-4368A303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F3BDEF52-2DF7-172F-23CB-0836E681BCB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64D10C-2F00-D4DD-CBE1-04190340D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B588617-6100-9518-95BB-A864C7583F7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22F08B-F2FB-9867-7066-0119CF75F390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D66A483E-27B2-ACEE-AA40-E8415AEA86BF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309476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9F9771-D4B6-5EE8-31AC-89F868869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D43E69-CC8B-5CF4-7174-F8246218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B515546-463E-A0BC-EBD0-F3211236F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4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45204667-B1DF-651F-447E-75E51978315A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43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D57AB-7FEB-9807-8394-12F77D95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2790C20-564C-2C6E-1130-82EC2B50FE3C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076B3FB-F038-38E8-FD36-D661CF80F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0.0005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>
              <a:solidFill>
                <a:srgbClr val="00B0F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9DE5E4B-C0CF-ADA6-71D4-ABE245B05BF0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B93DBC-456C-622E-CDC1-CB3D8D501F2E}"/>
              </a:ext>
            </a:extLst>
          </p:cNvPr>
          <p:cNvSpPr/>
          <p:nvPr/>
        </p:nvSpPr>
        <p:spPr>
          <a:xfrm>
            <a:off x="1580082" y="142016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20948450-82E8-E011-0535-DE42DDEB63F7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4CA719-484E-CDC8-8663-7E8772F8D07A}"/>
              </a:ext>
            </a:extLst>
          </p:cNvPr>
          <p:cNvSpPr txBox="1"/>
          <p:nvPr/>
        </p:nvSpPr>
        <p:spPr>
          <a:xfrm>
            <a:off x="0" y="4959595"/>
            <a:ext cx="610453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</a:p>
        </p:txBody>
      </p:sp>
    </p:spTree>
    <p:extLst>
      <p:ext uri="{BB962C8B-B14F-4D97-AF65-F5344CB8AC3E}">
        <p14:creationId xmlns:p14="http://schemas.microsoft.com/office/powerpoint/2010/main" val="3756551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3861344-6BEB-24A0-C0A2-B566CC751545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0.0177 ± 0.0123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0.56% ± 0.27%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0.31% ± 0.25% (优秀)</a:t>
            </a: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737E85B-2E06-B0D9-7494-BFEACD1D4AAD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AES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F68D51-A807-8672-C678-7BC613E439FD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0.0196 ± 0.0120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0.58% ± 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0.33% ± 0.25%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25B5F24-AFF4-91E8-1D0D-819A406AA9D7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A72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4E40A6-673F-D7C0-0B27-61F066E1AB6B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53DAD2-148B-4905-7E5F-B2EDCA329E92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BC6543-6A52-DEDC-CD65-34C1A830D52D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83383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F8384-0702-E2E9-2513-1FCB6A790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EC720BB-FABB-B4E8-D83A-2DBE4DD08B62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0.2809 ± 0.1202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0.8010 ± 0.2110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29.00% ± 11.20%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18.08% ± 7.61%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028EDAE-D453-330A-B0B8-AC0EE7EE4BF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MD5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E257100-6EBB-78A0-F219-A47AE557D223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0.2294 ± 0.1005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0.8237 ± 0.2214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26.38% ± 11.65%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16.55% ± 8.22%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080C16-A4FE-B2A5-5851-7B87C12C9F44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C8BC6C9-6EEF-AD16-BBC9-D21707C19BFB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DED87D-533C-4159-4BFC-81EFA84C2D9C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AC5F8E-AF74-48A8-6D5C-B9C536AC4F8D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345141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C70FE-E869-459F-A3B7-4476DE1CF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68691DB-EA77-F20E-1455-04AD558E91B6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0.1227 ± 0.0916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0.9784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8.99% ± 4.23%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5.16% ± 3.73%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C11E6D-F74D-C81C-4066-731DE6C3F500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SHA256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BE6F08-8B6A-1285-25D7-CEF214772F9B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0.1367 ± 0.0550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0.9792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8.38% ± 4.49%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4.90% ± 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D87E8-8F99-F9C0-11B7-51EFC888312F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1241691-5060-D0D2-3AE3-3C0A44905392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90.9086 ± 75.0311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F78440-A2FF-1FE5-E27C-E1186BA6B140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D6B24D5-B944-369F-BDBA-F9855DCEB2C9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79.6302 ± 79.4545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191107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0FB1971-A6C4-8A4E-E7D9-751814CE28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064000" cy="3048000"/>
          </a:xfr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1FF9424-EF32-1804-1541-7FECABE719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1" y="0"/>
            <a:ext cx="4063998" cy="304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3AE6572-1927-9526-3993-FB7F6531F9E9}"/>
              </a:ext>
            </a:extLst>
          </p:cNvPr>
          <p:cNvSpPr txBox="1">
            <a:spLocks/>
          </p:cNvSpPr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69A4B31-F364-3221-8232-128E544A1B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0"/>
            <a:ext cx="4064000" cy="3048000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98CFB348-7AAB-0B72-30BA-656FA53A9117}"/>
              </a:ext>
            </a:extLst>
          </p:cNvPr>
          <p:cNvSpPr txBox="1">
            <a:spLocks/>
          </p:cNvSpPr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7341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D3C0-24FF-9F42-9E38-4EF0A7B6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F03BB398-3120-E618-BE37-87C18B6BE8A1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F1AE339-98AC-C163-629E-381B4865DA29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AF03E676-DC78-9382-D8C5-579B5B820E7D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/>
              <a:t>MPC-M7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164738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B375-9047-AAE5-948C-C57EB864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FB0DCDF-08CF-C77F-ED2C-7B36DA8B6716}"/>
              </a:ext>
            </a:extLst>
          </p:cNvPr>
          <p:cNvSpPr txBox="1"/>
          <p:nvPr/>
        </p:nvSpPr>
        <p:spPr>
          <a:xfrm>
            <a:off x="0" y="116314"/>
            <a:ext cx="121920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/>
              <a:t>对于要拟合的</a:t>
            </a:r>
            <a:r>
              <a:rPr lang="en-US" altLang="zh-CN" sz="2400" dirty="0"/>
              <a:t>n</a:t>
            </a:r>
            <a:r>
              <a:rPr lang="zh-CN" altLang="en-US" sz="2400" dirty="0"/>
              <a:t>与</a:t>
            </a:r>
            <a:r>
              <a:rPr lang="en-US" altLang="zh-CN" sz="2400" dirty="0"/>
              <a:t>T</a:t>
            </a:r>
            <a:r>
              <a:rPr lang="zh-CN" altLang="en-US" sz="2400" dirty="0"/>
              <a:t>，采样更多</a:t>
            </a:r>
            <a:r>
              <a:rPr lang="en-US" altLang="zh-CN" sz="2400" dirty="0"/>
              <a:t>n</a:t>
            </a:r>
            <a:r>
              <a:rPr lang="zh-CN" altLang="en-US" sz="2400" dirty="0"/>
              <a:t>能使模型更贴合数据，对同一个</a:t>
            </a:r>
            <a:r>
              <a:rPr lang="en-US" altLang="zh-CN" sz="2400" dirty="0"/>
              <a:t>n</a:t>
            </a:r>
            <a:r>
              <a:rPr lang="zh-CN" altLang="en-US" sz="2400" dirty="0"/>
              <a:t>采样更多</a:t>
            </a:r>
            <a:r>
              <a:rPr lang="en-US" altLang="zh-CN" sz="2400" dirty="0"/>
              <a:t>T</a:t>
            </a:r>
            <a:r>
              <a:rPr lang="zh-CN" altLang="en-US" sz="2400" dirty="0"/>
              <a:t>有助于降低噪声影响，提高精度。现在要拟合的关系大多数都是知道函数的形式的，因此可以更多地考虑后者。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当某个随机种子在当前数据上表现很好，能否推到别的数据上？</a:t>
            </a:r>
            <a:endParaRPr lang="en-US" altLang="zh-CN" sz="2400" dirty="0"/>
          </a:p>
          <a:p>
            <a:r>
              <a:rPr lang="zh-CN" altLang="en-US" sz="2400" dirty="0"/>
              <a:t>不能保证，一次好的结果可能是随机性与样本噪声、具体数据划分、超参恰好“契合”。在其他的数据上未必如此。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随机种与其他参数的区别：</a:t>
            </a:r>
            <a:endParaRPr lang="en-US" altLang="zh-CN" sz="2400" dirty="0"/>
          </a:p>
          <a:p>
            <a:r>
              <a:rPr lang="zh-CN" altLang="en-US" sz="2400" dirty="0"/>
              <a:t>模型参数（超参数）：如</a:t>
            </a:r>
            <a:r>
              <a:rPr lang="en-US" altLang="zh-CN" sz="2400" dirty="0" err="1"/>
              <a:t>n_estimators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max_depth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learning_rate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hidden_layer_sizes</a:t>
            </a:r>
            <a:r>
              <a:rPr lang="zh-CN" altLang="en-US" sz="2400" dirty="0"/>
              <a:t>；决定模型的结构、复杂度、学习能力等，直接影响性能。</a:t>
            </a:r>
            <a:endParaRPr lang="en-US" altLang="zh-CN" sz="2400" dirty="0"/>
          </a:p>
          <a:p>
            <a:r>
              <a:rPr lang="zh-CN" altLang="en-US" sz="2400" dirty="0"/>
              <a:t>训练参数：决定训练过程的收敛路径，影响收敛效果</a:t>
            </a:r>
            <a:endParaRPr lang="en-US" altLang="zh-CN" sz="2400" dirty="0"/>
          </a:p>
          <a:p>
            <a:r>
              <a:rPr lang="zh-CN" altLang="en-US" sz="2400" dirty="0"/>
              <a:t>随机种：控制随机过程（初始化、抽样、打乱），只影响随机性。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对一组固定超参，使用多个 </a:t>
            </a:r>
            <a:r>
              <a:rPr lang="en-US" altLang="zh-CN" sz="2400" dirty="0"/>
              <a:t>seed </a:t>
            </a:r>
            <a:r>
              <a:rPr lang="zh-CN" altLang="en-US" sz="24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400" dirty="0"/>
              <a:t>seed</a:t>
            </a:r>
            <a:r>
              <a:rPr lang="zh-CN" altLang="en-US" sz="2400" dirty="0"/>
              <a:t>出现了极端情况。</a:t>
            </a:r>
          </a:p>
        </p:txBody>
      </p:sp>
    </p:spTree>
    <p:extLst>
      <p:ext uri="{BB962C8B-B14F-4D97-AF65-F5344CB8AC3E}">
        <p14:creationId xmlns:p14="http://schemas.microsoft.com/office/powerpoint/2010/main" val="42279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99889AFB-4A20-B478-B705-AAB33F7CCC06}"/>
              </a:ext>
            </a:extLst>
          </p:cNvPr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45294C-6051-62A8-516C-3A4A53A1962D}"/>
              </a:ext>
            </a:extLst>
          </p:cNvPr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EBCB5EB0-CDA1-9200-B404-D34460A0D049}"/>
              </a:ext>
            </a:extLst>
          </p:cNvPr>
          <p:cNvSpPr txBox="1">
            <a:spLocks/>
          </p:cNvSpPr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F7473CDD-64FB-8017-26FD-D028E883AFF0}"/>
              </a:ext>
            </a:extLst>
          </p:cNvPr>
          <p:cNvSpPr txBox="1">
            <a:spLocks/>
          </p:cNvSpPr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0603E52-4EC6-ED9D-F9A0-9250F4EF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8995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9075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1942E-04BA-80C4-5A10-E6DCEE49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48DD730A-4219-B746-10C7-5C85DEED5376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1214AB1-9745-260E-834A-0ECABBA6F9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7758" y="0"/>
            <a:ext cx="5374242" cy="403068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B12E77A-A1A6-EFC5-DB1B-B85D7FD344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381" y="-3868"/>
            <a:ext cx="5374242" cy="4030681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FFE553BC-330C-44DF-F1D3-8D61232B7803}"/>
              </a:ext>
            </a:extLst>
          </p:cNvPr>
          <p:cNvSpPr txBox="1"/>
          <p:nvPr/>
        </p:nvSpPr>
        <p:spPr>
          <a:xfrm>
            <a:off x="124097" y="4123814"/>
            <a:ext cx="5495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无法拟合</a:t>
            </a:r>
          </a:p>
        </p:txBody>
      </p:sp>
    </p:spTree>
    <p:extLst>
      <p:ext uri="{BB962C8B-B14F-4D97-AF65-F5344CB8AC3E}">
        <p14:creationId xmlns:p14="http://schemas.microsoft.com/office/powerpoint/2010/main" val="35723413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30AA9A0-8FE3-234E-6578-1014DF7AB3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5677786" cy="319375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15D07D5-B120-6865-B2E1-5C665D8CAFF5}"/>
              </a:ext>
            </a:extLst>
          </p:cNvPr>
          <p:cNvSpPr txBox="1"/>
          <p:nvPr/>
        </p:nvSpPr>
        <p:spPr>
          <a:xfrm>
            <a:off x="0" y="3193755"/>
            <a:ext cx="54955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原因：代码中内存动态分配较大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6B39B7A-5972-E295-1B39-C1BB6CD63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08380"/>
            <a:ext cx="4204831" cy="26496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6337ACA-889B-47A5-86B6-1592452BF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896" y="4208380"/>
            <a:ext cx="3301629" cy="265364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54572A43-24C1-B644-00C8-8ED65E6BB512}"/>
              </a:ext>
            </a:extLst>
          </p:cNvPr>
          <p:cNvSpPr txBox="1"/>
          <p:nvPr/>
        </p:nvSpPr>
        <p:spPr>
          <a:xfrm>
            <a:off x="6889896" y="3516920"/>
            <a:ext cx="3301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解决方法：改为静态分配</a:t>
            </a:r>
          </a:p>
        </p:txBody>
      </p:sp>
    </p:spTree>
    <p:extLst>
      <p:ext uri="{BB962C8B-B14F-4D97-AF65-F5344CB8AC3E}">
        <p14:creationId xmlns:p14="http://schemas.microsoft.com/office/powerpoint/2010/main" val="4154729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1845</TotalTime>
  <Words>10654</Words>
  <Application>Microsoft Office PowerPoint</Application>
  <PresentationFormat>宽屏</PresentationFormat>
  <Paragraphs>869</Paragraphs>
  <Slides>49</Slides>
  <Notes>22</Notes>
  <HiddenSlides>18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6" baseType="lpstr">
      <vt:lpstr>等线</vt:lpstr>
      <vt:lpstr>等线 Light</vt:lpstr>
      <vt:lpstr>Alte DIN 1451 Mittelschrift gep</vt:lpstr>
      <vt:lpstr>Arial</vt:lpstr>
      <vt:lpstr>Cambria Math</vt:lpstr>
      <vt:lpstr>Consolas</vt:lpstr>
      <vt:lpstr>Office 主题​​</vt:lpstr>
      <vt:lpstr>PowerPoint 演示文稿</vt:lpstr>
      <vt:lpstr>PowerPoint 演示文稿</vt:lpstr>
      <vt:lpstr>PowerPoint 演示文稿</vt:lpstr>
      <vt:lpstr>随机森林回归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随机森林回归</vt:lpstr>
      <vt:lpstr>综合1、2点，测试运行时间大于1s的数据</vt:lpstr>
      <vt:lpstr>随机森林回归</vt:lpstr>
      <vt:lpstr>对FFT表现依然很差</vt:lpstr>
      <vt:lpstr>支持向量回归</vt:lpstr>
      <vt:lpstr>在运行时间大于1秒的数据上表现良好</vt:lpstr>
      <vt:lpstr>支持向量回归</vt:lpstr>
      <vt:lpstr>在运行时间大于1秒的数据上表现改善</vt:lpstr>
      <vt:lpstr>支持向量回归</vt:lpstr>
      <vt:lpstr>对FFT表现依然很差</vt:lpstr>
      <vt:lpstr>神经网络回归</vt:lpstr>
      <vt:lpstr>在运行时间大于0.5秒的数据上表现良好</vt:lpstr>
      <vt:lpstr>神经网络回归</vt:lpstr>
      <vt:lpstr>在运行时间大于0.5秒的数据上表现良好</vt:lpstr>
      <vt:lpstr>神经网络回归</vt:lpstr>
      <vt:lpstr>在运行时间大于1秒的数据上表现良好</vt:lpstr>
      <vt:lpstr>拟合多项式</vt:lpstr>
      <vt:lpstr>在运行时间大于1秒的数据上表现改善</vt:lpstr>
      <vt:lpstr>拟合多项式</vt:lpstr>
      <vt:lpstr>拟合多项式</vt:lpstr>
      <vt:lpstr>在运行时间大于0.1秒的数据上表现改善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Hybrid</vt:lpstr>
      <vt:lpstr>在运行时间大于1秒的数据上表现改善</vt:lpstr>
      <vt:lpstr>Hybrid</vt:lpstr>
      <vt:lpstr>在运行时间大于1秒的数据上表现改善</vt:lpstr>
      <vt:lpstr>Hybrid</vt:lpstr>
      <vt:lpstr>在运行时间大于0.0005秒的数据上表现良好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数据量增大，在不同随机种下的表现差异减小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誉祺 金</cp:lastModifiedBy>
  <cp:revision>73</cp:revision>
  <dcterms:created xsi:type="dcterms:W3CDTF">2025-10-02T06:17:57Z</dcterms:created>
  <dcterms:modified xsi:type="dcterms:W3CDTF">2025-11-04T11:02:11Z</dcterms:modified>
</cp:coreProperties>
</file>